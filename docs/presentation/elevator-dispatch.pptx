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is a walkthrough of the elevator-dispatch simulator: what the question was, what I built, what the measurements say, and how the work was done. Fifteen minutes, then questions; halfway through I will switch to the live simulator for a couple of minutes. The problem first; then what was built, how, and how it was checked; then the live simulator; then the answer, the findings, and what to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destination-controlled building you type your floor before you board and a display says: car C. That assignment is final. Good means three things at once: short waits, short total journeys, and nobody left standing for a very long time. It is not obvious because the controller cannot see the future, and because the fastest average tends to bundle people onto a car already going their way — efficient in aggregate, occasionally cruel to the individual who keeps being passed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Requests come in as a CSV, are validated, and a feed releases each one to the controller exactly at its time — never earlier. The tick loop asks a scheduler which car; three rules answer behind one interface. The loop moves the cars and writes the positions log, a trace and statistics. Around that: a seeded generator for seven traffic patterns — each re-drawn with twenty fresh seeds in the robustness study — a compare command, charts, a browser simulator that runs a JavaScript port of the same engine, an analysis explorer that renders every committed result on one screen, and 225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the point, not the tool. Seven phases. I framed the problem from the brief and answered the assistant’s four questions; together we fixed a plan that pinned every ambiguity and set working rules. Then research into how real controllers assign cars and what traffic looks like, the build with tests at every level, the measurement — comparison, charts, car usage, the browser simulator — an adversarial review including a twenty-seed robustness study, and the documentation and this deck. My part throughout: intent, scope, quality bar, every judgement call, review at each checkpoint. The assistant drafted, researched, built, tested and challenged, executing the plan autonomously. Time, honestly: two sessions on consecutive days — about two hours of my attention on the first and four on the second, six in all — plus three to four hours in which the assistant ran unsupervised on the build and the studies. Cost under a hundred euros.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engineers — I will skip this if we are short on time. Time is discrete: one tick is one floor of travel, and a stop costs one tick. That was the one choice the brief left open, and it does not decide the result: re-running every pattern with stops costing nothing, one tick or two, the ranking holds at every setting — nearest car 1.7 times on the morning peak at dwell zero, 3.1 on the tower; a two-tick stop narrows the lead on the office patterns, because smart dispatch’s bundled riders sit through more stops. The chart is dwell_sensitivity.png in the results. Inside a tick the order is fixed: release and assign, unload then load, log, advance. Three things are enforced by structure rather than promised: the feed cannot release a future request, assignment is immutable, and cars follow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one interface. Smart dispatch projects each candidate car’s route with and without the new passenger, using the simulation’s own movement code, and charges the passenger’s own time to destination plus the delay inflicted on everyone already assigned — the estimated-time-to-destination method Peters Research describes and commercial controllers use. Nearest car sends the closest car going the right way and ignores how many stops that car already has. Take turns uses no information at all — the floor for the comparison, and by accident the most even-handed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demo and the numbers: why you should believe them. 228 tests at six levels — unit tests for every observable assumption, a structural no-peek-ahead test, property-based invariants over random buildings, golden statistics that pin every committed result, the five studies included, so a behaviour change forces a documentation change, end-to-end CLI checks, and a conformance matrix that runs the JavaScript port on all sixty-five scenario-by-variant combinations and asserts identical positions, events and car usage. Then an adversarial review of the whole repository: forty-one findings, no blockers, eight major; sixteen changed code or tests, twenty-one changed documents, four resolved otherwise. The review also re-drew every pattern with twenty fresh seeds — the headline held, two secondary claims did not. Sceptic’s question: two engines agreeing only proves they share the same bugs. Correct — conformance proves equality, not correctness; correctness comes from the unit and property tests and from a 400-seed fuzz, which broke no invariant. And the model was checked against theory: with one car and a lobby full of passengers, the engine's round-trip time matches the classical Barney and Al-Sharif formula within half a percent on six building sizes — and that formula is nowhere in the code. The same formula's handling capacity predicts exactly which of the seven patterns saturate.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simulator — the same engine, ported to JavaScript and verified identical to Python on all sixty-five scenario-by-variant combinations. I will run the morning rush: 160 people, 4 cars, 20 floors, 8 per car. Two things are new since the last version: a stop-cost setting — zero, one or two ticks — and an over-30 stat, the share of people waiting more than about a minute, which is the service level the sizing slide uses. Watch the ranking at the top of each building change as people are delivered; watch nearest car pile passengers onto whichever car is closest to the lobby while take turns sends a far car; watch the usage strip under each building — one bar per car — to see smart dispatch leave cars idle while take turns keeps all of them busy; then I will tick park at lobby and click a floor to add a passenger — everyone I add goes to all three rules. The other page to open is the analysis explorer, under docs/results — every number in this talk on one screen, drawn from the committed JSON, with 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from the demo — now the question, and the short answer. The question is simple to state: a bank of cars, passengers who tell the system where they are going, a controller that must pick a car for each one — how much does the rule matter? The answer, measured on identical traffic and then re-drawn twenty times per pattern, is a lot. Smart dispatch waits are 1.2 to 2.6 times shorter than nearest car across seeds — 3.7 on the committed tower draw, which was a high one — and 2 to 3 times shorter than taking turns. It had the lowest average wait in 119 of 120 runs on the six realistic patterns; on the saturated lobby burst the rules are within noise of each other. Two sentences now carry the most weight. In seconds — one tick is about two — a morning peak is a twenty-second wait with smart dispatch against a minute with nearest car once arrivals double. And as a sizing question: smart dispatch meets “at most one in ten waits over a minute” with two cars where the other rules need five — nine on the tower, where they need more than ten. Three slides after the evidence show where those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average wait in ticks, on the committed draw of each pattern. Smart dispatch wins the four office patterns and the tower. Two cases go the other way and I would rather show them than hide them. Under the lobby burst — 76 people, one origin, two small cars — the three rules are within noise of each other: 60.3 against 60.1 here, and across twenty seeds 55, 61 and 59 with a standard deviation of about 20; when the system is saturated the rule does not matter. And on the brief’s own three-passenger sample nearest car wins: smart dispatch splits two lobby passengers across both cars to save a stop, so no car is idle when the third request comes. Sceptic’s question: why not tune the sample away? Because a greedy per-request rule can lose on tiny inputs, and the fix — batch re-optimisation — is a real change, first on the future-work list, not a parameter tweak.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committed chart: average wait on the left, 90th percentile on the right, every scenario, all three rules on identical traffic. Blue is lowest on every realistic pattern, and the gap grows as the building gets taller and busier: small on quiet interfloor traffic, very large on the 51-floor tower. Sceptic’s question: every scenario is one seed — how do you know? The final review re-drew every pattern with twenty fresh seeds. The direction is robust: smart dispatch had the lowest average wait in 119 of 120 runs on the six realistic patterns. The size is not: the tower ratio is 2.6 ± 0.8 across seeds and the committed 3.7 was a high draw. Two secondary claims did not reproduce, and they are on the use-case slide,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Waiting time says how the passengers fared; this says how the cars were used. A car is busy when it has someone aboard or someone assigned and still waiting. Three points. Smart dispatch does the same job with the least car-time — 62% busy in the morning peak against 89% and 95%, 6.1 floors of car travel per passenger against 9.3 and 10.0. The mechanism is bundling: it fills cars with people going the same way. I used to say “fewer stops”; the studies corrected that — its riders sit through more intermediate stops, 1.76 per trip against 1.21 and 0.95, not fewer. Fewer stops describes the car, not the rider. Take turns keeps its cars busiest everywhere, which is waste, not throughput. But smart dispatch shares the work least evenly: one car in four carries 36% of the morning passengers where a fair share is 25%. And the fairness weight evens the cars as a side effect — 30 to 18 points in the morning, 21 to 5 at lunch, 33 to 10 on the tall lobby on the committed draws, and narrower in 11 to 15 of 20 fresh seeds on every pattern. One knob, two effects — it also raises the average wait in most seeds. Sceptic’s question: busy for a car that is travelling to a pickup — is that use or waste? It is work caused by the assignment, so it counts; that is the definition in A20, and a car driving to its parking floor is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three studies that go beyond the fixed comparison: scale each pattern’s arrival rate from half to double the committed rate, five fresh seeds per point. Smart dispatch degrades gently; the baselines steeply. On the morning peak, six to eleven ticks for smart dispatch against eight to thirty-one for nearest car — whose blindness to queued stops compounds with load until, at double load, it is worse than taking turns, which rises steadily from eleven to twenty-one. On the tower, twenty-three ticks against sixty at today’s rate, and 106 against 170 at double. The one exception is the saturated burst, where all three climb the same line: no rule beats arithmetic. Sceptic’s question: five seeds per point rather than twenty — enough? At double load the means are many standard deviations apart — eleven plus or minus one and a half against thirty-one plus or minus nine — and the whole sweep is a three-minute run anyone can repeat with more; the explorer draws every point with its error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question around. Fix a service level — at most one passenger in ten waiting more than thirty ticks, about a minute — and ask how many cars each rule needs to meet it. On the morning peak smart dispatch meets it with two cars; nearest car and take turns need five. On the 51-floor tower smart dispatch needs nine; neither baseline gets there with ten. Shafts are the expensive part of a lift bank; the rule is the cheap part — so decide the rule before the car count. Sceptic’s question: ten per cent over a minute is your threshold — why? It is a round number chosen to make the sizing sentence concrete, close to the industry’s usual ‘waits over a minute’ figure; the full curves are in the results for any other target, and the dashed line moves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questions the fixed comparison cannot answer. Left: a normal morning peak with thirty people arriving at floor 14 at tick 200 — a meeting lets out. All three rules see the backlog jump to about thirty-five. Smart dispatch is back to its no-burst backlog in twenty-six ticks and the burst’s own passengers wait thirteen on average; take turns forty and seventeen; nearest car a hundred and twenty-three, and the burst waits fifty-seven — it keeps sending the closest cars, which fill and leave while the queue grows. Right: a whole office day, 1,500 ticks, morning, quiet, lunch, quiet, evening. Smart dispatch averages 5.4 against 9.0 and 13.9, and the ratio holds in every segment. Parking is the lesson: at the lobby all day it wins the morning and gives it back in the afternoon and evening — neutral over the day at 30% more car travel; a schedule that follows the traffic keeps the morning gain and adds an evening one, 4.8 over the day, 11% less waiting. Park by the clock or not at all. Sceptic’s question: one burst shape and one hand-written schedule — how general is that? Not very, and the slide says so: the schedule is plausible, not optimised, and the burst is one shape. What generalises is the mechanism — you can watch nearest car fill and leave in the design notes — and the fact that lobby-all-day is neutral, which is the honest version of the parking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output, with the evidence strength on every row. Ordinary offices: smart dispatch, 20 of 20 seeds on each peak. Tall buildings: where the rule matters most — 2.6 times across seeds, and nearest car’s worst wait around 250 ticks against 65. Two rows are new. A bank being sized, or a building growing into its shafts: decide the rule before the car count — two cars against five, nine against more than ten. Buildings with bursts — meeting floors, lecture theatres: the rule is the lever, not the fairness weight; smart dispatch is back to normal in about 25 ticks, nearest car in about 120. And the parking row is rewritten from the office-day study: park by the clock or not at all. Lobby all day is neutral over the day — it wins the morning and gives it back by evening — while a schedule that follows the traffic gives 11% less waiting. The two rows that did not survive re-drawing stay: the fairness weight only reliably shortens the tail under saturation, and zoning is a null result at moderate load. Where even wear matters, add the fairness weight rather than switching to take turns. Sceptic’s question: ticks are not seconds, so what do the absolutes mean? One tick is about two seconds at the speeds the generator assumes — that is the only conversion in the documents, and it is stated as such; the ratios and the direction are the robust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model does not do. No door or acceleration physics — a stop is one tick regardless of who boards. No reassignment after dispatch, no sky-lobby transfers, no no-shows or groups, no energy. Three items have come off this list since the first version: seed variance, arrival rate and car count are now swept, and the stop cost tested at zero, one and two — the ranking held at every point. What remains: groups, reassignment, the saturated zoning case, and the fact that only one burst shape has been tried. The honest reason those matter: measuring seed variance changed two secondary claims, and measuring efficiency changed a mechanism I had stated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in order of expected effect: a reassignment window, which is what hybrid systems do and the change most likely to help under bursty load; batch re-optimisation every few ticks, which addresses the greedy loss on the sample; and policies that follow the time of day. Before building any of it I would ask a customer five things — because the answers decide which of these matters, and whether a tick-based model is even the right tool for their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 have shown is in the repository — every number regenerates from the commands in the README, the simulator runs the same engine in your browser, and the explorer shows every result on one screen. One line to take away: a rule that accounts for queued stops and the delay it inflicts on others beats rules that do not, increasingly so as buildings get taller and busier.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p:bgPr>
    </p:bg>
    <p:spTree>
      <p:nvGrpSpPr>
        <p:cNvPr id="1" name=""/>
        <p:cNvGrpSpPr/>
        <p:nvPr/>
      </p:nvGrpSpPr>
      <p:grpSpPr>
        <a:xfrm>
          <a:off x="0" y="0"/>
          <a:ext cx="0" cy="0"/>
          <a:chOff x="0" y="0"/>
          <a:chExt cx="0" cy="0"/>
        </a:xfrm>
      </p:grpSpPr>
      <p:sp>
        <p:nvSpPr>
          <p:cNvPr id="2" name="Shape 0"/>
          <p:cNvSpPr/>
          <p:nvPr/>
        </p:nvSpPr>
        <p:spPr>
          <a:xfrm>
            <a:off x="1047750" y="5573092"/>
            <a:ext cx="419100" cy="114300"/>
          </a:xfrm>
          <a:prstGeom prst="rect">
            <a:avLst/>
          </a:prstGeom>
          <a:solidFill>
            <a:srgbClr val="2F6FD0"/>
          </a:solidFill>
          <a:ln/>
        </p:spPr>
        <p:txBody>
          <a:bodyPr/>
          <a:p/>
        </p:txBody>
      </p:sp>
      <p:sp>
        <p:nvSpPr>
          <p:cNvPr id="3" name="Shape 1"/>
          <p:cNvSpPr/>
          <p:nvPr/>
        </p:nvSpPr>
        <p:spPr>
          <a:xfrm>
            <a:off x="1600200" y="5573092"/>
            <a:ext cx="419100" cy="114300"/>
          </a:xfrm>
          <a:prstGeom prst="rect">
            <a:avLst/>
          </a:prstGeom>
          <a:solidFill>
            <a:srgbClr val="D9762B"/>
          </a:solidFill>
          <a:ln/>
        </p:spPr>
        <p:txBody>
          <a:bodyPr/>
          <a:p/>
        </p:txBody>
      </p:sp>
      <p:sp>
        <p:nvSpPr>
          <p:cNvPr id="4" name="Shape 2"/>
          <p:cNvSpPr/>
          <p:nvPr/>
        </p:nvSpPr>
        <p:spPr>
          <a:xfrm>
            <a:off x="2152650" y="5573092"/>
            <a:ext cx="419100" cy="114300"/>
          </a:xfrm>
          <a:prstGeom prst="rect">
            <a:avLst/>
          </a:prstGeom>
          <a:solidFill>
            <a:srgbClr val="2A9D74"/>
          </a:solidFill>
          <a:ln/>
        </p:spPr>
        <p:txBody>
          <a:bodyPr/>
          <a:p/>
        </p:txBody>
      </p:sp>
      <p:sp>
        <p:nvSpPr>
          <p:cNvPr id="5" name="Text 3"/>
          <p:cNvSpPr/>
          <p:nvPr/>
        </p:nvSpPr>
        <p:spPr>
          <a:xfrm>
            <a:off x="1047750" y="6068392"/>
            <a:ext cx="15716250" cy="1203945"/>
          </a:xfrm>
          <a:prstGeom prst="rect">
            <a:avLst/>
          </a:prstGeom>
          <a:noFill/>
          <a:ln/>
        </p:spPr>
        <p:txBody>
          <a:bodyPr wrap="square" lIns="25400" tIns="25400" rIns="25400" bIns="25400" rtlCol="0" anchor="t">
            <a:normAutofit/>
          </a:bodyPr>
          <a:lstStyle/>
          <a:p>
            <a:pPr algn="l" indent="0" marL="0">
              <a:lnSpc>
                <a:spcPct val="88696"/>
              </a:lnSpc>
              <a:buNone/>
            </a:pPr>
            <a:r>
              <a:rPr lang="en-US" sz="9000" b="1" spc="-225" kern="0" dirty="0">
                <a:solidFill>
                  <a:srgbClr val="F6F5F2"/>
                </a:solidFill>
                <a:latin typeface="Arial" pitchFamily="34" charset="0"/>
                <a:ea typeface="Arial" pitchFamily="34" charset="-122"/>
                <a:cs typeface="Arial" pitchFamily="34" charset="-120"/>
              </a:rPr>
              <a:t>Which car should you get?</a:t>
            </a:r>
            <a:endParaRPr lang="en-US" sz="9000" dirty="0"/>
          </a:p>
        </p:txBody>
      </p:sp>
      <p:sp>
        <p:nvSpPr>
          <p:cNvPr id="6" name="Text 4"/>
          <p:cNvSpPr/>
          <p:nvPr/>
        </p:nvSpPr>
        <p:spPr>
          <a:xfrm>
            <a:off x="1047750" y="7577138"/>
            <a:ext cx="14668500" cy="533400"/>
          </a:xfrm>
          <a:prstGeom prst="rect">
            <a:avLst/>
          </a:prstGeom>
          <a:noFill/>
          <a:ln/>
        </p:spPr>
        <p:txBody>
          <a:bodyPr wrap="square" lIns="25400" tIns="25400" rIns="25400" bIns="25400" rtlCol="0" anchor="t">
            <a:normAutofit/>
          </a:bodyPr>
          <a:lstStyle/>
          <a:p>
            <a:pPr algn="l" indent="0" marL="0">
              <a:lnSpc>
                <a:spcPct val="113043"/>
              </a:lnSpc>
              <a:buNone/>
            </a:pPr>
            <a:r>
              <a:rPr lang="en-US" sz="3000" spc="-12" kern="0" dirty="0">
                <a:solidFill>
                  <a:srgbClr val="C9C7C0"/>
                </a:solidFill>
                <a:latin typeface="Arial" pitchFamily="34" charset="0"/>
                <a:ea typeface="Arial" pitchFamily="34" charset="-122"/>
                <a:cs typeface="Arial" pitchFamily="34" charset="-120"/>
              </a:rPr>
              <a:t>Dispatch rules for destination-controlled elevators, measured</a:t>
            </a:r>
            <a:endParaRPr lang="en-US" sz="3000" dirty="0"/>
          </a:p>
        </p:txBody>
      </p:sp>
      <p:sp>
        <p:nvSpPr>
          <p:cNvPr id="7" name="Text 5"/>
          <p:cNvSpPr/>
          <p:nvPr/>
        </p:nvSpPr>
        <p:spPr>
          <a:xfrm>
            <a:off x="1047750" y="8834438"/>
            <a:ext cx="17811750" cy="347663"/>
          </a:xfrm>
          <a:prstGeom prst="rect">
            <a:avLst/>
          </a:prstGeom>
          <a:noFill/>
          <a:ln/>
        </p:spPr>
        <p:txBody>
          <a:bodyPr wrap="square" lIns="25400" tIns="25400" rIns="25400" bIns="25400" rtlCol="0" anchor="t">
            <a:normAutofit/>
          </a:bodyPr>
          <a:lstStyle/>
          <a:p>
            <a:pPr algn="l" indent="0" marL="0">
              <a:buNone/>
            </a:pPr>
            <a:r>
              <a:rPr lang="en-US" sz="2100" spc="-12" kern="0" dirty="0">
                <a:solidFill>
                  <a:srgbClr val="9B998F"/>
                </a:solidFill>
                <a:latin typeface="Courier New" pitchFamily="34" charset="0"/>
                <a:ea typeface="Courier New" pitchFamily="34" charset="-122"/>
                <a:cs typeface="Courier New" pitchFamily="34" charset="-120"/>
              </a:rPr>
              <a:t>elevator-dispatch-sim · one engineer, one AI assistant, one brief</a:t>
            </a:r>
            <a:endParaRPr lang="en-US" sz="2100" dirty="0"/>
          </a:p>
        </p:txBody>
      </p:sp>
      <p:sp>
        <p:nvSpPr>
          <p:cNvPr id="8" name="Text 6"/>
          <p:cNvSpPr/>
          <p:nvPr/>
        </p:nvSpPr>
        <p:spPr>
          <a:xfrm>
            <a:off x="1047750" y="9601200"/>
            <a:ext cx="4042350"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87452" y="9601200"/>
            <a:ext cx="1028998"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01 / 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problem in plain language</a:t>
            </a:r>
            <a:endParaRPr lang="en-US" sz="5400" dirty="0"/>
          </a:p>
        </p:txBody>
      </p:sp>
      <p:sp>
        <p:nvSpPr>
          <p:cNvPr id="3" name="Shape 1"/>
          <p:cNvSpPr/>
          <p:nvPr/>
        </p:nvSpPr>
        <p:spPr>
          <a:xfrm>
            <a:off x="1047750" y="2202135"/>
            <a:ext cx="5041850" cy="19050"/>
          </a:xfrm>
          <a:prstGeom prst="rect">
            <a:avLst/>
          </a:prstGeom>
          <a:solidFill>
            <a:srgbClr val="1C1B19"/>
          </a:solidFill>
          <a:ln/>
        </p:spPr>
        <p:txBody>
          <a:bodyPr/>
          <a:p/>
        </p:txBody>
      </p:sp>
      <p:sp>
        <p:nvSpPr>
          <p:cNvPr id="4" name="Text 2"/>
          <p:cNvSpPr/>
          <p:nvPr/>
        </p:nvSpPr>
        <p:spPr>
          <a:xfrm>
            <a:off x="1047750"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Destination dispatch</a:t>
            </a:r>
            <a:endParaRPr lang="en-US" sz="3000" dirty="0"/>
          </a:p>
        </p:txBody>
      </p:sp>
      <p:sp>
        <p:nvSpPr>
          <p:cNvPr id="5" name="Text 3"/>
          <p:cNvSpPr/>
          <p:nvPr/>
        </p:nvSpPr>
        <p:spPr>
          <a:xfrm>
            <a:off x="1047750" y="3164160"/>
            <a:ext cx="5193106"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You enter your destination before you board. The controller picks one car, at that moment, and the choice is final.</a:t>
            </a:r>
            <a:endParaRPr lang="en-US" sz="2400" dirty="0"/>
          </a:p>
        </p:txBody>
      </p:sp>
      <p:sp>
        <p:nvSpPr>
          <p:cNvPr id="6" name="Shape 4"/>
          <p:cNvSpPr/>
          <p:nvPr/>
        </p:nvSpPr>
        <p:spPr>
          <a:xfrm>
            <a:off x="6623000" y="2202135"/>
            <a:ext cx="5041925" cy="19050"/>
          </a:xfrm>
          <a:prstGeom prst="rect">
            <a:avLst/>
          </a:prstGeom>
          <a:solidFill>
            <a:srgbClr val="1C1B19"/>
          </a:solidFill>
          <a:ln/>
        </p:spPr>
        <p:txBody>
          <a:bodyPr/>
          <a:p/>
        </p:txBody>
      </p:sp>
      <p:sp>
        <p:nvSpPr>
          <p:cNvPr id="7" name="Text 5"/>
          <p:cNvSpPr/>
          <p:nvPr/>
        </p:nvSpPr>
        <p:spPr>
          <a:xfrm>
            <a:off x="6623000" y="2487885"/>
            <a:ext cx="5546117"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What good means</a:t>
            </a:r>
            <a:endParaRPr lang="en-US" sz="3000" dirty="0"/>
          </a:p>
        </p:txBody>
      </p:sp>
      <p:sp>
        <p:nvSpPr>
          <p:cNvPr id="8" name="Text 6"/>
          <p:cNvSpPr/>
          <p:nvPr/>
        </p:nvSpPr>
        <p:spPr>
          <a:xfrm>
            <a:off x="6623000" y="3164160"/>
            <a:ext cx="5193183"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wait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boarding. 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total time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arrival. And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fairness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no one waits far longer than everyone else.</a:t>
            </a:r>
            <a:endParaRPr lang="en-US" sz="2400" dirty="0"/>
          </a:p>
        </p:txBody>
      </p:sp>
      <p:sp>
        <p:nvSpPr>
          <p:cNvPr id="9" name="Shape 7"/>
          <p:cNvSpPr/>
          <p:nvPr/>
        </p:nvSpPr>
        <p:spPr>
          <a:xfrm>
            <a:off x="12198325" y="2202135"/>
            <a:ext cx="5041850" cy="19050"/>
          </a:xfrm>
          <a:prstGeom prst="rect">
            <a:avLst/>
          </a:prstGeom>
          <a:solidFill>
            <a:srgbClr val="1C1B19"/>
          </a:solidFill>
          <a:ln/>
        </p:spPr>
        <p:txBody>
          <a:bodyPr/>
          <a:p/>
        </p:txBody>
      </p:sp>
      <p:sp>
        <p:nvSpPr>
          <p:cNvPr id="10" name="Text 8"/>
          <p:cNvSpPr/>
          <p:nvPr/>
        </p:nvSpPr>
        <p:spPr>
          <a:xfrm>
            <a:off x="12198325"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Why it is not obvious</a:t>
            </a:r>
            <a:endParaRPr lang="en-US" sz="3000" dirty="0"/>
          </a:p>
        </p:txBody>
      </p:sp>
      <p:sp>
        <p:nvSpPr>
          <p:cNvPr id="11" name="Text 9"/>
          <p:cNvSpPr/>
          <p:nvPr/>
        </p:nvSpPr>
        <p:spPr>
          <a:xfrm>
            <a:off x="12198325" y="3164160"/>
            <a:ext cx="5193106" cy="259824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The controller cannot see the future. And the goals pull apart: the best average bundles people onto a busy car, which is efficient on the whole and hard on whoever keeps being passed over.</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 / 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was built</a:t>
            </a:r>
            <a:endParaRPr lang="en-US" sz="5400" dirty="0"/>
          </a:p>
        </p:txBody>
      </p:sp>
      <p:sp>
        <p:nvSpPr>
          <p:cNvPr id="3" name="Shape 1"/>
          <p:cNvSpPr/>
          <p:nvPr/>
        </p:nvSpPr>
        <p:spPr>
          <a:xfrm>
            <a:off x="1047750" y="2565946"/>
            <a:ext cx="2419127" cy="2457450"/>
          </a:xfrm>
          <a:prstGeom prst="roundRect">
            <a:avLst>
              <a:gd name="adj" fmla="val 3937"/>
            </a:avLst>
          </a:prstGeom>
          <a:solidFill>
            <a:srgbClr val="FFFFFF"/>
          </a:solidFill>
          <a:ln w="9525">
            <a:solidFill>
              <a:srgbClr val="E1DFD9"/>
            </a:solidFill>
            <a:prstDash val="solid"/>
          </a:ln>
        </p:spPr>
        <p:txBody>
          <a:bodyPr/>
          <a:p/>
        </p:txBody>
      </p:sp>
      <p:sp>
        <p:nvSpPr>
          <p:cNvPr id="4" name="Text 2"/>
          <p:cNvSpPr/>
          <p:nvPr/>
        </p:nvSpPr>
        <p:spPr>
          <a:xfrm>
            <a:off x="1304925" y="3332708"/>
            <a:ext cx="209525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Requests</a:t>
            </a:r>
            <a:endParaRPr lang="en-US" sz="2100" dirty="0"/>
          </a:p>
        </p:txBody>
      </p:sp>
      <p:sp>
        <p:nvSpPr>
          <p:cNvPr id="5" name="Text 3"/>
          <p:cNvSpPr/>
          <p:nvPr/>
        </p:nvSpPr>
        <p:spPr>
          <a:xfrm>
            <a:off x="1304925" y="3723233"/>
            <a:ext cx="1980977"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CSV · validate</a:t>
            </a:r>
            <a:endParaRPr lang="en-US" sz="1800" dirty="0"/>
          </a:p>
        </p:txBody>
      </p:sp>
      <p:sp>
        <p:nvSpPr>
          <p:cNvPr id="6" name="Text 4"/>
          <p:cNvSpPr/>
          <p:nvPr/>
        </p:nvSpPr>
        <p:spPr>
          <a:xfrm>
            <a:off x="3638327"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7" name="Shape 5"/>
          <p:cNvSpPr/>
          <p:nvPr/>
        </p:nvSpPr>
        <p:spPr>
          <a:xfrm>
            <a:off x="4158407"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8" name="Text 6"/>
          <p:cNvSpPr/>
          <p:nvPr/>
        </p:nvSpPr>
        <p:spPr>
          <a:xfrm>
            <a:off x="4415582" y="315366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Feed</a:t>
            </a:r>
            <a:endParaRPr lang="en-US" sz="2100" dirty="0"/>
          </a:p>
        </p:txBody>
      </p:sp>
      <p:sp>
        <p:nvSpPr>
          <p:cNvPr id="9" name="Text 7"/>
          <p:cNvSpPr/>
          <p:nvPr/>
        </p:nvSpPr>
        <p:spPr>
          <a:xfrm>
            <a:off x="4415582" y="3544193"/>
            <a:ext cx="1981051" cy="929506"/>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releases a request only when its time has come</a:t>
            </a:r>
            <a:endParaRPr lang="en-US" sz="1800" dirty="0"/>
          </a:p>
        </p:txBody>
      </p:sp>
      <p:sp>
        <p:nvSpPr>
          <p:cNvPr id="10" name="Text 8"/>
          <p:cNvSpPr/>
          <p:nvPr/>
        </p:nvSpPr>
        <p:spPr>
          <a:xfrm>
            <a:off x="674905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11" name="Shape 9"/>
          <p:cNvSpPr/>
          <p:nvPr/>
        </p:nvSpPr>
        <p:spPr>
          <a:xfrm>
            <a:off x="7269138" y="2354535"/>
            <a:ext cx="3265810" cy="2880271"/>
          </a:xfrm>
          <a:prstGeom prst="roundRect">
            <a:avLst>
              <a:gd name="adj" fmla="val 3307"/>
            </a:avLst>
          </a:prstGeom>
          <a:solidFill>
            <a:srgbClr val="FFFFFF"/>
          </a:solidFill>
          <a:ln w="9525">
            <a:solidFill>
              <a:srgbClr val="E1DFD9"/>
            </a:solidFill>
            <a:prstDash val="solid"/>
          </a:ln>
        </p:spPr>
        <p:txBody>
          <a:bodyPr/>
          <a:p/>
        </p:txBody>
      </p:sp>
      <p:sp>
        <p:nvSpPr>
          <p:cNvPr id="12" name="Text 10"/>
          <p:cNvSpPr/>
          <p:nvPr/>
        </p:nvSpPr>
        <p:spPr>
          <a:xfrm>
            <a:off x="7526313" y="2630760"/>
            <a:ext cx="302660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Tick loop</a:t>
            </a:r>
            <a:endParaRPr lang="en-US" sz="2100" dirty="0"/>
          </a:p>
        </p:txBody>
      </p:sp>
      <p:sp>
        <p:nvSpPr>
          <p:cNvPr id="13" name="Text 11"/>
          <p:cNvSpPr/>
          <p:nvPr/>
        </p:nvSpPr>
        <p:spPr>
          <a:xfrm>
            <a:off x="7526313" y="3021285"/>
            <a:ext cx="2834004" cy="632371"/>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LOOK movement · capacity · dwell</a:t>
            </a:r>
            <a:endParaRPr lang="en-US" sz="1800" dirty="0"/>
          </a:p>
        </p:txBody>
      </p:sp>
      <p:sp>
        <p:nvSpPr>
          <p:cNvPr id="14" name="Shape 12"/>
          <p:cNvSpPr/>
          <p:nvPr/>
        </p:nvSpPr>
        <p:spPr>
          <a:xfrm>
            <a:off x="7526313" y="3787006"/>
            <a:ext cx="2751460" cy="9525"/>
          </a:xfrm>
          <a:prstGeom prst="rect">
            <a:avLst/>
          </a:prstGeom>
          <a:solidFill>
            <a:srgbClr val="EEEDE8"/>
          </a:solidFill>
          <a:ln/>
        </p:spPr>
        <p:txBody>
          <a:bodyPr/>
          <a:p/>
        </p:txBody>
      </p:sp>
      <p:sp>
        <p:nvSpPr>
          <p:cNvPr id="15" name="Shape 13"/>
          <p:cNvSpPr/>
          <p:nvPr/>
        </p:nvSpPr>
        <p:spPr>
          <a:xfrm>
            <a:off x="7526313" y="4044181"/>
            <a:ext cx="114300" cy="114300"/>
          </a:xfrm>
          <a:prstGeom prst="roundRect">
            <a:avLst>
              <a:gd name="adj" fmla="val 25000"/>
            </a:avLst>
          </a:prstGeom>
          <a:solidFill>
            <a:srgbClr val="2F6FD0"/>
          </a:solidFill>
          <a:ln/>
        </p:spPr>
        <p:txBody>
          <a:bodyPr/>
          <a:p/>
        </p:txBody>
      </p:sp>
      <p:sp>
        <p:nvSpPr>
          <p:cNvPr id="16" name="Text 14"/>
          <p:cNvSpPr/>
          <p:nvPr/>
        </p:nvSpPr>
        <p:spPr>
          <a:xfrm>
            <a:off x="7735863" y="3929881"/>
            <a:ext cx="1641530"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Smart dispatch</a:t>
            </a:r>
            <a:endParaRPr lang="en-US" sz="1800" dirty="0"/>
          </a:p>
        </p:txBody>
      </p:sp>
      <p:sp>
        <p:nvSpPr>
          <p:cNvPr id="17" name="Shape 15"/>
          <p:cNvSpPr/>
          <p:nvPr/>
        </p:nvSpPr>
        <p:spPr>
          <a:xfrm>
            <a:off x="7526313" y="4387081"/>
            <a:ext cx="114300" cy="114300"/>
          </a:xfrm>
          <a:prstGeom prst="roundRect">
            <a:avLst>
              <a:gd name="adj" fmla="val 25000"/>
            </a:avLst>
          </a:prstGeom>
          <a:solidFill>
            <a:srgbClr val="D9762B"/>
          </a:solidFill>
          <a:ln/>
        </p:spPr>
        <p:txBody>
          <a:bodyPr/>
          <a:p/>
        </p:txBody>
      </p:sp>
      <p:sp>
        <p:nvSpPr>
          <p:cNvPr id="18" name="Text 16"/>
          <p:cNvSpPr/>
          <p:nvPr/>
        </p:nvSpPr>
        <p:spPr>
          <a:xfrm>
            <a:off x="7735863" y="4272781"/>
            <a:ext cx="1206847"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Nearest car</a:t>
            </a:r>
            <a:endParaRPr lang="en-US" sz="1800" dirty="0"/>
          </a:p>
        </p:txBody>
      </p:sp>
      <p:sp>
        <p:nvSpPr>
          <p:cNvPr id="19" name="Shape 17"/>
          <p:cNvSpPr/>
          <p:nvPr/>
        </p:nvSpPr>
        <p:spPr>
          <a:xfrm>
            <a:off x="7526313" y="4729981"/>
            <a:ext cx="114300" cy="114300"/>
          </a:xfrm>
          <a:prstGeom prst="roundRect">
            <a:avLst>
              <a:gd name="adj" fmla="val 25000"/>
            </a:avLst>
          </a:prstGeom>
          <a:solidFill>
            <a:srgbClr val="2A9D74"/>
          </a:solidFill>
          <a:ln/>
        </p:spPr>
        <p:txBody>
          <a:bodyPr/>
          <a:p/>
        </p:txBody>
      </p:sp>
      <p:sp>
        <p:nvSpPr>
          <p:cNvPr id="20" name="Text 18"/>
          <p:cNvSpPr/>
          <p:nvPr/>
        </p:nvSpPr>
        <p:spPr>
          <a:xfrm>
            <a:off x="7735863" y="4615681"/>
            <a:ext cx="1082873"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Take turns</a:t>
            </a:r>
            <a:endParaRPr lang="en-US" sz="1800" dirty="0"/>
          </a:p>
        </p:txBody>
      </p:sp>
      <p:sp>
        <p:nvSpPr>
          <p:cNvPr id="21" name="Text 19"/>
          <p:cNvSpPr/>
          <p:nvPr/>
        </p:nvSpPr>
        <p:spPr>
          <a:xfrm>
            <a:off x="1070639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2" name="Shape 20"/>
          <p:cNvSpPr/>
          <p:nvPr/>
        </p:nvSpPr>
        <p:spPr>
          <a:xfrm>
            <a:off x="11226478"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23" name="Text 21"/>
          <p:cNvSpPr/>
          <p:nvPr/>
        </p:nvSpPr>
        <p:spPr>
          <a:xfrm>
            <a:off x="11483653" y="308505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Outputs</a:t>
            </a:r>
            <a:endParaRPr lang="en-US" sz="2100" dirty="0"/>
          </a:p>
        </p:txBody>
      </p:sp>
      <p:sp>
        <p:nvSpPr>
          <p:cNvPr id="24" name="Text 22"/>
          <p:cNvSpPr/>
          <p:nvPr/>
        </p:nvSpPr>
        <p:spPr>
          <a:xfrm>
            <a:off x="11483653" y="3475583"/>
            <a:ext cx="1981051" cy="10668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7A786F"/>
                </a:solidFill>
                <a:latin typeface="Courier New" pitchFamily="34" charset="0"/>
                <a:ea typeface="Courier New" pitchFamily="34" charset="-122"/>
                <a:cs typeface="Courier New" pitchFamily="34" charset="-120"/>
              </a:rPr>
              <a:t>positions.csv trace.json summary</a:t>
            </a:r>
            <a:endParaRPr lang="en-US" sz="1800" dirty="0"/>
          </a:p>
        </p:txBody>
      </p:sp>
      <p:sp>
        <p:nvSpPr>
          <p:cNvPr id="25" name="Text 23"/>
          <p:cNvSpPr/>
          <p:nvPr/>
        </p:nvSpPr>
        <p:spPr>
          <a:xfrm>
            <a:off x="13817129"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6" name="Shape 24"/>
          <p:cNvSpPr/>
          <p:nvPr/>
        </p:nvSpPr>
        <p:spPr>
          <a:xfrm>
            <a:off x="14337209" y="2565946"/>
            <a:ext cx="2903041" cy="2457450"/>
          </a:xfrm>
          <a:prstGeom prst="roundRect">
            <a:avLst>
              <a:gd name="adj" fmla="val 3876"/>
            </a:avLst>
          </a:prstGeom>
          <a:solidFill>
            <a:srgbClr val="FFFFFF"/>
          </a:solidFill>
          <a:ln w="9525">
            <a:solidFill>
              <a:srgbClr val="E1DFD9"/>
            </a:solidFill>
            <a:prstDash val="solid"/>
          </a:ln>
        </p:spPr>
        <p:txBody>
          <a:bodyPr/>
          <a:p/>
        </p:txBody>
      </p:sp>
      <p:sp>
        <p:nvSpPr>
          <p:cNvPr id="27" name="Text 25"/>
          <p:cNvSpPr/>
          <p:nvPr/>
        </p:nvSpPr>
        <p:spPr>
          <a:xfrm>
            <a:off x="14594384" y="3279428"/>
            <a:ext cx="2627561"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Evidence</a:t>
            </a:r>
            <a:endParaRPr lang="en-US" sz="2100" dirty="0"/>
          </a:p>
        </p:txBody>
      </p:sp>
      <p:sp>
        <p:nvSpPr>
          <p:cNvPr id="28" name="Text 26"/>
          <p:cNvSpPr/>
          <p:nvPr/>
        </p:nvSpPr>
        <p:spPr>
          <a:xfrm>
            <a:off x="14594384" y="3669953"/>
            <a:ext cx="2464891"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7A786F"/>
                </a:solidFill>
                <a:latin typeface="Arial" pitchFamily="34" charset="0"/>
                <a:ea typeface="Arial" pitchFamily="34" charset="-122"/>
                <a:cs typeface="Arial" pitchFamily="34" charset="-120"/>
              </a:rPr>
              <a:t>compare table · charts · simulator · explorer</a:t>
            </a:r>
            <a:endParaRPr lang="en-US" sz="1800" dirty="0"/>
          </a:p>
        </p:txBody>
      </p:sp>
      <p:sp>
        <p:nvSpPr>
          <p:cNvPr id="29" name="Shape 27"/>
          <p:cNvSpPr/>
          <p:nvPr/>
        </p:nvSpPr>
        <p:spPr>
          <a:xfrm>
            <a:off x="1047750" y="5844406"/>
            <a:ext cx="16192500" cy="9525"/>
          </a:xfrm>
          <a:prstGeom prst="rect">
            <a:avLst/>
          </a:prstGeom>
          <a:solidFill>
            <a:srgbClr val="E1DFD9"/>
          </a:solidFill>
          <a:ln/>
        </p:spPr>
        <p:txBody>
          <a:bodyPr/>
          <a:p/>
        </p:txBody>
      </p:sp>
      <p:sp>
        <p:nvSpPr>
          <p:cNvPr id="30" name="Text 28"/>
          <p:cNvSpPr/>
          <p:nvPr/>
        </p:nvSpPr>
        <p:spPr>
          <a:xfrm>
            <a:off x="104775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3</a:t>
            </a:r>
            <a:endParaRPr lang="en-US" sz="4800" dirty="0"/>
          </a:p>
        </p:txBody>
      </p:sp>
      <p:sp>
        <p:nvSpPr>
          <p:cNvPr id="31" name="Text 29"/>
          <p:cNvSpPr/>
          <p:nvPr/>
        </p:nvSpPr>
        <p:spPr>
          <a:xfrm>
            <a:off x="104775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rules behind one interface</a:t>
            </a:r>
            <a:endParaRPr lang="en-US" sz="2100" dirty="0"/>
          </a:p>
        </p:txBody>
      </p:sp>
      <p:sp>
        <p:nvSpPr>
          <p:cNvPr id="32" name="Text 30"/>
          <p:cNvSpPr/>
          <p:nvPr/>
        </p:nvSpPr>
        <p:spPr>
          <a:xfrm>
            <a:off x="519112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7</a:t>
            </a:r>
            <a:endParaRPr lang="en-US" sz="4800" dirty="0"/>
          </a:p>
        </p:txBody>
      </p:sp>
      <p:sp>
        <p:nvSpPr>
          <p:cNvPr id="33" name="Text 31"/>
          <p:cNvSpPr/>
          <p:nvPr/>
        </p:nvSpPr>
        <p:spPr>
          <a:xfrm>
            <a:off x="5191125" y="6844531"/>
            <a:ext cx="3875246" cy="666750"/>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seeded traffic patterns · 20 fresh seeds each</a:t>
            </a:r>
            <a:endParaRPr lang="en-US" sz="2100" dirty="0"/>
          </a:p>
        </p:txBody>
      </p:sp>
      <p:sp>
        <p:nvSpPr>
          <p:cNvPr id="34" name="Text 32"/>
          <p:cNvSpPr/>
          <p:nvPr/>
        </p:nvSpPr>
        <p:spPr>
          <a:xfrm>
            <a:off x="933450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225</a:t>
            </a:r>
            <a:endParaRPr lang="en-US" sz="4800" dirty="0"/>
          </a:p>
        </p:txBody>
      </p:sp>
      <p:sp>
        <p:nvSpPr>
          <p:cNvPr id="35" name="Text 33"/>
          <p:cNvSpPr/>
          <p:nvPr/>
        </p:nvSpPr>
        <p:spPr>
          <a:xfrm>
            <a:off x="933450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tests, six levels</a:t>
            </a:r>
            <a:endParaRPr lang="en-US" sz="2100" dirty="0"/>
          </a:p>
        </p:txBody>
      </p:sp>
      <p:sp>
        <p:nvSpPr>
          <p:cNvPr id="36" name="Text 34"/>
          <p:cNvSpPr/>
          <p:nvPr/>
        </p:nvSpPr>
        <p:spPr>
          <a:xfrm>
            <a:off x="1347787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0</a:t>
            </a:r>
            <a:endParaRPr lang="en-US" sz="4800" dirty="0"/>
          </a:p>
        </p:txBody>
      </p:sp>
      <p:sp>
        <p:nvSpPr>
          <p:cNvPr id="37" name="Text 35"/>
          <p:cNvSpPr/>
          <p:nvPr/>
        </p:nvSpPr>
        <p:spPr>
          <a:xfrm>
            <a:off x="13477875"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runtime dependencies</a:t>
            </a:r>
            <a:endParaRPr lang="en-US" sz="2100" dirty="0"/>
          </a:p>
        </p:txBody>
      </p:sp>
      <p:sp>
        <p:nvSpPr>
          <p:cNvPr id="38" name="Text 3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9" name="Text 3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 / 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62622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work was done</a:t>
            </a:r>
            <a:endParaRPr lang="en-US" sz="5400" dirty="0"/>
          </a:p>
        </p:txBody>
      </p:sp>
      <p:sp>
        <p:nvSpPr>
          <p:cNvPr id="3" name="Text 1"/>
          <p:cNvSpPr/>
          <p:nvPr/>
        </p:nvSpPr>
        <p:spPr>
          <a:xfrm>
            <a:off x="12423204" y="1333500"/>
            <a:ext cx="529875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seven phases over two days</a:t>
            </a:r>
            <a:endParaRPr lang="en-US" sz="1800" dirty="0"/>
          </a:p>
        </p:txBody>
      </p:sp>
      <p:sp>
        <p:nvSpPr>
          <p:cNvPr id="4" name="Shape 2"/>
          <p:cNvSpPr/>
          <p:nvPr/>
        </p:nvSpPr>
        <p:spPr>
          <a:xfrm>
            <a:off x="1047750" y="2125935"/>
            <a:ext cx="2117229" cy="19050"/>
          </a:xfrm>
          <a:prstGeom prst="rect">
            <a:avLst/>
          </a:prstGeom>
          <a:solidFill>
            <a:srgbClr val="1C1B19"/>
          </a:solidFill>
          <a:ln/>
        </p:spPr>
        <p:txBody>
          <a:bodyPr/>
          <a:p/>
        </p:txBody>
      </p:sp>
      <p:sp>
        <p:nvSpPr>
          <p:cNvPr id="5" name="Text 3"/>
          <p:cNvSpPr/>
          <p:nvPr/>
        </p:nvSpPr>
        <p:spPr>
          <a:xfrm>
            <a:off x="1047750"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047750"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Frame</a:t>
            </a:r>
            <a:endParaRPr lang="en-US" sz="2100" dirty="0"/>
          </a:p>
        </p:txBody>
      </p:sp>
      <p:sp>
        <p:nvSpPr>
          <p:cNvPr id="7" name="Text 5"/>
          <p:cNvSpPr/>
          <p:nvPr/>
        </p:nvSpPr>
        <p:spPr>
          <a:xfrm>
            <a:off x="1047750" y="3068910"/>
            <a:ext cx="2193429"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The brief read closely, four questions answered.</a:t>
            </a:r>
            <a:endParaRPr lang="en-US" sz="1800" dirty="0"/>
          </a:p>
        </p:txBody>
      </p:sp>
      <p:sp>
        <p:nvSpPr>
          <p:cNvPr id="8" name="Text 6"/>
          <p:cNvSpPr/>
          <p:nvPr/>
        </p:nvSpPr>
        <p:spPr>
          <a:xfrm>
            <a:off x="1047750" y="4108996"/>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1C1B19"/>
                </a:solidFill>
                <a:latin typeface="Courier New" pitchFamily="34" charset="0"/>
                <a:ea typeface="Courier New" pitchFamily="34" charset="-122"/>
                <a:cs typeface="Courier New" pitchFamily="34" charset="-120"/>
              </a:rPr>
              <a:t>owner</a:t>
            </a:r>
            <a:endParaRPr lang="en-US" sz="1800" dirty="0"/>
          </a:p>
        </p:txBody>
      </p:sp>
      <p:sp>
        <p:nvSpPr>
          <p:cNvPr id="9" name="Shape 7"/>
          <p:cNvSpPr/>
          <p:nvPr/>
        </p:nvSpPr>
        <p:spPr>
          <a:xfrm>
            <a:off x="3393579" y="2125935"/>
            <a:ext cx="2117303" cy="19050"/>
          </a:xfrm>
          <a:prstGeom prst="rect">
            <a:avLst/>
          </a:prstGeom>
          <a:solidFill>
            <a:srgbClr val="1C1B19"/>
          </a:solidFill>
          <a:ln/>
        </p:spPr>
        <p:txBody>
          <a:bodyPr/>
          <a:p/>
        </p:txBody>
      </p:sp>
      <p:sp>
        <p:nvSpPr>
          <p:cNvPr id="10" name="Text 8"/>
          <p:cNvSpPr/>
          <p:nvPr/>
        </p:nvSpPr>
        <p:spPr>
          <a:xfrm>
            <a:off x="3393579"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3393579"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Plan</a:t>
            </a:r>
            <a:endParaRPr lang="en-US" sz="2100" dirty="0"/>
          </a:p>
        </p:txBody>
      </p:sp>
      <p:sp>
        <p:nvSpPr>
          <p:cNvPr id="12" name="Text 10"/>
          <p:cNvSpPr/>
          <p:nvPr/>
        </p:nvSpPr>
        <p:spPr>
          <a:xfrm>
            <a:off x="3393579"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Eleven ambiguities pinned; working rules; checkpoints.</a:t>
            </a:r>
            <a:endParaRPr lang="en-US" sz="1800" dirty="0"/>
          </a:p>
        </p:txBody>
      </p:sp>
      <p:sp>
        <p:nvSpPr>
          <p:cNvPr id="13" name="Text 11"/>
          <p:cNvSpPr/>
          <p:nvPr/>
        </p:nvSpPr>
        <p:spPr>
          <a:xfrm>
            <a:off x="3393579"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14" name="Shape 12"/>
          <p:cNvSpPr/>
          <p:nvPr/>
        </p:nvSpPr>
        <p:spPr>
          <a:xfrm>
            <a:off x="5739482" y="2125935"/>
            <a:ext cx="2117229" cy="19050"/>
          </a:xfrm>
          <a:prstGeom prst="rect">
            <a:avLst/>
          </a:prstGeom>
          <a:solidFill>
            <a:srgbClr val="1C1B19"/>
          </a:solidFill>
          <a:ln/>
        </p:spPr>
        <p:txBody>
          <a:bodyPr/>
          <a:p/>
        </p:txBody>
      </p:sp>
      <p:sp>
        <p:nvSpPr>
          <p:cNvPr id="15" name="Text 13"/>
          <p:cNvSpPr/>
          <p:nvPr/>
        </p:nvSpPr>
        <p:spPr>
          <a:xfrm>
            <a:off x="5739482"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a:t>
            </a:r>
            <a:endParaRPr lang="en-US" sz="1800" dirty="0"/>
          </a:p>
        </p:txBody>
      </p:sp>
      <p:sp>
        <p:nvSpPr>
          <p:cNvPr id="16" name="Text 14"/>
          <p:cNvSpPr/>
          <p:nvPr/>
        </p:nvSpPr>
        <p:spPr>
          <a:xfrm>
            <a:off x="5739482"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Research</a:t>
            </a:r>
            <a:endParaRPr lang="en-US" sz="2100" dirty="0"/>
          </a:p>
        </p:txBody>
      </p:sp>
      <p:sp>
        <p:nvSpPr>
          <p:cNvPr id="17" name="Text 15"/>
          <p:cNvSpPr/>
          <p:nvPr/>
        </p:nvSpPr>
        <p:spPr>
          <a:xfrm>
            <a:off x="5739482" y="3068910"/>
            <a:ext cx="2193429" cy="1272480"/>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How real controllers assign; traffic patterns from the literature.</a:t>
            </a:r>
            <a:endParaRPr lang="en-US" sz="1800" dirty="0"/>
          </a:p>
        </p:txBody>
      </p:sp>
      <p:sp>
        <p:nvSpPr>
          <p:cNvPr id="18" name="Text 16"/>
          <p:cNvSpPr/>
          <p:nvPr/>
        </p:nvSpPr>
        <p:spPr>
          <a:xfrm>
            <a:off x="5739482" y="4417591"/>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19" name="Shape 17"/>
          <p:cNvSpPr/>
          <p:nvPr/>
        </p:nvSpPr>
        <p:spPr>
          <a:xfrm>
            <a:off x="8085311" y="2125935"/>
            <a:ext cx="2117303" cy="19050"/>
          </a:xfrm>
          <a:prstGeom prst="rect">
            <a:avLst/>
          </a:prstGeom>
          <a:solidFill>
            <a:srgbClr val="1C1B19"/>
          </a:solidFill>
          <a:ln/>
        </p:spPr>
        <p:txBody>
          <a:bodyPr/>
          <a:p/>
        </p:txBody>
      </p:sp>
      <p:sp>
        <p:nvSpPr>
          <p:cNvPr id="20" name="Text 18"/>
          <p:cNvSpPr/>
          <p:nvPr/>
        </p:nvSpPr>
        <p:spPr>
          <a:xfrm>
            <a:off x="8085311"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a:t>
            </a:r>
            <a:endParaRPr lang="en-US" sz="1800" dirty="0"/>
          </a:p>
        </p:txBody>
      </p:sp>
      <p:sp>
        <p:nvSpPr>
          <p:cNvPr id="21" name="Text 19"/>
          <p:cNvSpPr/>
          <p:nvPr/>
        </p:nvSpPr>
        <p:spPr>
          <a:xfrm>
            <a:off x="8085311"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Build &amp; test</a:t>
            </a:r>
            <a:endParaRPr lang="en-US" sz="2100" dirty="0"/>
          </a:p>
        </p:txBody>
      </p:sp>
      <p:sp>
        <p:nvSpPr>
          <p:cNvPr id="22" name="Text 20"/>
          <p:cNvSpPr/>
          <p:nvPr/>
        </p:nvSpPr>
        <p:spPr>
          <a:xfrm>
            <a:off x="8085311"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Engine, three rules, seeded scenarios, 225 tests.</a:t>
            </a:r>
            <a:endParaRPr lang="en-US" sz="1800" dirty="0"/>
          </a:p>
        </p:txBody>
      </p:sp>
      <p:sp>
        <p:nvSpPr>
          <p:cNvPr id="23" name="Text 21"/>
          <p:cNvSpPr/>
          <p:nvPr/>
        </p:nvSpPr>
        <p:spPr>
          <a:xfrm>
            <a:off x="8085311"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 autonomous</a:t>
            </a:r>
            <a:endParaRPr lang="en-US" sz="1800" dirty="0"/>
          </a:p>
        </p:txBody>
      </p:sp>
      <p:sp>
        <p:nvSpPr>
          <p:cNvPr id="24" name="Shape 22"/>
          <p:cNvSpPr/>
          <p:nvPr/>
        </p:nvSpPr>
        <p:spPr>
          <a:xfrm>
            <a:off x="10431214" y="2125935"/>
            <a:ext cx="2117229" cy="19050"/>
          </a:xfrm>
          <a:prstGeom prst="rect">
            <a:avLst/>
          </a:prstGeom>
          <a:solidFill>
            <a:srgbClr val="1C1B19"/>
          </a:solidFill>
          <a:ln/>
        </p:spPr>
        <p:txBody>
          <a:bodyPr/>
          <a:p/>
        </p:txBody>
      </p:sp>
      <p:sp>
        <p:nvSpPr>
          <p:cNvPr id="25" name="Text 23"/>
          <p:cNvSpPr/>
          <p:nvPr/>
        </p:nvSpPr>
        <p:spPr>
          <a:xfrm>
            <a:off x="10431214"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a:t>
            </a:r>
            <a:endParaRPr lang="en-US" sz="1800" dirty="0"/>
          </a:p>
        </p:txBody>
      </p:sp>
      <p:sp>
        <p:nvSpPr>
          <p:cNvPr id="26" name="Text 24"/>
          <p:cNvSpPr/>
          <p:nvPr/>
        </p:nvSpPr>
        <p:spPr>
          <a:xfrm>
            <a:off x="10431214"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Measure</a:t>
            </a:r>
            <a:endParaRPr lang="en-US" sz="2100" dirty="0"/>
          </a:p>
        </p:txBody>
      </p:sp>
      <p:sp>
        <p:nvSpPr>
          <p:cNvPr id="27" name="Text 25"/>
          <p:cNvSpPr/>
          <p:nvPr/>
        </p:nvSpPr>
        <p:spPr>
          <a:xfrm>
            <a:off x="10431214" y="3068910"/>
            <a:ext cx="2193429" cy="1272480"/>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Comparison, charts, five sensitivity studies, two browser pages.</a:t>
            </a:r>
            <a:endParaRPr lang="en-US" sz="1800" dirty="0"/>
          </a:p>
        </p:txBody>
      </p:sp>
      <p:sp>
        <p:nvSpPr>
          <p:cNvPr id="28" name="Text 26"/>
          <p:cNvSpPr/>
          <p:nvPr/>
        </p:nvSpPr>
        <p:spPr>
          <a:xfrm>
            <a:off x="10431214" y="4417591"/>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29" name="Shape 27"/>
          <p:cNvSpPr/>
          <p:nvPr/>
        </p:nvSpPr>
        <p:spPr>
          <a:xfrm>
            <a:off x="12777043" y="2125935"/>
            <a:ext cx="2117303" cy="19050"/>
          </a:xfrm>
          <a:prstGeom prst="rect">
            <a:avLst/>
          </a:prstGeom>
          <a:solidFill>
            <a:srgbClr val="1C1B19"/>
          </a:solidFill>
          <a:ln/>
        </p:spPr>
        <p:txBody>
          <a:bodyPr/>
          <a:p/>
        </p:txBody>
      </p:sp>
      <p:sp>
        <p:nvSpPr>
          <p:cNvPr id="30" name="Text 28"/>
          <p:cNvSpPr/>
          <p:nvPr/>
        </p:nvSpPr>
        <p:spPr>
          <a:xfrm>
            <a:off x="12777043"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a:t>
            </a:r>
            <a:endParaRPr lang="en-US" sz="1800" dirty="0"/>
          </a:p>
        </p:txBody>
      </p:sp>
      <p:sp>
        <p:nvSpPr>
          <p:cNvPr id="31" name="Text 29"/>
          <p:cNvSpPr/>
          <p:nvPr/>
        </p:nvSpPr>
        <p:spPr>
          <a:xfrm>
            <a:off x="12777043"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Validate</a:t>
            </a:r>
            <a:endParaRPr lang="en-US" sz="2100" dirty="0"/>
          </a:p>
        </p:txBody>
      </p:sp>
      <p:sp>
        <p:nvSpPr>
          <p:cNvPr id="32" name="Text 30"/>
          <p:cNvSpPr/>
          <p:nvPr/>
        </p:nvSpPr>
        <p:spPr>
          <a:xfrm>
            <a:off x="12777043"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Adversarial review; twenty fresh seeds per pattern.</a:t>
            </a:r>
            <a:endParaRPr lang="en-US" sz="1800" dirty="0"/>
          </a:p>
        </p:txBody>
      </p:sp>
      <p:sp>
        <p:nvSpPr>
          <p:cNvPr id="33" name="Text 31"/>
          <p:cNvSpPr/>
          <p:nvPr/>
        </p:nvSpPr>
        <p:spPr>
          <a:xfrm>
            <a:off x="12777043" y="4108996"/>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34" name="Shape 32"/>
          <p:cNvSpPr/>
          <p:nvPr/>
        </p:nvSpPr>
        <p:spPr>
          <a:xfrm>
            <a:off x="15122947" y="2125935"/>
            <a:ext cx="2117303" cy="19050"/>
          </a:xfrm>
          <a:prstGeom prst="rect">
            <a:avLst/>
          </a:prstGeom>
          <a:solidFill>
            <a:srgbClr val="1C1B19"/>
          </a:solidFill>
          <a:ln/>
        </p:spPr>
        <p:txBody>
          <a:bodyPr/>
          <a:p/>
        </p:txBody>
      </p:sp>
      <p:sp>
        <p:nvSpPr>
          <p:cNvPr id="35" name="Text 33"/>
          <p:cNvSpPr/>
          <p:nvPr/>
        </p:nvSpPr>
        <p:spPr>
          <a:xfrm>
            <a:off x="15122947"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a:t>
            </a:r>
            <a:endParaRPr lang="en-US" sz="1800" dirty="0"/>
          </a:p>
        </p:txBody>
      </p:sp>
      <p:sp>
        <p:nvSpPr>
          <p:cNvPr id="36" name="Text 34"/>
          <p:cNvSpPr/>
          <p:nvPr/>
        </p:nvSpPr>
        <p:spPr>
          <a:xfrm>
            <a:off x="15122947"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Document</a:t>
            </a:r>
            <a:endParaRPr lang="en-US" sz="2100" dirty="0"/>
          </a:p>
        </p:txBody>
      </p:sp>
      <p:sp>
        <p:nvSpPr>
          <p:cNvPr id="37" name="Text 35"/>
          <p:cNvSpPr/>
          <p:nvPr/>
        </p:nvSpPr>
        <p:spPr>
          <a:xfrm>
            <a:off x="15122947"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Whitepaper, assumptions, design notes, this deck.</a:t>
            </a:r>
            <a:endParaRPr lang="en-US" sz="1800" dirty="0"/>
          </a:p>
        </p:txBody>
      </p:sp>
      <p:sp>
        <p:nvSpPr>
          <p:cNvPr id="38" name="Text 36"/>
          <p:cNvSpPr/>
          <p:nvPr/>
        </p:nvSpPr>
        <p:spPr>
          <a:xfrm>
            <a:off x="15122947"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39" name="Shape 37"/>
          <p:cNvSpPr/>
          <p:nvPr/>
        </p:nvSpPr>
        <p:spPr>
          <a:xfrm>
            <a:off x="1047750" y="5217691"/>
            <a:ext cx="16192500" cy="9525"/>
          </a:xfrm>
          <a:prstGeom prst="rect">
            <a:avLst/>
          </a:prstGeom>
          <a:solidFill>
            <a:srgbClr val="E1DFD9"/>
          </a:solidFill>
          <a:ln/>
        </p:spPr>
        <p:txBody>
          <a:bodyPr/>
          <a:p/>
        </p:txBody>
      </p:sp>
      <p:sp>
        <p:nvSpPr>
          <p:cNvPr id="40" name="Text 38"/>
          <p:cNvSpPr/>
          <p:nvPr/>
        </p:nvSpPr>
        <p:spPr>
          <a:xfrm>
            <a:off x="104775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OWNER</a:t>
            </a:r>
            <a:endParaRPr lang="en-US" sz="1800" dirty="0"/>
          </a:p>
        </p:txBody>
      </p:sp>
      <p:sp>
        <p:nvSpPr>
          <p:cNvPr id="41" name="Text 39"/>
          <p:cNvSpPr/>
          <p:nvPr/>
        </p:nvSpPr>
        <p:spPr>
          <a:xfrm>
            <a:off x="104775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Intent, scope and quality bar. Every judgement call. Reviewed the autonomous run afterwards, and every later output before it was committed.</a:t>
            </a:r>
            <a:endParaRPr lang="en-US" sz="2100" dirty="0"/>
          </a:p>
        </p:txBody>
      </p:sp>
      <p:sp>
        <p:nvSpPr>
          <p:cNvPr id="42" name="Text 40"/>
          <p:cNvSpPr/>
          <p:nvPr/>
        </p:nvSpPr>
        <p:spPr>
          <a:xfrm>
            <a:off x="944880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43" name="Text 41"/>
          <p:cNvSpPr/>
          <p:nvPr/>
        </p:nvSpPr>
        <p:spPr>
          <a:xfrm>
            <a:off x="944880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Drafted, researched, built, tested, challenged. Executed the plan autonomously, committing as it went.</a:t>
            </a:r>
            <a:endParaRPr lang="en-US" sz="2100" dirty="0"/>
          </a:p>
        </p:txBody>
      </p:sp>
      <p:sp>
        <p:nvSpPr>
          <p:cNvPr id="44" name="Text 42"/>
          <p:cNvSpPr/>
          <p:nvPr/>
        </p:nvSpPr>
        <p:spPr>
          <a:xfrm>
            <a:off x="1047750" y="7040687"/>
            <a:ext cx="15697200"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Time: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about six hours of my attention over two days — two, then four — plus three to four hours in which the assistant ran unsupervised.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Cost: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under €100.</a:t>
            </a:r>
            <a:endParaRPr lang="en-US" sz="2100" dirty="0"/>
          </a:p>
        </p:txBody>
      </p:sp>
      <p:sp>
        <p:nvSpPr>
          <p:cNvPr id="45" name="Text 4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46" name="Text 4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 / 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6912449"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model works</a:t>
            </a:r>
            <a:endParaRPr lang="en-US" sz="5400" dirty="0"/>
          </a:p>
        </p:txBody>
      </p:sp>
      <p:sp>
        <p:nvSpPr>
          <p:cNvPr id="3" name="Text 1"/>
          <p:cNvSpPr/>
          <p:nvPr/>
        </p:nvSpPr>
        <p:spPr>
          <a:xfrm>
            <a:off x="7598494" y="1333500"/>
            <a:ext cx="439040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for the engineers · skippable</a:t>
            </a:r>
            <a:endParaRPr lang="en-US" sz="1800" dirty="0"/>
          </a:p>
        </p:txBody>
      </p:sp>
      <p:sp>
        <p:nvSpPr>
          <p:cNvPr id="4" name="Text 2"/>
          <p:cNvSpPr/>
          <p:nvPr/>
        </p:nvSpPr>
        <p:spPr>
          <a:xfrm>
            <a:off x="1047750" y="2202135"/>
            <a:ext cx="8781127"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ONE TICK, IN FIXED ORDER</a:t>
            </a:r>
            <a:endParaRPr lang="en-US" sz="1800" dirty="0"/>
          </a:p>
        </p:txBody>
      </p:sp>
      <p:sp>
        <p:nvSpPr>
          <p:cNvPr id="5" name="Text 3"/>
          <p:cNvSpPr/>
          <p:nvPr/>
        </p:nvSpPr>
        <p:spPr>
          <a:xfrm>
            <a:off x="1047750" y="2697435"/>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6" name="Text 4"/>
          <p:cNvSpPr/>
          <p:nvPr/>
        </p:nvSpPr>
        <p:spPr>
          <a:xfrm>
            <a:off x="1809750" y="2697435"/>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Release and assign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requests due now reach the scheduler; it returns a car index.</a:t>
            </a:r>
            <a:endParaRPr lang="en-US" sz="2400" dirty="0"/>
          </a:p>
        </p:txBody>
      </p:sp>
      <p:sp>
        <p:nvSpPr>
          <p:cNvPr id="7" name="Text 5"/>
          <p:cNvSpPr/>
          <p:nvPr/>
        </p:nvSpPr>
        <p:spPr>
          <a:xfrm>
            <a:off x="1047750" y="3729856"/>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8" name="Text 6"/>
          <p:cNvSpPr/>
          <p:nvPr/>
        </p:nvSpPr>
        <p:spPr>
          <a:xfrm>
            <a:off x="1809750" y="3729856"/>
            <a:ext cx="7437468"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Unload, then load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at the current floor, in request order, while capacity allows, only in the departure direction.</a:t>
            </a:r>
            <a:endParaRPr lang="en-US" sz="2400" dirty="0"/>
          </a:p>
        </p:txBody>
      </p:sp>
      <p:sp>
        <p:nvSpPr>
          <p:cNvPr id="9" name="Text 7"/>
          <p:cNvSpPr/>
          <p:nvPr/>
        </p:nvSpPr>
        <p:spPr>
          <a:xfrm>
            <a:off x="1047750" y="5173712"/>
            <a:ext cx="685800" cy="449535"/>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10" name="Text 8"/>
          <p:cNvSpPr/>
          <p:nvPr/>
        </p:nvSpPr>
        <p:spPr>
          <a:xfrm>
            <a:off x="1809750" y="5173712"/>
            <a:ext cx="7942927" cy="449535"/>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Log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one row of positions per tick, from tick 0.</a:t>
            </a:r>
            <a:endParaRPr lang="en-US" sz="2400" dirty="0"/>
          </a:p>
        </p:txBody>
      </p:sp>
      <p:sp>
        <p:nvSpPr>
          <p:cNvPr id="11" name="Text 9"/>
          <p:cNvSpPr/>
          <p:nvPr/>
        </p:nvSpPr>
        <p:spPr>
          <a:xfrm>
            <a:off x="1047750" y="5794697"/>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4</a:t>
            </a:r>
            <a:endParaRPr lang="en-US" sz="2400" dirty="0"/>
          </a:p>
        </p:txBody>
      </p:sp>
      <p:sp>
        <p:nvSpPr>
          <p:cNvPr id="12" name="Text 10"/>
          <p:cNvSpPr/>
          <p:nvPr/>
        </p:nvSpPr>
        <p:spPr>
          <a:xfrm>
            <a:off x="1809750" y="5794697"/>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Advance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each car moves one floor toward its next stop, dwells, or stays idle.</a:t>
            </a:r>
            <a:endParaRPr lang="en-US" sz="2400" dirty="0"/>
          </a:p>
        </p:txBody>
      </p:sp>
      <p:sp>
        <p:nvSpPr>
          <p:cNvPr id="13" name="Text 11"/>
          <p:cNvSpPr/>
          <p:nvPr/>
        </p:nvSpPr>
        <p:spPr>
          <a:xfrm>
            <a:off x="9983093" y="2202135"/>
            <a:ext cx="79828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ENFORCED BY STRUCTURE, PINNED BY TESTS</a:t>
            </a:r>
            <a:endParaRPr lang="en-US" sz="1800" dirty="0"/>
          </a:p>
        </p:txBody>
      </p:sp>
      <p:sp>
        <p:nvSpPr>
          <p:cNvPr id="14" name="Text 12"/>
          <p:cNvSpPr/>
          <p:nvPr/>
        </p:nvSpPr>
        <p:spPr>
          <a:xfrm>
            <a:off x="9983093" y="2697435"/>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No peek-ahead.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feed releases a request only when time ≤ now; a spy scheduler proves it.</a:t>
            </a:r>
            <a:endParaRPr lang="en-US" sz="2400" dirty="0"/>
          </a:p>
        </p:txBody>
      </p:sp>
      <p:sp>
        <p:nvSpPr>
          <p:cNvPr id="15" name="Text 13"/>
          <p:cNvSpPr/>
          <p:nvPr/>
        </p:nvSpPr>
        <p:spPr>
          <a:xfrm>
            <a:off x="9983093" y="3729856"/>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Assignment is final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as in real destination systems — so capacity is the scheduler’s problem.</a:t>
            </a:r>
            <a:endParaRPr lang="en-US" sz="2400" dirty="0"/>
          </a:p>
        </p:txBody>
      </p:sp>
      <p:sp>
        <p:nvSpPr>
          <p:cNvPr id="16" name="Text 14"/>
          <p:cNvSpPr/>
          <p:nvPr/>
        </p:nvSpPr>
        <p:spPr>
          <a:xfrm>
            <a:off x="9983093" y="4762277"/>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LOOK movement.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Keep direction while a stop lies ahead; never carry anyone away from their destination.</a:t>
            </a:r>
            <a:endParaRPr lang="en-US" sz="2400" dirty="0"/>
          </a:p>
        </p:txBody>
      </p:sp>
      <p:sp>
        <p:nvSpPr>
          <p:cNvPr id="17" name="Text 15"/>
          <p:cNvSpPr/>
          <p:nvPr/>
        </p:nvSpPr>
        <p:spPr>
          <a:xfrm>
            <a:off x="9983093" y="5794697"/>
            <a:ext cx="7474872" cy="128193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 stop costs one tick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and the choice does not decide the result: the ranking holds at dwell 0, 1 and 2. The brief’s literal model is </a:t>
            </a:r>
            <a:pPr algn="l" indent="0" marL="0">
              <a:lnSpc>
                <a:spcPct val="116757"/>
              </a:lnSpc>
              <a:buNone/>
            </a:pPr>
            <a:r>
              <a:rPr lang="en-US" sz="2400" dirty="0">
                <a:solidFill>
                  <a:srgbClr val="4C4A44"/>
                </a:solidFill>
                <a:latin typeface="Courier New" pitchFamily="34" charset="0"/>
                <a:ea typeface="Courier New" pitchFamily="34" charset="-122"/>
                <a:cs typeface="Courier New" pitchFamily="34" charset="-120"/>
              </a:rPr>
              <a:t>--dwell 0</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t>
            </a:r>
            <a:endParaRPr lang="en-US" sz="2400" dirty="0"/>
          </a:p>
        </p:txBody>
      </p:sp>
      <p:sp>
        <p:nvSpPr>
          <p:cNvPr id="18"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 / 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three dispatch rules</a:t>
            </a:r>
            <a:endParaRPr lang="en-US" sz="5400" dirty="0"/>
          </a:p>
        </p:txBody>
      </p:sp>
      <p:sp>
        <p:nvSpPr>
          <p:cNvPr id="3" name="Shape 1"/>
          <p:cNvSpPr/>
          <p:nvPr/>
        </p:nvSpPr>
        <p:spPr>
          <a:xfrm>
            <a:off x="1047750" y="2202135"/>
            <a:ext cx="5092675" cy="76200"/>
          </a:xfrm>
          <a:prstGeom prst="rect">
            <a:avLst/>
          </a:prstGeom>
          <a:solidFill>
            <a:srgbClr val="2F6FD0"/>
          </a:solidFill>
          <a:ln/>
        </p:spPr>
        <p:txBody>
          <a:bodyPr/>
          <a:p/>
        </p:txBody>
      </p:sp>
      <p:sp>
        <p:nvSpPr>
          <p:cNvPr id="4" name="Text 2"/>
          <p:cNvSpPr/>
          <p:nvPr/>
        </p:nvSpPr>
        <p:spPr>
          <a:xfrm>
            <a:off x="1047750"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Smart dispatch</a:t>
            </a:r>
            <a:endParaRPr lang="en-US" sz="3000" dirty="0"/>
          </a:p>
        </p:txBody>
      </p:sp>
      <p:sp>
        <p:nvSpPr>
          <p:cNvPr id="5" name="Text 3"/>
          <p:cNvSpPr/>
          <p:nvPr/>
        </p:nvSpPr>
        <p:spPr>
          <a:xfrm>
            <a:off x="1047750"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ETD · estimated time to destination</a:t>
            </a:r>
            <a:endParaRPr lang="en-US" sz="1800" dirty="0"/>
          </a:p>
        </p:txBody>
      </p:sp>
      <p:sp>
        <p:nvSpPr>
          <p:cNvPr id="6" name="Text 4"/>
          <p:cNvSpPr/>
          <p:nvPr/>
        </p:nvSpPr>
        <p:spPr>
          <a:xfrm>
            <a:off x="1047750" y="3583260"/>
            <a:ext cx="5245455"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Picks the car that delays everyone the least: the newcomer’s projected time to destination plus the delay added to passengers already assigned.</a:t>
            </a:r>
            <a:endParaRPr lang="en-US" sz="2400" dirty="0"/>
          </a:p>
        </p:txBody>
      </p:sp>
      <p:sp>
        <p:nvSpPr>
          <p:cNvPr id="7" name="Text 5"/>
          <p:cNvSpPr/>
          <p:nvPr/>
        </p:nvSpPr>
        <p:spPr>
          <a:xfrm>
            <a:off x="1047750" y="5518621"/>
            <a:ext cx="524545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optimises the aggregate; without a fairness weight it can leave one person waiting a long time.</a:t>
            </a:r>
            <a:endParaRPr lang="en-US" sz="2100" dirty="0"/>
          </a:p>
        </p:txBody>
      </p:sp>
      <p:sp>
        <p:nvSpPr>
          <p:cNvPr id="8" name="Shape 6"/>
          <p:cNvSpPr/>
          <p:nvPr/>
        </p:nvSpPr>
        <p:spPr>
          <a:xfrm>
            <a:off x="6597625" y="2202135"/>
            <a:ext cx="5092675" cy="76200"/>
          </a:xfrm>
          <a:prstGeom prst="rect">
            <a:avLst/>
          </a:prstGeom>
          <a:solidFill>
            <a:srgbClr val="D9762B"/>
          </a:solidFill>
          <a:ln/>
        </p:spPr>
        <p:txBody>
          <a:bodyPr/>
          <a:p/>
        </p:txBody>
      </p:sp>
      <p:sp>
        <p:nvSpPr>
          <p:cNvPr id="9" name="Text 7"/>
          <p:cNvSpPr/>
          <p:nvPr/>
        </p:nvSpPr>
        <p:spPr>
          <a:xfrm>
            <a:off x="6597625"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Nearest car</a:t>
            </a:r>
            <a:endParaRPr lang="en-US" sz="3000" dirty="0"/>
          </a:p>
        </p:txBody>
      </p:sp>
      <p:sp>
        <p:nvSpPr>
          <p:cNvPr id="10" name="Text 8"/>
          <p:cNvSpPr/>
          <p:nvPr/>
        </p:nvSpPr>
        <p:spPr>
          <a:xfrm>
            <a:off x="6597625"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distance</a:t>
            </a:r>
            <a:endParaRPr lang="en-US" sz="1800" dirty="0"/>
          </a:p>
        </p:txBody>
      </p:sp>
      <p:sp>
        <p:nvSpPr>
          <p:cNvPr id="11" name="Text 9"/>
          <p:cNvSpPr/>
          <p:nvPr/>
        </p:nvSpPr>
        <p:spPr>
          <a:xfrm>
            <a:off x="6597625" y="3583260"/>
            <a:ext cx="5245455"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Sends the closest car going the right way; a large penalty if the car is moving away or in the wrong direction.</a:t>
            </a:r>
            <a:endParaRPr lang="en-US" sz="2400" dirty="0"/>
          </a:p>
        </p:txBody>
      </p:sp>
      <p:sp>
        <p:nvSpPr>
          <p:cNvPr id="12" name="Text 10"/>
          <p:cNvSpPr/>
          <p:nvPr/>
        </p:nvSpPr>
        <p:spPr>
          <a:xfrm>
            <a:off x="6597625" y="5091931"/>
            <a:ext cx="524545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ignores how many stops the car already has — so it degrades as load rises.</a:t>
            </a:r>
            <a:endParaRPr lang="en-US" sz="2100" dirty="0"/>
          </a:p>
        </p:txBody>
      </p:sp>
      <p:sp>
        <p:nvSpPr>
          <p:cNvPr id="13" name="Shape 11"/>
          <p:cNvSpPr/>
          <p:nvPr/>
        </p:nvSpPr>
        <p:spPr>
          <a:xfrm>
            <a:off x="12147500" y="2202135"/>
            <a:ext cx="5092750" cy="76200"/>
          </a:xfrm>
          <a:prstGeom prst="rect">
            <a:avLst/>
          </a:prstGeom>
          <a:solidFill>
            <a:srgbClr val="2A9D74"/>
          </a:solidFill>
          <a:ln/>
        </p:spPr>
        <p:txBody>
          <a:bodyPr/>
          <a:p/>
        </p:txBody>
      </p:sp>
      <p:sp>
        <p:nvSpPr>
          <p:cNvPr id="14" name="Text 12"/>
          <p:cNvSpPr/>
          <p:nvPr/>
        </p:nvSpPr>
        <p:spPr>
          <a:xfrm>
            <a:off x="12147500" y="2545035"/>
            <a:ext cx="560202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Take turns</a:t>
            </a:r>
            <a:endParaRPr lang="en-US" sz="3000" dirty="0"/>
          </a:p>
        </p:txBody>
      </p:sp>
      <p:sp>
        <p:nvSpPr>
          <p:cNvPr id="15" name="Text 13"/>
          <p:cNvSpPr/>
          <p:nvPr/>
        </p:nvSpPr>
        <p:spPr>
          <a:xfrm>
            <a:off x="12147500" y="3049860"/>
            <a:ext cx="560202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round robin</a:t>
            </a:r>
            <a:endParaRPr lang="en-US" sz="1800" dirty="0"/>
          </a:p>
        </p:txBody>
      </p:sp>
      <p:sp>
        <p:nvSpPr>
          <p:cNvPr id="16" name="Text 14"/>
          <p:cNvSpPr/>
          <p:nvPr/>
        </p:nvSpPr>
        <p:spPr>
          <a:xfrm>
            <a:off x="12147500" y="3583260"/>
            <a:ext cx="5245532"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Cars take requests in strict rotation, wherever they are. It uses no information at all.</a:t>
            </a:r>
            <a:endParaRPr lang="en-US" sz="2400" dirty="0"/>
          </a:p>
        </p:txBody>
      </p:sp>
      <p:sp>
        <p:nvSpPr>
          <p:cNvPr id="17" name="Text 15"/>
          <p:cNvSpPr/>
          <p:nvPr/>
        </p:nvSpPr>
        <p:spPr>
          <a:xfrm>
            <a:off x="12147500" y="5091931"/>
            <a:ext cx="5245532"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nobody is singled out for a long wait; everybody waits longer.</a:t>
            </a:r>
            <a:endParaRPr lang="en-US" sz="2100" dirty="0"/>
          </a:p>
        </p:txBody>
      </p:sp>
      <p:sp>
        <p:nvSpPr>
          <p:cNvPr id="18" name="Text 16"/>
          <p:cNvSpPr/>
          <p:nvPr/>
        </p:nvSpPr>
        <p:spPr>
          <a:xfrm>
            <a:off x="1047750" y="7172027"/>
            <a:ext cx="1471612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Three policies sit on top of any rule: a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fairness weight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that makes long waits progressively more expensive to extend,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parking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idle cars at a chosen floor, and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zoning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cars to a range of floors.</a:t>
            </a:r>
            <a:endParaRPr lang="en-US" sz="2100" dirty="0"/>
          </a:p>
        </p:txBody>
      </p:sp>
      <p:sp>
        <p:nvSpPr>
          <p:cNvPr id="19"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 / 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numbers were assured</a:t>
            </a:r>
            <a:endParaRPr lang="en-US" sz="5400" dirty="0"/>
          </a:p>
        </p:txBody>
      </p:sp>
      <p:sp>
        <p:nvSpPr>
          <p:cNvPr id="3" name="Text 1"/>
          <p:cNvSpPr/>
          <p:nvPr/>
        </p:nvSpPr>
        <p:spPr>
          <a:xfrm>
            <a:off x="1047750" y="2202135"/>
            <a:ext cx="5844399"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228</a:t>
            </a:r>
            <a:endParaRPr lang="en-US" sz="12600" dirty="0"/>
          </a:p>
        </p:txBody>
      </p:sp>
      <p:sp>
        <p:nvSpPr>
          <p:cNvPr id="4" name="Text 2"/>
          <p:cNvSpPr/>
          <p:nvPr/>
        </p:nvSpPr>
        <p:spPr>
          <a:xfrm>
            <a:off x="1047750" y="3916635"/>
            <a:ext cx="5844399"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tests, six levels</a:t>
            </a:r>
            <a:endParaRPr lang="en-US" sz="2400" dirty="0"/>
          </a:p>
        </p:txBody>
      </p:sp>
      <p:sp>
        <p:nvSpPr>
          <p:cNvPr id="5" name="Text 3"/>
          <p:cNvSpPr/>
          <p:nvPr/>
        </p:nvSpPr>
        <p:spPr>
          <a:xfrm>
            <a:off x="1047750" y="4545285"/>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1</a:t>
            </a:r>
            <a:endParaRPr lang="en-US" sz="2100" dirty="0"/>
          </a:p>
        </p:txBody>
      </p:sp>
      <p:sp>
        <p:nvSpPr>
          <p:cNvPr id="6" name="Text 4"/>
          <p:cNvSpPr/>
          <p:nvPr/>
        </p:nvSpPr>
        <p:spPr>
          <a:xfrm>
            <a:off x="1466850" y="4545285"/>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Unit — every observable assumption</a:t>
            </a:r>
            <a:endParaRPr lang="en-US" sz="2100" dirty="0"/>
          </a:p>
        </p:txBody>
      </p:sp>
      <p:sp>
        <p:nvSpPr>
          <p:cNvPr id="7" name="Text 5"/>
          <p:cNvSpPr/>
          <p:nvPr/>
        </p:nvSpPr>
        <p:spPr>
          <a:xfrm>
            <a:off x="1047750" y="5006280"/>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2</a:t>
            </a:r>
            <a:endParaRPr lang="en-US" sz="2100" dirty="0"/>
          </a:p>
        </p:txBody>
      </p:sp>
      <p:sp>
        <p:nvSpPr>
          <p:cNvPr id="8" name="Text 6"/>
          <p:cNvSpPr/>
          <p:nvPr/>
        </p:nvSpPr>
        <p:spPr>
          <a:xfrm>
            <a:off x="1466850" y="5006280"/>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Structural — no peek-ahead</a:t>
            </a:r>
            <a:endParaRPr lang="en-US" sz="2100" dirty="0"/>
          </a:p>
        </p:txBody>
      </p:sp>
      <p:sp>
        <p:nvSpPr>
          <p:cNvPr id="9" name="Text 7"/>
          <p:cNvSpPr/>
          <p:nvPr/>
        </p:nvSpPr>
        <p:spPr>
          <a:xfrm>
            <a:off x="1047750" y="546727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3</a:t>
            </a:r>
            <a:endParaRPr lang="en-US" sz="2100" dirty="0"/>
          </a:p>
        </p:txBody>
      </p:sp>
      <p:sp>
        <p:nvSpPr>
          <p:cNvPr id="10" name="Text 8"/>
          <p:cNvSpPr/>
          <p:nvPr/>
        </p:nvSpPr>
        <p:spPr>
          <a:xfrm>
            <a:off x="1466850" y="546727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Property-based invariants, random buildings</a:t>
            </a:r>
            <a:endParaRPr lang="en-US" sz="2100" dirty="0"/>
          </a:p>
        </p:txBody>
      </p:sp>
      <p:sp>
        <p:nvSpPr>
          <p:cNvPr id="11" name="Text 9"/>
          <p:cNvSpPr/>
          <p:nvPr/>
        </p:nvSpPr>
        <p:spPr>
          <a:xfrm>
            <a:off x="1047750" y="627496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4</a:t>
            </a:r>
            <a:endParaRPr lang="en-US" sz="2100" dirty="0"/>
          </a:p>
        </p:txBody>
      </p:sp>
      <p:sp>
        <p:nvSpPr>
          <p:cNvPr id="12" name="Text 10"/>
          <p:cNvSpPr/>
          <p:nvPr/>
        </p:nvSpPr>
        <p:spPr>
          <a:xfrm>
            <a:off x="1466850" y="627496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Golden statistics — every committed comparison result</a:t>
            </a:r>
            <a:endParaRPr lang="en-US" sz="2100" dirty="0"/>
          </a:p>
        </p:txBody>
      </p:sp>
      <p:sp>
        <p:nvSpPr>
          <p:cNvPr id="13" name="Text 11"/>
          <p:cNvSpPr/>
          <p:nvPr/>
        </p:nvSpPr>
        <p:spPr>
          <a:xfrm>
            <a:off x="1047750" y="7082656"/>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5</a:t>
            </a:r>
            <a:endParaRPr lang="en-US" sz="2100" dirty="0"/>
          </a:p>
        </p:txBody>
      </p:sp>
      <p:sp>
        <p:nvSpPr>
          <p:cNvPr id="14" name="Text 12"/>
          <p:cNvSpPr/>
          <p:nvPr/>
        </p:nvSpPr>
        <p:spPr>
          <a:xfrm>
            <a:off x="1466850" y="7082656"/>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Scenario and CLI, end to end</a:t>
            </a:r>
            <a:endParaRPr lang="en-US" sz="2100" dirty="0"/>
          </a:p>
        </p:txBody>
      </p:sp>
      <p:sp>
        <p:nvSpPr>
          <p:cNvPr id="15" name="Text 13"/>
          <p:cNvSpPr/>
          <p:nvPr/>
        </p:nvSpPr>
        <p:spPr>
          <a:xfrm>
            <a:off x="1047750" y="7543651"/>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6</a:t>
            </a:r>
            <a:endParaRPr lang="en-US" sz="2100" dirty="0"/>
          </a:p>
        </p:txBody>
      </p:sp>
      <p:sp>
        <p:nvSpPr>
          <p:cNvPr id="16" name="Text 14"/>
          <p:cNvSpPr/>
          <p:nvPr/>
        </p:nvSpPr>
        <p:spPr>
          <a:xfrm>
            <a:off x="1466850" y="7543651"/>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JS / Python conformance — incl. per-car usage</a:t>
            </a:r>
            <a:endParaRPr lang="en-US" sz="2100" dirty="0"/>
          </a:p>
        </p:txBody>
      </p:sp>
      <p:sp>
        <p:nvSpPr>
          <p:cNvPr id="17" name="Text 15"/>
          <p:cNvSpPr/>
          <p:nvPr/>
        </p:nvSpPr>
        <p:spPr>
          <a:xfrm>
            <a:off x="6970440" y="2202135"/>
            <a:ext cx="5313075"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65</a:t>
            </a:r>
            <a:pPr algn="l" indent="0" marL="0">
              <a:lnSpc>
                <a:spcPct val="87047"/>
              </a:lnSpc>
              <a:buNone/>
            </a:pPr>
            <a:r>
              <a:rPr lang="en-US" sz="5400" b="1" spc="-504" kern="0" dirty="0">
                <a:solidFill>
                  <a:srgbClr val="7A786F"/>
                </a:solidFill>
                <a:latin typeface="Arial" pitchFamily="34" charset="0"/>
                <a:ea typeface="Arial" pitchFamily="34" charset="-122"/>
                <a:cs typeface="Arial" pitchFamily="34" charset="-120"/>
              </a:rPr>
              <a:t>/65</a:t>
            </a:r>
            <a:endParaRPr lang="en-US" sz="12600" dirty="0"/>
          </a:p>
        </p:txBody>
      </p:sp>
      <p:sp>
        <p:nvSpPr>
          <p:cNvPr id="18" name="Text 16"/>
          <p:cNvSpPr/>
          <p:nvPr/>
        </p:nvSpPr>
        <p:spPr>
          <a:xfrm>
            <a:off x="6970440" y="3916635"/>
            <a:ext cx="5313075"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scenario × variant combinations</a:t>
            </a:r>
            <a:endParaRPr lang="en-US" sz="2400" dirty="0"/>
          </a:p>
        </p:txBody>
      </p:sp>
      <p:sp>
        <p:nvSpPr>
          <p:cNvPr id="19" name="Text 17"/>
          <p:cNvSpPr/>
          <p:nvPr/>
        </p:nvSpPr>
        <p:spPr>
          <a:xfrm>
            <a:off x="6970440" y="4545285"/>
            <a:ext cx="4974970" cy="153144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The browser engine is a JavaScript port. Positions per tick, the full event list and every passenger’s lifecycle are asserted identical to Python’s.</a:t>
            </a:r>
            <a:endParaRPr lang="en-US" sz="2100" dirty="0"/>
          </a:p>
        </p:txBody>
      </p:sp>
      <p:sp>
        <p:nvSpPr>
          <p:cNvPr id="20" name="Text 18"/>
          <p:cNvSpPr/>
          <p:nvPr/>
        </p:nvSpPr>
        <p:spPr>
          <a:xfrm>
            <a:off x="12410108" y="2202135"/>
            <a:ext cx="5313157"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41</a:t>
            </a:r>
            <a:endParaRPr lang="en-US" sz="12600" dirty="0"/>
          </a:p>
        </p:txBody>
      </p:sp>
      <p:sp>
        <p:nvSpPr>
          <p:cNvPr id="21" name="Text 19"/>
          <p:cNvSpPr/>
          <p:nvPr/>
        </p:nvSpPr>
        <p:spPr>
          <a:xfrm>
            <a:off x="12410108" y="3916635"/>
            <a:ext cx="5313157"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findings, adversarial review</a:t>
            </a:r>
            <a:endParaRPr lang="en-US" sz="2400" dirty="0"/>
          </a:p>
        </p:txBody>
      </p:sp>
      <p:sp>
        <p:nvSpPr>
          <p:cNvPr id="22" name="Text 20"/>
          <p:cNvSpPr/>
          <p:nvPr/>
        </p:nvSpPr>
        <p:spPr>
          <a:xfrm>
            <a:off x="12410108" y="4545285"/>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0</a:t>
            </a:r>
            <a:endParaRPr lang="en-US" sz="2100" dirty="0"/>
          </a:p>
        </p:txBody>
      </p:sp>
      <p:sp>
        <p:nvSpPr>
          <p:cNvPr id="23" name="Text 21"/>
          <p:cNvSpPr/>
          <p:nvPr/>
        </p:nvSpPr>
        <p:spPr>
          <a:xfrm>
            <a:off x="13019708" y="4545285"/>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blockers · 8 major</a:t>
            </a:r>
            <a:endParaRPr lang="en-US" sz="2100" dirty="0"/>
          </a:p>
        </p:txBody>
      </p:sp>
      <p:sp>
        <p:nvSpPr>
          <p:cNvPr id="24" name="Text 22"/>
          <p:cNvSpPr/>
          <p:nvPr/>
        </p:nvSpPr>
        <p:spPr>
          <a:xfrm>
            <a:off x="12410108" y="5006280"/>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16</a:t>
            </a:r>
            <a:endParaRPr lang="en-US" sz="2100" dirty="0"/>
          </a:p>
        </p:txBody>
      </p:sp>
      <p:sp>
        <p:nvSpPr>
          <p:cNvPr id="25" name="Text 23"/>
          <p:cNvSpPr/>
          <p:nvPr/>
        </p:nvSpPr>
        <p:spPr>
          <a:xfrm>
            <a:off x="13019708" y="5006280"/>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code or tests</a:t>
            </a:r>
            <a:endParaRPr lang="en-US" sz="2100" dirty="0"/>
          </a:p>
        </p:txBody>
      </p:sp>
      <p:sp>
        <p:nvSpPr>
          <p:cNvPr id="26" name="Text 24"/>
          <p:cNvSpPr/>
          <p:nvPr/>
        </p:nvSpPr>
        <p:spPr>
          <a:xfrm>
            <a:off x="12410108" y="5467276"/>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21</a:t>
            </a:r>
            <a:endParaRPr lang="en-US" sz="2100" dirty="0"/>
          </a:p>
        </p:txBody>
      </p:sp>
      <p:sp>
        <p:nvSpPr>
          <p:cNvPr id="27" name="Text 25"/>
          <p:cNvSpPr/>
          <p:nvPr/>
        </p:nvSpPr>
        <p:spPr>
          <a:xfrm>
            <a:off x="13019708" y="5467276"/>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documents</a:t>
            </a:r>
            <a:endParaRPr lang="en-US" sz="2100" dirty="0"/>
          </a:p>
        </p:txBody>
      </p:sp>
      <p:sp>
        <p:nvSpPr>
          <p:cNvPr id="28" name="Text 26"/>
          <p:cNvSpPr/>
          <p:nvPr/>
        </p:nvSpPr>
        <p:spPr>
          <a:xfrm>
            <a:off x="12410108" y="5928271"/>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4</a:t>
            </a:r>
            <a:endParaRPr lang="en-US" sz="2100" dirty="0"/>
          </a:p>
        </p:txBody>
      </p:sp>
      <p:sp>
        <p:nvSpPr>
          <p:cNvPr id="29" name="Text 27"/>
          <p:cNvSpPr/>
          <p:nvPr/>
        </p:nvSpPr>
        <p:spPr>
          <a:xfrm>
            <a:off x="13019708" y="5928271"/>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resolved otherwise</a:t>
            </a:r>
            <a:endParaRPr lang="en-US" sz="2100" dirty="0"/>
          </a:p>
        </p:txBody>
      </p:sp>
      <p:sp>
        <p:nvSpPr>
          <p:cNvPr id="30" name="Text 28"/>
          <p:cNvSpPr/>
          <p:nvPr/>
        </p:nvSpPr>
        <p:spPr>
          <a:xfrm>
            <a:off x="12410108" y="6389266"/>
            <a:ext cx="6858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20</a:t>
            </a:r>
            <a:endParaRPr lang="en-US" sz="2100" dirty="0"/>
          </a:p>
        </p:txBody>
      </p:sp>
      <p:sp>
        <p:nvSpPr>
          <p:cNvPr id="30" name="Text 28 copy"/>
          <p:cNvSpPr/>
          <p:nvPr/>
        </p:nvSpPr>
        <p:spPr>
          <a:xfrm>
            <a:off x="12410108" y="7196956"/>
            <a:ext cx="1050000" cy="731490"/>
          </a:xfrm>
          <a:prstGeom prst="rect">
            <a:avLst/>
          </a:prstGeom>
          <a:noFill/>
          <a:ln/>
        </p:spPr>
        <p:txBody>
          <a:bodyPr wrap="square" lIns="25400" tIns="25400" rIns="25400" bIns="25400" rtlCol="0" anchor="t"/>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0.4%</a:t>
            </a:r>
            <a:endParaRPr lang="en-US" sz="2100" dirty="0"/>
          </a:p>
        </p:txBody>
      </p:sp>
      <p:sp>
        <p:nvSpPr>
          <p:cNvPr id="31" name="Text 29"/>
          <p:cNvSpPr/>
          <p:nvPr/>
        </p:nvSpPr>
        <p:spPr>
          <a:xfrm>
            <a:off x="13019708" y="6389266"/>
            <a:ext cx="434715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fresh seeds per pattern — the headline held</a:t>
            </a:r>
            <a:endParaRPr lang="en-US" sz="2100" dirty="0"/>
          </a:p>
        </p:txBody>
      </p:sp>
      <p:sp>
        <p:nvSpPr>
          <p:cNvPr id="31" name="Text 29 copy"/>
          <p:cNvSpPr/>
          <p:nvPr/>
        </p:nvSpPr>
        <p:spPr>
          <a:xfrm>
            <a:off x="13249708" y="7196956"/>
            <a:ext cx="4117159" cy="731490"/>
          </a:xfrm>
          <a:prstGeom prst="rect">
            <a:avLst/>
          </a:prstGeom>
          <a:noFill/>
          <a:ln/>
        </p:spPr>
        <p:txBody>
          <a:bodyPr wrap="square" lIns="25400" tIns="25400" rIns="25400" bIns="25400" rtlCol="0" anchor="t"/>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gap to the textbook round-trip formula — the model checked against theory</a:t>
            </a:r>
            <a:endParaRPr lang="en-US" sz="2100" dirty="0"/>
          </a:p>
        </p:txBody>
      </p:sp>
      <p:sp>
        <p:nvSpPr>
          <p:cNvPr id="32" name="Text 3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3" name="Text 3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 / 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SWITCHING TO THE BROWSER</a:t>
            </a:r>
            <a:endParaRPr lang="en-US" sz="1800" dirty="0"/>
          </a:p>
        </p:txBody>
      </p:sp>
      <p:sp>
        <p:nvSpPr>
          <p:cNvPr id="3" name="Text 1"/>
          <p:cNvSpPr/>
          <p:nvPr/>
        </p:nvSpPr>
        <p:spPr>
          <a:xfrm>
            <a:off x="1047750" y="1371600"/>
            <a:ext cx="8082573"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F6F5F2"/>
                </a:solidFill>
                <a:latin typeface="Arial" pitchFamily="34" charset="0"/>
                <a:ea typeface="Arial" pitchFamily="34" charset="-122"/>
                <a:cs typeface="Arial" pitchFamily="34" charset="-120"/>
              </a:rPr>
              <a:t>The live simulator</a:t>
            </a:r>
            <a:endParaRPr lang="en-US" sz="5400" dirty="0"/>
          </a:p>
        </p:txBody>
      </p:sp>
      <p:sp>
        <p:nvSpPr>
          <p:cNvPr id="4" name="Text 2"/>
          <p:cNvSpPr/>
          <p:nvPr/>
        </p:nvSpPr>
        <p:spPr>
          <a:xfrm>
            <a:off x="1047750" y="2316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5" name="Text 3"/>
          <p:cNvSpPr/>
          <p:nvPr/>
        </p:nvSpPr>
        <p:spPr>
          <a:xfrm>
            <a:off x="1047750" y="3078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…/docs/results/ </a:t>
            </a:r>
            <a:pPr algn="l" indent="0" marL="0">
              <a:lnSpc>
                <a:spcPct val="133333"/>
              </a:lnSpc>
              <a:buNone/>
            </a:pPr>
            <a:r>
              <a:rPr lang="en-US" sz="1800" dirty="0">
                <a:solidFill>
                  <a:srgbClr val="C9C7C0"/>
                </a:solidFill>
                <a:latin typeface="Courier New" pitchFamily="34" charset="0"/>
                <a:ea typeface="Courier New" pitchFamily="34" charset="-122"/>
                <a:cs typeface="Courier New" pitchFamily="34" charset="-120"/>
              </a:rPr>
              <a:t>— the analysis explorer, every number on one screen</a:t>
            </a:r>
            <a:endParaRPr lang="en-US" sz="1800" dirty="0"/>
          </a:p>
        </p:txBody>
      </p:sp>
      <p:sp>
        <p:nvSpPr>
          <p:cNvPr id="6" name="Text 4"/>
          <p:cNvSpPr/>
          <p:nvPr/>
        </p:nvSpPr>
        <p:spPr>
          <a:xfrm>
            <a:off x="1047750" y="4030935"/>
            <a:ext cx="80825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WHAT TO WATCH FOR</a:t>
            </a:r>
            <a:endParaRPr lang="en-US" sz="1800" dirty="0"/>
          </a:p>
        </p:txBody>
      </p:sp>
      <p:sp>
        <p:nvSpPr>
          <p:cNvPr id="7" name="Text 5"/>
          <p:cNvSpPr/>
          <p:nvPr/>
        </p:nvSpPr>
        <p:spPr>
          <a:xfrm>
            <a:off x="1047750" y="4450035"/>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8" name="Text 6"/>
          <p:cNvSpPr/>
          <p:nvPr/>
        </p:nvSpPr>
        <p:spPr>
          <a:xfrm>
            <a:off x="1543050" y="4450035"/>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Three rules, one building, the same 160 people — 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ranking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updates live.</a:t>
            </a:r>
            <a:endParaRPr lang="en-US" sz="2400" dirty="0"/>
          </a:p>
        </p:txBody>
      </p:sp>
      <p:sp>
        <p:nvSpPr>
          <p:cNvPr id="9" name="Text 7"/>
          <p:cNvSpPr/>
          <p:nvPr/>
        </p:nvSpPr>
        <p:spPr>
          <a:xfrm>
            <a:off x="1047750" y="5356696"/>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0" name="Text 8"/>
          <p:cNvSpPr/>
          <p:nvPr/>
        </p:nvSpPr>
        <p:spPr>
          <a:xfrm>
            <a:off x="1543050" y="5356696"/>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Amber dots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are people waiting. Watch where they pile up under each rule.</a:t>
            </a:r>
            <a:endParaRPr lang="en-US" sz="2400" dirty="0"/>
          </a:p>
        </p:txBody>
      </p:sp>
      <p:sp>
        <p:nvSpPr>
          <p:cNvPr id="11" name="Text 9"/>
          <p:cNvSpPr/>
          <p:nvPr/>
        </p:nvSpPr>
        <p:spPr>
          <a:xfrm>
            <a:off x="1047750" y="6263357"/>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2" name="Text 10"/>
          <p:cNvSpPr/>
          <p:nvPr/>
        </p:nvSpPr>
        <p:spPr>
          <a:xfrm>
            <a:off x="1543050" y="6263357"/>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usage strip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under each building — one bar per car — shows which cars sit out.</a:t>
            </a:r>
            <a:endParaRPr lang="en-US" sz="2400" dirty="0"/>
          </a:p>
        </p:txBody>
      </p:sp>
      <p:sp>
        <p:nvSpPr>
          <p:cNvPr id="13" name="Text 11"/>
          <p:cNvSpPr/>
          <p:nvPr/>
        </p:nvSpPr>
        <p:spPr>
          <a:xfrm>
            <a:off x="1047750" y="7170018"/>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4" name="Text 12"/>
          <p:cNvSpPr/>
          <p:nvPr/>
        </p:nvSpPr>
        <p:spPr>
          <a:xfrm>
            <a:off x="1543050" y="7170018"/>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Click a floor to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add a passenger</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 tick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park at lobby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and restart.</a:t>
            </a:r>
            <a:endParaRPr lang="en-US" sz="2400" dirty="0"/>
          </a:p>
        </p:txBody>
      </p:sp>
      <p:sp>
        <p:nvSpPr>
          <p:cNvPr id="15" name="Text 13"/>
          <p:cNvSpPr/>
          <p:nvPr/>
        </p:nvSpPr>
        <p:spPr>
          <a:xfrm>
            <a:off x="1047750" y="8076679"/>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6" name="Text 14"/>
          <p:cNvSpPr/>
          <p:nvPr/>
        </p:nvSpPr>
        <p:spPr>
          <a:xfrm>
            <a:off x="1543050" y="8076679"/>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Set 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stop cost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to 0, 1 or 2; 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over 30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stat is the share waiting more than about a minute.</a:t>
            </a:r>
            <a:endParaRPr lang="en-US" sz="2400" dirty="0"/>
          </a:p>
        </p:txBody>
      </p:sp>
      <p:pic>
        <p:nvPicPr>
          <p:cNvPr id="17" name="Image 0" descr="preencoded.png">    </p:cNvPr>
          <p:cNvPicPr>
            <a:picLocks noChangeAspect="1"/>
          </p:cNvPicPr>
          <p:nvPr/>
        </p:nvPicPr>
        <p:blipFill>
          <a:blip r:embed="rId1"/>
          <a:srcRect l="510" r="510" t="0" b="0"/>
          <a:stretch/>
        </p:blipFill>
        <p:spPr>
          <a:xfrm>
            <a:off x="8496300" y="2228850"/>
            <a:ext cx="8839200" cy="4648200"/>
          </a:xfrm>
          <a:prstGeom prst="rect">
            <a:avLst/>
          </a:prstGeom>
        </p:spPr>
      </p:pic>
      <p:sp>
        <p:nvSpPr>
          <p:cNvPr id="18" name="Text 15"/>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6"/>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08 / 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47750" y="1371600"/>
            <a:ext cx="15697200" cy="1264890"/>
          </a:xfrm>
          <a:prstGeom prst="rect">
            <a:avLst/>
          </a:prstGeom>
          <a:noFill/>
          <a:ln/>
        </p:spPr>
        <p:txBody>
          <a:bodyPr wrap="square" lIns="25400" tIns="25400" rIns="25400" bIns="25400" rtlCol="0" anchor="t">
            <a:normAutofit/>
          </a:bodyPr>
          <a:lstStyle/>
          <a:p>
            <a:pPr algn="l" indent="0" marL="0">
              <a:lnSpc>
                <a:spcPct val="99845"/>
              </a:lnSpc>
              <a:buNone/>
            </a:pPr>
            <a:r>
              <a:rPr lang="en-US" sz="4200" b="1" spc="-84" kern="0" dirty="0">
                <a:solidFill>
                  <a:srgbClr val="1C1B19"/>
                </a:solidFill>
                <a:latin typeface="Arial" pitchFamily="34" charset="0"/>
                <a:ea typeface="Arial" pitchFamily="34" charset="-122"/>
                <a:cs typeface="Arial" pitchFamily="34" charset="-120"/>
              </a:rPr>
              <a:t>How should a bank of elevators decide which car takes which passenger — and how much does the choice matter?</a:t>
            </a:r>
            <a:endParaRPr lang="en-US" sz="4200" dirty="0"/>
          </a:p>
        </p:txBody>
      </p:sp>
      <p:sp>
        <p:nvSpPr>
          <p:cNvPr id="4" name="Text 2"/>
          <p:cNvSpPr/>
          <p:nvPr/>
        </p:nvSpPr>
        <p:spPr>
          <a:xfrm>
            <a:off x="1047750" y="313179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ANSWER, MEASURED</a:t>
            </a:r>
            <a:endParaRPr lang="en-US" sz="1800" dirty="0"/>
          </a:p>
        </p:txBody>
      </p:sp>
      <p:sp>
        <p:nvSpPr>
          <p:cNvPr id="5" name="Shape 3"/>
          <p:cNvSpPr/>
          <p:nvPr/>
        </p:nvSpPr>
        <p:spPr>
          <a:xfrm>
            <a:off x="1047750" y="3627090"/>
            <a:ext cx="16192500" cy="9525"/>
          </a:xfrm>
          <a:prstGeom prst="rect">
            <a:avLst/>
          </a:prstGeom>
          <a:solidFill>
            <a:srgbClr val="E1DFD9"/>
          </a:solidFill>
          <a:ln/>
        </p:spPr>
        <p:txBody>
          <a:bodyPr/>
          <a:p/>
        </p:txBody>
      </p:sp>
      <p:sp>
        <p:nvSpPr>
          <p:cNvPr id="6" name="Text 4"/>
          <p:cNvSpPr/>
          <p:nvPr/>
        </p:nvSpPr>
        <p:spPr>
          <a:xfrm>
            <a:off x="1047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1.2–2.6×</a:t>
            </a:r>
            <a:endParaRPr lang="en-US" sz="12600" dirty="0"/>
          </a:p>
        </p:txBody>
      </p:sp>
      <p:sp>
        <p:nvSpPr>
          <p:cNvPr id="7" name="Text 5"/>
          <p:cNvSpPr/>
          <p:nvPr/>
        </p:nvSpPr>
        <p:spPr>
          <a:xfrm>
            <a:off x="1047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average wait with </a:t>
            </a:r>
            <a:pPr algn="l" indent="0" marL="0">
              <a:lnSpc>
                <a:spcPct val="112432"/>
              </a:lnSpc>
              <a:buNone/>
            </a:pPr>
            <a:r>
              <a:rPr lang="en-US" sz="2400" b="1" dirty="0">
                <a:solidFill>
                  <a:srgbClr val="2F6FD0"/>
                </a:solidFill>
                <a:latin typeface="Arial" pitchFamily="34" charset="0"/>
                <a:ea typeface="Arial" pitchFamily="34" charset="-122"/>
                <a:cs typeface="Arial" pitchFamily="34" charset="-120"/>
              </a:rPr>
              <a:t>smart dispatch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than </a:t>
            </a:r>
            <a:pPr algn="l" indent="0" marL="0">
              <a:lnSpc>
                <a:spcPct val="112432"/>
              </a:lnSpc>
              <a:buNone/>
            </a:pPr>
            <a:r>
              <a:rPr lang="en-US" sz="2400" b="1" dirty="0">
                <a:solidFill>
                  <a:srgbClr val="D9762B"/>
                </a:solidFill>
                <a:latin typeface="Arial" pitchFamily="34" charset="0"/>
                <a:ea typeface="Arial" pitchFamily="34" charset="-122"/>
                <a:cs typeface="Arial" pitchFamily="34" charset="-120"/>
              </a:rPr>
              <a:t>nearest car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across twenty fresh seeds per pattern — 3.7× on the committed tower draw</a:t>
            </a:r>
            <a:endParaRPr lang="en-US" sz="2400" dirty="0"/>
          </a:p>
        </p:txBody>
      </p:sp>
      <p:sp>
        <p:nvSpPr>
          <p:cNvPr id="8" name="Text 6"/>
          <p:cNvSpPr/>
          <p:nvPr/>
        </p:nvSpPr>
        <p:spPr>
          <a:xfrm>
            <a:off x="9429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2–3×</a:t>
            </a:r>
            <a:endParaRPr lang="en-US" sz="12600" dirty="0"/>
          </a:p>
        </p:txBody>
      </p:sp>
      <p:sp>
        <p:nvSpPr>
          <p:cNvPr id="9" name="Text 7"/>
          <p:cNvSpPr/>
          <p:nvPr/>
        </p:nvSpPr>
        <p:spPr>
          <a:xfrm>
            <a:off x="9429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than </a:t>
            </a:r>
            <a:pPr algn="l" indent="0" marL="0">
              <a:lnSpc>
                <a:spcPct val="112432"/>
              </a:lnSpc>
              <a:buNone/>
            </a:pPr>
            <a:r>
              <a:rPr lang="en-US" sz="2400" b="1" dirty="0">
                <a:solidFill>
                  <a:srgbClr val="2A9D74"/>
                </a:solidFill>
                <a:latin typeface="Arial" pitchFamily="34" charset="0"/>
                <a:ea typeface="Arial" pitchFamily="34" charset="-122"/>
                <a:cs typeface="Arial" pitchFamily="34" charset="-120"/>
              </a:rPr>
              <a:t>take turns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lowest average wait in 119 of 120 runs across the six realistic patterns</a:t>
            </a:r>
            <a:endParaRPr lang="en-US" sz="2400" dirty="0"/>
          </a:p>
        </p:txBody>
      </p:sp>
      <p:sp>
        <p:nvSpPr>
          <p:cNvPr id="10" name="Shape 8"/>
          <p:cNvSpPr/>
          <p:nvPr/>
        </p:nvSpPr>
        <p:spPr>
          <a:xfrm>
            <a:off x="1047750" y="7187357"/>
            <a:ext cx="16192500" cy="9525"/>
          </a:xfrm>
          <a:prstGeom prst="rect">
            <a:avLst/>
          </a:prstGeom>
          <a:solidFill>
            <a:srgbClr val="E1DFD9"/>
          </a:solidFill>
          <a:ln/>
        </p:spPr>
        <p:txBody>
          <a:bodyPr/>
          <a:p/>
        </p:txBody>
      </p:sp>
      <p:sp>
        <p:nvSpPr>
          <p:cNvPr id="11" name="Text 9"/>
          <p:cNvSpPr/>
          <p:nvPr/>
        </p:nvSpPr>
        <p:spPr>
          <a:xfrm>
            <a:off x="1047750" y="7463582"/>
            <a:ext cx="804481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In seconds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 one tick is about two — a morning-peak wait of about </a:t>
            </a:r>
            <a:pPr algn="l" indent="0" marL="0">
              <a:lnSpc>
                <a:spcPct val="120615"/>
              </a:lnSpc>
              <a:buNone/>
            </a:pPr>
            <a:r>
              <a:rPr lang="en-US" sz="2100" b="1" dirty="0">
                <a:solidFill>
                  <a:srgbClr val="2F6FD0"/>
                </a:solidFill>
                <a:latin typeface="Arial" pitchFamily="34" charset="0"/>
                <a:ea typeface="Arial" pitchFamily="34" charset="-122"/>
                <a:cs typeface="Arial" pitchFamily="34" charset="-120"/>
              </a:rPr>
              <a:t>twenty seconds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against </a:t>
            </a:r>
            <a:pPr algn="l" indent="0" marL="0">
              <a:lnSpc>
                <a:spcPct val="120615"/>
              </a:lnSpc>
              <a:buNone/>
            </a:pPr>
            <a:r>
              <a:rPr lang="en-US" sz="2100" b="1" dirty="0">
                <a:solidFill>
                  <a:srgbClr val="D9762B"/>
                </a:solidFill>
                <a:latin typeface="Arial" pitchFamily="34" charset="0"/>
                <a:ea typeface="Arial" pitchFamily="34" charset="-122"/>
                <a:cs typeface="Arial" pitchFamily="34" charset="-120"/>
              </a:rPr>
              <a:t>a minute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once arrivals double.</a:t>
            </a:r>
            <a:endParaRPr lang="en-US" sz="2100" dirty="0"/>
          </a:p>
        </p:txBody>
      </p:sp>
      <p:sp>
        <p:nvSpPr>
          <p:cNvPr id="12" name="Text 10"/>
          <p:cNvSpPr/>
          <p:nvPr/>
        </p:nvSpPr>
        <p:spPr>
          <a:xfrm>
            <a:off x="9429750" y="7463582"/>
            <a:ext cx="804481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As a sizing question: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“at most one in ten waits over a minute” takes </a:t>
            </a:r>
            <a:pPr algn="l" indent="0" marL="0">
              <a:lnSpc>
                <a:spcPct val="120615"/>
              </a:lnSpc>
              <a:buNone/>
            </a:pPr>
            <a:r>
              <a:rPr lang="en-US" sz="2100" b="1" dirty="0">
                <a:solidFill>
                  <a:srgbClr val="2F6FD0"/>
                </a:solidFill>
                <a:latin typeface="Arial" pitchFamily="34" charset="0"/>
                <a:ea typeface="Arial" pitchFamily="34" charset="-122"/>
                <a:cs typeface="Arial" pitchFamily="34" charset="-120"/>
              </a:rPr>
              <a:t>two cars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with smart dispatch where the other rules need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five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 nine on the tower, where they need more than ten.</a:t>
            </a:r>
            <a:endParaRPr lang="en-US" sz="2100" dirty="0"/>
          </a:p>
        </p:txBody>
      </p:sp>
      <p:sp>
        <p:nvSpPr>
          <p:cNvPr id="13" name="Text 11"/>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2"/>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09 / 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046980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Average wait per rule, per pattern</a:t>
            </a:r>
            <a:endParaRPr lang="en-US" sz="5400" dirty="0"/>
          </a:p>
        </p:txBody>
      </p:sp>
      <p:sp>
        <p:nvSpPr>
          <p:cNvPr id="3" name="Text 1"/>
          <p:cNvSpPr/>
          <p:nvPr/>
        </p:nvSpPr>
        <p:spPr>
          <a:xfrm>
            <a:off x="14212416" y="1333500"/>
            <a:ext cx="3330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lowest in bold</a:t>
            </a:r>
            <a:endParaRPr lang="en-US" sz="1800" dirty="0"/>
          </a:p>
        </p:txBody>
      </p:sp>
      <p:sp>
        <p:nvSpPr>
          <p:cNvPr id="4" name="Shape 2"/>
          <p:cNvSpPr/>
          <p:nvPr/>
        </p:nvSpPr>
        <p:spPr>
          <a:xfrm>
            <a:off x="1047750" y="2483123"/>
            <a:ext cx="5120283" cy="9525"/>
          </a:xfrm>
          <a:prstGeom prst="rect">
            <a:avLst/>
          </a:prstGeom>
          <a:solidFill>
            <a:srgbClr val="1C1B19"/>
          </a:solidFill>
          <a:ln/>
        </p:spPr>
        <p:txBody>
          <a:bodyPr/>
          <a:p/>
        </p:txBody>
      </p:sp>
      <p:sp>
        <p:nvSpPr>
          <p:cNvPr id="5" name="Text 3"/>
          <p:cNvSpPr/>
          <p:nvPr/>
        </p:nvSpPr>
        <p:spPr>
          <a:xfrm>
            <a:off x="1047750" y="2087835"/>
            <a:ext cx="5273891" cy="300038"/>
          </a:xfrm>
          <a:prstGeom prst="rect">
            <a:avLst/>
          </a:prstGeom>
          <a:noFill/>
          <a:ln/>
        </p:spPr>
        <p:txBody>
          <a:bodyPr wrap="square" lIns="25400" tIns="25400" rIns="25400" bIns="25400" rtlCol="0" anchor="ctr">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Scenario</a:t>
            </a:r>
            <a:endParaRPr lang="en-US" sz="1800" dirty="0"/>
          </a:p>
        </p:txBody>
      </p:sp>
      <p:sp>
        <p:nvSpPr>
          <p:cNvPr id="6" name="Shape 4"/>
          <p:cNvSpPr/>
          <p:nvPr/>
        </p:nvSpPr>
        <p:spPr>
          <a:xfrm>
            <a:off x="6168033" y="2483123"/>
            <a:ext cx="1041871" cy="9525"/>
          </a:xfrm>
          <a:prstGeom prst="rect">
            <a:avLst/>
          </a:prstGeom>
          <a:solidFill>
            <a:srgbClr val="1C1B19"/>
          </a:solidFill>
          <a:ln/>
        </p:spPr>
        <p:txBody>
          <a:bodyPr/>
          <a:p/>
        </p:txBody>
      </p:sp>
      <p:sp>
        <p:nvSpPr>
          <p:cNvPr id="7" name="Text 5"/>
          <p:cNvSpPr/>
          <p:nvPr/>
        </p:nvSpPr>
        <p:spPr>
          <a:xfrm>
            <a:off x="6282333" y="2087835"/>
            <a:ext cx="927571"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F6FD0"/>
                </a:solidFill>
                <a:latin typeface="Courier New" pitchFamily="34" charset="0"/>
                <a:ea typeface="Courier New" pitchFamily="34" charset="-122"/>
                <a:cs typeface="Courier New" pitchFamily="34" charset="-120"/>
              </a:rPr>
              <a:t>Smart</a:t>
            </a:r>
            <a:endParaRPr lang="en-US" sz="1800" dirty="0"/>
          </a:p>
        </p:txBody>
      </p:sp>
      <p:sp>
        <p:nvSpPr>
          <p:cNvPr id="8" name="Shape 6"/>
          <p:cNvSpPr/>
          <p:nvPr/>
        </p:nvSpPr>
        <p:spPr>
          <a:xfrm>
            <a:off x="7209904" y="2483123"/>
            <a:ext cx="1368326" cy="9525"/>
          </a:xfrm>
          <a:prstGeom prst="rect">
            <a:avLst/>
          </a:prstGeom>
          <a:solidFill>
            <a:srgbClr val="1C1B19"/>
          </a:solidFill>
          <a:ln/>
        </p:spPr>
        <p:txBody>
          <a:bodyPr/>
          <a:p/>
        </p:txBody>
      </p:sp>
      <p:sp>
        <p:nvSpPr>
          <p:cNvPr id="9" name="Text 7"/>
          <p:cNvSpPr/>
          <p:nvPr/>
        </p:nvSpPr>
        <p:spPr>
          <a:xfrm>
            <a:off x="7324204" y="2087835"/>
            <a:ext cx="1254026"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D9762B"/>
                </a:solidFill>
                <a:latin typeface="Courier New" pitchFamily="34" charset="0"/>
                <a:ea typeface="Courier New" pitchFamily="34" charset="-122"/>
                <a:cs typeface="Courier New" pitchFamily="34" charset="-120"/>
              </a:rPr>
              <a:t>Nearest</a:t>
            </a:r>
            <a:endParaRPr lang="en-US" sz="1800" dirty="0"/>
          </a:p>
        </p:txBody>
      </p:sp>
      <p:sp>
        <p:nvSpPr>
          <p:cNvPr id="10" name="Shape 8"/>
          <p:cNvSpPr/>
          <p:nvPr/>
        </p:nvSpPr>
        <p:spPr>
          <a:xfrm>
            <a:off x="8578230" y="2483123"/>
            <a:ext cx="1042020" cy="9525"/>
          </a:xfrm>
          <a:prstGeom prst="rect">
            <a:avLst/>
          </a:prstGeom>
          <a:solidFill>
            <a:srgbClr val="1C1B19"/>
          </a:solidFill>
          <a:ln/>
        </p:spPr>
        <p:txBody>
          <a:bodyPr/>
          <a:p/>
        </p:txBody>
      </p:sp>
      <p:sp>
        <p:nvSpPr>
          <p:cNvPr id="11" name="Text 9"/>
          <p:cNvSpPr/>
          <p:nvPr/>
        </p:nvSpPr>
        <p:spPr>
          <a:xfrm>
            <a:off x="8692530" y="2087835"/>
            <a:ext cx="927720"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A9D74"/>
                </a:solidFill>
                <a:latin typeface="Courier New" pitchFamily="34" charset="0"/>
                <a:ea typeface="Courier New" pitchFamily="34" charset="-122"/>
                <a:cs typeface="Courier New" pitchFamily="34" charset="-120"/>
              </a:rPr>
              <a:t>Turns</a:t>
            </a:r>
            <a:endParaRPr lang="en-US" sz="1800" dirty="0"/>
          </a:p>
        </p:txBody>
      </p:sp>
      <p:sp>
        <p:nvSpPr>
          <p:cNvPr id="12" name="Shape 10"/>
          <p:cNvSpPr/>
          <p:nvPr/>
        </p:nvSpPr>
        <p:spPr>
          <a:xfrm>
            <a:off x="1047750" y="3111773"/>
            <a:ext cx="5120283" cy="9525"/>
          </a:xfrm>
          <a:prstGeom prst="rect">
            <a:avLst/>
          </a:prstGeom>
          <a:solidFill>
            <a:srgbClr val="E1DFD9"/>
          </a:solidFill>
          <a:ln/>
        </p:spPr>
        <p:txBody>
          <a:bodyPr/>
          <a:p/>
        </p:txBody>
      </p:sp>
      <p:sp>
        <p:nvSpPr>
          <p:cNvPr id="13" name="Text 11"/>
          <p:cNvSpPr/>
          <p:nvPr/>
        </p:nvSpPr>
        <p:spPr>
          <a:xfrm>
            <a:off x="1047750" y="26450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Morning up-peak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14" name="Shape 12"/>
          <p:cNvSpPr/>
          <p:nvPr/>
        </p:nvSpPr>
        <p:spPr>
          <a:xfrm>
            <a:off x="6168033" y="3111773"/>
            <a:ext cx="1041871" cy="9525"/>
          </a:xfrm>
          <a:prstGeom prst="rect">
            <a:avLst/>
          </a:prstGeom>
          <a:solidFill>
            <a:srgbClr val="E1DFD9"/>
          </a:solidFill>
          <a:ln/>
        </p:spPr>
        <p:txBody>
          <a:bodyPr/>
          <a:p/>
        </p:txBody>
      </p:sp>
      <p:sp>
        <p:nvSpPr>
          <p:cNvPr id="15" name="Text 13"/>
          <p:cNvSpPr/>
          <p:nvPr/>
        </p:nvSpPr>
        <p:spPr>
          <a:xfrm>
            <a:off x="6282333" y="26450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7.1</a:t>
            </a:r>
            <a:endParaRPr lang="en-US" sz="2100" dirty="0"/>
          </a:p>
        </p:txBody>
      </p:sp>
      <p:sp>
        <p:nvSpPr>
          <p:cNvPr id="16" name="Shape 14"/>
          <p:cNvSpPr/>
          <p:nvPr/>
        </p:nvSpPr>
        <p:spPr>
          <a:xfrm>
            <a:off x="7209904" y="3111773"/>
            <a:ext cx="1368326" cy="9525"/>
          </a:xfrm>
          <a:prstGeom prst="rect">
            <a:avLst/>
          </a:prstGeom>
          <a:solidFill>
            <a:srgbClr val="E1DFD9"/>
          </a:solidFill>
          <a:ln/>
        </p:spPr>
        <p:txBody>
          <a:bodyPr/>
          <a:p/>
        </p:txBody>
      </p:sp>
      <p:sp>
        <p:nvSpPr>
          <p:cNvPr id="17" name="Text 15"/>
          <p:cNvSpPr/>
          <p:nvPr/>
        </p:nvSpPr>
        <p:spPr>
          <a:xfrm>
            <a:off x="7324204" y="26450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12.0</a:t>
            </a:r>
            <a:endParaRPr lang="en-US" sz="2100" dirty="0"/>
          </a:p>
        </p:txBody>
      </p:sp>
      <p:sp>
        <p:nvSpPr>
          <p:cNvPr id="18" name="Shape 16"/>
          <p:cNvSpPr/>
          <p:nvPr/>
        </p:nvSpPr>
        <p:spPr>
          <a:xfrm>
            <a:off x="8578230" y="3111773"/>
            <a:ext cx="1042020" cy="9525"/>
          </a:xfrm>
          <a:prstGeom prst="rect">
            <a:avLst/>
          </a:prstGeom>
          <a:solidFill>
            <a:srgbClr val="E1DFD9"/>
          </a:solidFill>
          <a:ln/>
        </p:spPr>
        <p:txBody>
          <a:bodyPr/>
          <a:p/>
        </p:txBody>
      </p:sp>
      <p:sp>
        <p:nvSpPr>
          <p:cNvPr id="19" name="Text 17"/>
          <p:cNvSpPr/>
          <p:nvPr/>
        </p:nvSpPr>
        <p:spPr>
          <a:xfrm>
            <a:off x="8692530" y="26450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16.5</a:t>
            </a:r>
            <a:endParaRPr lang="en-US" sz="2100" dirty="0"/>
          </a:p>
        </p:txBody>
      </p:sp>
      <p:sp>
        <p:nvSpPr>
          <p:cNvPr id="20" name="Shape 18"/>
          <p:cNvSpPr/>
          <p:nvPr/>
        </p:nvSpPr>
        <p:spPr>
          <a:xfrm>
            <a:off x="1047750" y="3740423"/>
            <a:ext cx="5120283" cy="9525"/>
          </a:xfrm>
          <a:prstGeom prst="rect">
            <a:avLst/>
          </a:prstGeom>
          <a:solidFill>
            <a:srgbClr val="E1DFD9"/>
          </a:solidFill>
          <a:ln/>
        </p:spPr>
        <p:txBody>
          <a:bodyPr/>
          <a:p/>
        </p:txBody>
      </p:sp>
      <p:sp>
        <p:nvSpPr>
          <p:cNvPr id="21" name="Text 19"/>
          <p:cNvSpPr/>
          <p:nvPr/>
        </p:nvSpPr>
        <p:spPr>
          <a:xfrm>
            <a:off x="1047750" y="32736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Lunch two-way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22" name="Shape 20"/>
          <p:cNvSpPr/>
          <p:nvPr/>
        </p:nvSpPr>
        <p:spPr>
          <a:xfrm>
            <a:off x="6168033" y="3740423"/>
            <a:ext cx="1041871" cy="9525"/>
          </a:xfrm>
          <a:prstGeom prst="rect">
            <a:avLst/>
          </a:prstGeom>
          <a:solidFill>
            <a:srgbClr val="E1DFD9"/>
          </a:solidFill>
          <a:ln/>
        </p:spPr>
        <p:txBody>
          <a:bodyPr/>
          <a:p/>
        </p:txBody>
      </p:sp>
      <p:sp>
        <p:nvSpPr>
          <p:cNvPr id="23" name="Text 21"/>
          <p:cNvSpPr/>
          <p:nvPr/>
        </p:nvSpPr>
        <p:spPr>
          <a:xfrm>
            <a:off x="6282333" y="32736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4.0</a:t>
            </a:r>
            <a:endParaRPr lang="en-US" sz="2100" dirty="0"/>
          </a:p>
        </p:txBody>
      </p:sp>
      <p:sp>
        <p:nvSpPr>
          <p:cNvPr id="24" name="Shape 22"/>
          <p:cNvSpPr/>
          <p:nvPr/>
        </p:nvSpPr>
        <p:spPr>
          <a:xfrm>
            <a:off x="7209904" y="3740423"/>
            <a:ext cx="1368326" cy="9525"/>
          </a:xfrm>
          <a:prstGeom prst="rect">
            <a:avLst/>
          </a:prstGeom>
          <a:solidFill>
            <a:srgbClr val="E1DFD9"/>
          </a:solidFill>
          <a:ln/>
        </p:spPr>
        <p:txBody>
          <a:bodyPr/>
          <a:p/>
        </p:txBody>
      </p:sp>
      <p:sp>
        <p:nvSpPr>
          <p:cNvPr id="25" name="Text 23"/>
          <p:cNvSpPr/>
          <p:nvPr/>
        </p:nvSpPr>
        <p:spPr>
          <a:xfrm>
            <a:off x="7324204" y="32736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6.9</a:t>
            </a:r>
            <a:endParaRPr lang="en-US" sz="2100" dirty="0"/>
          </a:p>
        </p:txBody>
      </p:sp>
      <p:sp>
        <p:nvSpPr>
          <p:cNvPr id="26" name="Shape 24"/>
          <p:cNvSpPr/>
          <p:nvPr/>
        </p:nvSpPr>
        <p:spPr>
          <a:xfrm>
            <a:off x="8578230" y="3740423"/>
            <a:ext cx="1042020" cy="9525"/>
          </a:xfrm>
          <a:prstGeom prst="rect">
            <a:avLst/>
          </a:prstGeom>
          <a:solidFill>
            <a:srgbClr val="E1DFD9"/>
          </a:solidFill>
          <a:ln/>
        </p:spPr>
        <p:txBody>
          <a:bodyPr/>
          <a:p/>
        </p:txBody>
      </p:sp>
      <p:sp>
        <p:nvSpPr>
          <p:cNvPr id="27" name="Text 25"/>
          <p:cNvSpPr/>
          <p:nvPr/>
        </p:nvSpPr>
        <p:spPr>
          <a:xfrm>
            <a:off x="8692530" y="32736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13.2</a:t>
            </a:r>
            <a:endParaRPr lang="en-US" sz="2100" dirty="0"/>
          </a:p>
        </p:txBody>
      </p:sp>
      <p:sp>
        <p:nvSpPr>
          <p:cNvPr id="28" name="Shape 26"/>
          <p:cNvSpPr/>
          <p:nvPr/>
        </p:nvSpPr>
        <p:spPr>
          <a:xfrm>
            <a:off x="1047750" y="4369073"/>
            <a:ext cx="5120283" cy="9525"/>
          </a:xfrm>
          <a:prstGeom prst="rect">
            <a:avLst/>
          </a:prstGeom>
          <a:solidFill>
            <a:srgbClr val="E1DFD9"/>
          </a:solidFill>
          <a:ln/>
        </p:spPr>
        <p:txBody>
          <a:bodyPr/>
          <a:p/>
        </p:txBody>
      </p:sp>
      <p:sp>
        <p:nvSpPr>
          <p:cNvPr id="29" name="Text 27"/>
          <p:cNvSpPr/>
          <p:nvPr/>
        </p:nvSpPr>
        <p:spPr>
          <a:xfrm>
            <a:off x="1047750" y="39023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Evening down-peak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0" name="Shape 28"/>
          <p:cNvSpPr/>
          <p:nvPr/>
        </p:nvSpPr>
        <p:spPr>
          <a:xfrm>
            <a:off x="6168033" y="4369073"/>
            <a:ext cx="1041871" cy="9525"/>
          </a:xfrm>
          <a:prstGeom prst="rect">
            <a:avLst/>
          </a:prstGeom>
          <a:solidFill>
            <a:srgbClr val="E1DFD9"/>
          </a:solidFill>
          <a:ln/>
        </p:spPr>
        <p:txBody>
          <a:bodyPr/>
          <a:p/>
        </p:txBody>
      </p:sp>
      <p:sp>
        <p:nvSpPr>
          <p:cNvPr id="31" name="Text 29"/>
          <p:cNvSpPr/>
          <p:nvPr/>
        </p:nvSpPr>
        <p:spPr>
          <a:xfrm>
            <a:off x="6282333" y="39023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7.6</a:t>
            </a:r>
            <a:endParaRPr lang="en-US" sz="2100" dirty="0"/>
          </a:p>
        </p:txBody>
      </p:sp>
      <p:sp>
        <p:nvSpPr>
          <p:cNvPr id="32" name="Shape 30"/>
          <p:cNvSpPr/>
          <p:nvPr/>
        </p:nvSpPr>
        <p:spPr>
          <a:xfrm>
            <a:off x="7209904" y="4369073"/>
            <a:ext cx="1368326" cy="9525"/>
          </a:xfrm>
          <a:prstGeom prst="rect">
            <a:avLst/>
          </a:prstGeom>
          <a:solidFill>
            <a:srgbClr val="E1DFD9"/>
          </a:solidFill>
          <a:ln/>
        </p:spPr>
        <p:txBody>
          <a:bodyPr/>
          <a:p/>
        </p:txBody>
      </p:sp>
      <p:sp>
        <p:nvSpPr>
          <p:cNvPr id="33" name="Text 31"/>
          <p:cNvSpPr/>
          <p:nvPr/>
        </p:nvSpPr>
        <p:spPr>
          <a:xfrm>
            <a:off x="7324204" y="39023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10.8</a:t>
            </a:r>
            <a:endParaRPr lang="en-US" sz="2100" dirty="0"/>
          </a:p>
        </p:txBody>
      </p:sp>
      <p:sp>
        <p:nvSpPr>
          <p:cNvPr id="34" name="Shape 32"/>
          <p:cNvSpPr/>
          <p:nvPr/>
        </p:nvSpPr>
        <p:spPr>
          <a:xfrm>
            <a:off x="8578230" y="4369073"/>
            <a:ext cx="1042020" cy="9525"/>
          </a:xfrm>
          <a:prstGeom prst="rect">
            <a:avLst/>
          </a:prstGeom>
          <a:solidFill>
            <a:srgbClr val="E1DFD9"/>
          </a:solidFill>
          <a:ln/>
        </p:spPr>
        <p:txBody>
          <a:bodyPr/>
          <a:p/>
        </p:txBody>
      </p:sp>
      <p:sp>
        <p:nvSpPr>
          <p:cNvPr id="35" name="Text 33"/>
          <p:cNvSpPr/>
          <p:nvPr/>
        </p:nvSpPr>
        <p:spPr>
          <a:xfrm>
            <a:off x="8692530" y="39023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17.9</a:t>
            </a:r>
            <a:endParaRPr lang="en-US" sz="2100" dirty="0"/>
          </a:p>
        </p:txBody>
      </p:sp>
      <p:sp>
        <p:nvSpPr>
          <p:cNvPr id="36" name="Shape 34"/>
          <p:cNvSpPr/>
          <p:nvPr/>
        </p:nvSpPr>
        <p:spPr>
          <a:xfrm>
            <a:off x="1047750" y="4997723"/>
            <a:ext cx="5120283" cy="9525"/>
          </a:xfrm>
          <a:prstGeom prst="rect">
            <a:avLst/>
          </a:prstGeom>
          <a:solidFill>
            <a:srgbClr val="E1DFD9"/>
          </a:solidFill>
          <a:ln/>
        </p:spPr>
        <p:txBody>
          <a:bodyPr/>
          <a:p/>
        </p:txBody>
      </p:sp>
      <p:sp>
        <p:nvSpPr>
          <p:cNvPr id="37" name="Text 35"/>
          <p:cNvSpPr/>
          <p:nvPr/>
        </p:nvSpPr>
        <p:spPr>
          <a:xfrm>
            <a:off x="1047750" y="45309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Quiet interfloor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8" name="Shape 36"/>
          <p:cNvSpPr/>
          <p:nvPr/>
        </p:nvSpPr>
        <p:spPr>
          <a:xfrm>
            <a:off x="6168033" y="4997723"/>
            <a:ext cx="1041871" cy="9525"/>
          </a:xfrm>
          <a:prstGeom prst="rect">
            <a:avLst/>
          </a:prstGeom>
          <a:solidFill>
            <a:srgbClr val="E1DFD9"/>
          </a:solidFill>
          <a:ln/>
        </p:spPr>
        <p:txBody>
          <a:bodyPr/>
          <a:p/>
        </p:txBody>
      </p:sp>
      <p:sp>
        <p:nvSpPr>
          <p:cNvPr id="39" name="Text 37"/>
          <p:cNvSpPr/>
          <p:nvPr/>
        </p:nvSpPr>
        <p:spPr>
          <a:xfrm>
            <a:off x="6282333" y="45309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3.9</a:t>
            </a:r>
            <a:endParaRPr lang="en-US" sz="2100" dirty="0"/>
          </a:p>
        </p:txBody>
      </p:sp>
      <p:sp>
        <p:nvSpPr>
          <p:cNvPr id="40" name="Shape 38"/>
          <p:cNvSpPr/>
          <p:nvPr/>
        </p:nvSpPr>
        <p:spPr>
          <a:xfrm>
            <a:off x="7209904" y="4997723"/>
            <a:ext cx="1368326" cy="9525"/>
          </a:xfrm>
          <a:prstGeom prst="rect">
            <a:avLst/>
          </a:prstGeom>
          <a:solidFill>
            <a:srgbClr val="E1DFD9"/>
          </a:solidFill>
          <a:ln/>
        </p:spPr>
        <p:txBody>
          <a:bodyPr/>
          <a:p/>
        </p:txBody>
      </p:sp>
      <p:sp>
        <p:nvSpPr>
          <p:cNvPr id="41" name="Text 39"/>
          <p:cNvSpPr/>
          <p:nvPr/>
        </p:nvSpPr>
        <p:spPr>
          <a:xfrm>
            <a:off x="7324204" y="45309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4.5</a:t>
            </a:r>
            <a:endParaRPr lang="en-US" sz="2100" dirty="0"/>
          </a:p>
        </p:txBody>
      </p:sp>
      <p:sp>
        <p:nvSpPr>
          <p:cNvPr id="42" name="Shape 40"/>
          <p:cNvSpPr/>
          <p:nvPr/>
        </p:nvSpPr>
        <p:spPr>
          <a:xfrm>
            <a:off x="8578230" y="4997723"/>
            <a:ext cx="1042020" cy="9525"/>
          </a:xfrm>
          <a:prstGeom prst="rect">
            <a:avLst/>
          </a:prstGeom>
          <a:solidFill>
            <a:srgbClr val="E1DFD9"/>
          </a:solidFill>
          <a:ln/>
        </p:spPr>
        <p:txBody>
          <a:bodyPr/>
          <a:p/>
        </p:txBody>
      </p:sp>
      <p:sp>
        <p:nvSpPr>
          <p:cNvPr id="43" name="Text 41"/>
          <p:cNvSpPr/>
          <p:nvPr/>
        </p:nvSpPr>
        <p:spPr>
          <a:xfrm>
            <a:off x="8692530" y="45309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8.1</a:t>
            </a:r>
            <a:endParaRPr lang="en-US" sz="2100" dirty="0"/>
          </a:p>
        </p:txBody>
      </p:sp>
      <p:sp>
        <p:nvSpPr>
          <p:cNvPr id="44" name="Shape 42"/>
          <p:cNvSpPr/>
          <p:nvPr/>
        </p:nvSpPr>
        <p:spPr>
          <a:xfrm>
            <a:off x="1047750" y="5626373"/>
            <a:ext cx="5120283" cy="9525"/>
          </a:xfrm>
          <a:prstGeom prst="rect">
            <a:avLst/>
          </a:prstGeom>
          <a:solidFill>
            <a:srgbClr val="E1DFD9"/>
          </a:solidFill>
          <a:ln/>
        </p:spPr>
        <p:txBody>
          <a:bodyPr/>
          <a:p/>
        </p:txBody>
      </p:sp>
      <p:sp>
        <p:nvSpPr>
          <p:cNvPr id="45" name="Text 43"/>
          <p:cNvSpPr/>
          <p:nvPr/>
        </p:nvSpPr>
        <p:spPr>
          <a:xfrm>
            <a:off x="1047750" y="51596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Tower </a:t>
            </a:r>
            <a:pPr algn="l" indent="0" marL="0">
              <a:buNone/>
            </a:pPr>
            <a:r>
              <a:rPr lang="en-US" sz="2100" dirty="0">
                <a:solidFill>
                  <a:srgbClr val="7A786F"/>
                </a:solidFill>
                <a:latin typeface="Arial" pitchFamily="34" charset="0"/>
                <a:ea typeface="Arial" pitchFamily="34" charset="-122"/>
                <a:cs typeface="Arial" pitchFamily="34" charset="-120"/>
              </a:rPr>
              <a:t>· 51 floors, 6 cars</a:t>
            </a:r>
            <a:endParaRPr lang="en-US" sz="2100" dirty="0"/>
          </a:p>
        </p:txBody>
      </p:sp>
      <p:sp>
        <p:nvSpPr>
          <p:cNvPr id="46" name="Shape 44"/>
          <p:cNvSpPr/>
          <p:nvPr/>
        </p:nvSpPr>
        <p:spPr>
          <a:xfrm>
            <a:off x="6168033" y="5626373"/>
            <a:ext cx="1041871" cy="9525"/>
          </a:xfrm>
          <a:prstGeom prst="rect">
            <a:avLst/>
          </a:prstGeom>
          <a:solidFill>
            <a:srgbClr val="E1DFD9"/>
          </a:solidFill>
          <a:ln/>
        </p:spPr>
        <p:txBody>
          <a:bodyPr/>
          <a:p/>
        </p:txBody>
      </p:sp>
      <p:sp>
        <p:nvSpPr>
          <p:cNvPr id="47" name="Text 45"/>
          <p:cNvSpPr/>
          <p:nvPr/>
        </p:nvSpPr>
        <p:spPr>
          <a:xfrm>
            <a:off x="6282333" y="51596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18.3</a:t>
            </a:r>
            <a:endParaRPr lang="en-US" sz="2100" dirty="0"/>
          </a:p>
        </p:txBody>
      </p:sp>
      <p:sp>
        <p:nvSpPr>
          <p:cNvPr id="48" name="Shape 46"/>
          <p:cNvSpPr/>
          <p:nvPr/>
        </p:nvSpPr>
        <p:spPr>
          <a:xfrm>
            <a:off x="7209904" y="5626373"/>
            <a:ext cx="1368326" cy="9525"/>
          </a:xfrm>
          <a:prstGeom prst="rect">
            <a:avLst/>
          </a:prstGeom>
          <a:solidFill>
            <a:srgbClr val="E1DFD9"/>
          </a:solidFill>
          <a:ln/>
        </p:spPr>
        <p:txBody>
          <a:bodyPr/>
          <a:p/>
        </p:txBody>
      </p:sp>
      <p:sp>
        <p:nvSpPr>
          <p:cNvPr id="49" name="Text 47"/>
          <p:cNvSpPr/>
          <p:nvPr/>
        </p:nvSpPr>
        <p:spPr>
          <a:xfrm>
            <a:off x="7324204" y="51596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67.1</a:t>
            </a:r>
            <a:endParaRPr lang="en-US" sz="2100" dirty="0"/>
          </a:p>
        </p:txBody>
      </p:sp>
      <p:sp>
        <p:nvSpPr>
          <p:cNvPr id="50" name="Shape 48"/>
          <p:cNvSpPr/>
          <p:nvPr/>
        </p:nvSpPr>
        <p:spPr>
          <a:xfrm>
            <a:off x="8578230" y="5626373"/>
            <a:ext cx="1042020" cy="9525"/>
          </a:xfrm>
          <a:prstGeom prst="rect">
            <a:avLst/>
          </a:prstGeom>
          <a:solidFill>
            <a:srgbClr val="E1DFD9"/>
          </a:solidFill>
          <a:ln/>
        </p:spPr>
        <p:txBody>
          <a:bodyPr/>
          <a:p/>
        </p:txBody>
      </p:sp>
      <p:sp>
        <p:nvSpPr>
          <p:cNvPr id="51" name="Text 49"/>
          <p:cNvSpPr/>
          <p:nvPr/>
        </p:nvSpPr>
        <p:spPr>
          <a:xfrm>
            <a:off x="8692530" y="51596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51.4</a:t>
            </a:r>
            <a:endParaRPr lang="en-US" sz="2100" dirty="0"/>
          </a:p>
        </p:txBody>
      </p:sp>
      <p:sp>
        <p:nvSpPr>
          <p:cNvPr id="52" name="Shape 50"/>
          <p:cNvSpPr/>
          <p:nvPr/>
        </p:nvSpPr>
        <p:spPr>
          <a:xfrm>
            <a:off x="1047750" y="6255023"/>
            <a:ext cx="5120283" cy="9525"/>
          </a:xfrm>
          <a:prstGeom prst="rect">
            <a:avLst/>
          </a:prstGeom>
          <a:solidFill>
            <a:srgbClr val="E1DFD9"/>
          </a:solidFill>
          <a:ln/>
        </p:spPr>
        <p:txBody>
          <a:bodyPr/>
          <a:p/>
        </p:txBody>
      </p:sp>
      <p:sp>
        <p:nvSpPr>
          <p:cNvPr id="53" name="Text 51"/>
          <p:cNvSpPr/>
          <p:nvPr/>
        </p:nvSpPr>
        <p:spPr>
          <a:xfrm>
            <a:off x="1047750" y="57882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Lobby burst </a:t>
            </a:r>
            <a:pPr algn="l" indent="0" marL="0">
              <a:buNone/>
            </a:pPr>
            <a:r>
              <a:rPr lang="en-US" sz="2100" dirty="0">
                <a:solidFill>
                  <a:srgbClr val="7A786F"/>
                </a:solidFill>
                <a:latin typeface="Arial" pitchFamily="34" charset="0"/>
                <a:ea typeface="Arial" pitchFamily="34" charset="-122"/>
                <a:cs typeface="Arial" pitchFamily="34" charset="-120"/>
              </a:rPr>
              <a:t>· 20 floors, 2 cars × 6</a:t>
            </a:r>
            <a:endParaRPr lang="en-US" sz="2100" dirty="0"/>
          </a:p>
        </p:txBody>
      </p:sp>
      <p:sp>
        <p:nvSpPr>
          <p:cNvPr id="54" name="Shape 52"/>
          <p:cNvSpPr/>
          <p:nvPr/>
        </p:nvSpPr>
        <p:spPr>
          <a:xfrm>
            <a:off x="6168033" y="6255023"/>
            <a:ext cx="1041871" cy="9525"/>
          </a:xfrm>
          <a:prstGeom prst="rect">
            <a:avLst/>
          </a:prstGeom>
          <a:solidFill>
            <a:srgbClr val="E1DFD9"/>
          </a:solidFill>
          <a:ln/>
        </p:spPr>
        <p:txBody>
          <a:bodyPr/>
          <a:p/>
        </p:txBody>
      </p:sp>
      <p:sp>
        <p:nvSpPr>
          <p:cNvPr id="55" name="Text 53"/>
          <p:cNvSpPr/>
          <p:nvPr/>
        </p:nvSpPr>
        <p:spPr>
          <a:xfrm>
            <a:off x="6282333" y="5788298"/>
            <a:ext cx="927571"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60.3</a:t>
            </a:r>
            <a:endParaRPr lang="en-US" sz="2100" dirty="0"/>
          </a:p>
        </p:txBody>
      </p:sp>
      <p:sp>
        <p:nvSpPr>
          <p:cNvPr id="56" name="Shape 54"/>
          <p:cNvSpPr/>
          <p:nvPr/>
        </p:nvSpPr>
        <p:spPr>
          <a:xfrm>
            <a:off x="7209904" y="6255023"/>
            <a:ext cx="1368326" cy="9525"/>
          </a:xfrm>
          <a:prstGeom prst="rect">
            <a:avLst/>
          </a:prstGeom>
          <a:solidFill>
            <a:srgbClr val="E1DFD9"/>
          </a:solidFill>
          <a:ln/>
        </p:spPr>
        <p:txBody>
          <a:bodyPr/>
          <a:p/>
        </p:txBody>
      </p:sp>
      <p:sp>
        <p:nvSpPr>
          <p:cNvPr id="57" name="Text 55"/>
          <p:cNvSpPr/>
          <p:nvPr/>
        </p:nvSpPr>
        <p:spPr>
          <a:xfrm>
            <a:off x="7324204" y="57882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76.2</a:t>
            </a:r>
            <a:endParaRPr lang="en-US" sz="2100" dirty="0"/>
          </a:p>
        </p:txBody>
      </p:sp>
      <p:sp>
        <p:nvSpPr>
          <p:cNvPr id="58" name="Shape 56"/>
          <p:cNvSpPr/>
          <p:nvPr/>
        </p:nvSpPr>
        <p:spPr>
          <a:xfrm>
            <a:off x="8578230" y="6255023"/>
            <a:ext cx="1042020" cy="9525"/>
          </a:xfrm>
          <a:prstGeom prst="rect">
            <a:avLst/>
          </a:prstGeom>
          <a:solidFill>
            <a:srgbClr val="E1DFD9"/>
          </a:solidFill>
          <a:ln/>
        </p:spPr>
        <p:txBody>
          <a:bodyPr/>
          <a:p/>
        </p:txBody>
      </p:sp>
      <p:sp>
        <p:nvSpPr>
          <p:cNvPr id="59" name="Text 57"/>
          <p:cNvSpPr/>
          <p:nvPr/>
        </p:nvSpPr>
        <p:spPr>
          <a:xfrm>
            <a:off x="8692530" y="5788298"/>
            <a:ext cx="927720"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60.1</a:t>
            </a:r>
            <a:endParaRPr lang="en-US" sz="2100" dirty="0"/>
          </a:p>
        </p:txBody>
      </p:sp>
      <p:sp>
        <p:nvSpPr>
          <p:cNvPr id="60" name="Text 58"/>
          <p:cNvSpPr/>
          <p:nvPr/>
        </p:nvSpPr>
        <p:spPr>
          <a:xfrm>
            <a:off x="10382250" y="2087835"/>
            <a:ext cx="75438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TWO CASES THAT GO THE OTHER WAY</a:t>
            </a:r>
            <a:endParaRPr lang="en-US" sz="1800" dirty="0"/>
          </a:p>
        </p:txBody>
      </p:sp>
      <p:sp>
        <p:nvSpPr>
          <p:cNvPr id="61" name="Text 59"/>
          <p:cNvSpPr/>
          <p:nvPr/>
        </p:nvSpPr>
        <p:spPr>
          <a:xfrm>
            <a:off x="10382250" y="2697435"/>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Lobby burst: within noise</a:t>
            </a:r>
            <a:endParaRPr lang="en-US" sz="2400" dirty="0"/>
          </a:p>
        </p:txBody>
      </p:sp>
      <p:sp>
        <p:nvSpPr>
          <p:cNvPr id="62" name="Text 60"/>
          <p:cNvSpPr/>
          <p:nvPr/>
        </p:nvSpPr>
        <p:spPr>
          <a:xfrm>
            <a:off x="10382250" y="3173685"/>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60.3 against 60.1 on the committed draw; across twenty seeds 55 ± 21, 61 ± 20 and 59 ± 19 — within noise, smart dispatch lowest in 12 of 20. Every request has the same origin and the system is saturated; the rule does not matter here.</a:t>
            </a:r>
            <a:endParaRPr lang="en-US" sz="2100" dirty="0"/>
          </a:p>
        </p:txBody>
      </p:sp>
      <p:sp>
        <p:nvSpPr>
          <p:cNvPr id="63" name="Text 61"/>
          <p:cNvSpPr/>
          <p:nvPr/>
        </p:nvSpPr>
        <p:spPr>
          <a:xfrm>
            <a:off x="10382250" y="5383262"/>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The brief’s sample: nearest car wins</a:t>
            </a:r>
            <a:endParaRPr lang="en-US" sz="2400" dirty="0"/>
          </a:p>
        </p:txBody>
      </p:sp>
      <p:sp>
        <p:nvSpPr>
          <p:cNvPr id="64" name="Text 62"/>
          <p:cNvSpPr/>
          <p:nvPr/>
        </p:nvSpPr>
        <p:spPr>
          <a:xfrm>
            <a:off x="10382250" y="5859512"/>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6.3 against 15.0 on three passengers. Smart dispatch splits two lobby passengers across both cars to save a stop, leaving no idle car for the third request. A greedy rule with no view of the future can lose on tiny inputs — which is why the scenarios, not the sample, are the basis for judgement.</a:t>
            </a:r>
            <a:endParaRPr lang="en-US" sz="2100" dirty="0"/>
          </a:p>
        </p:txBody>
      </p:sp>
      <p:sp>
        <p:nvSpPr>
          <p:cNvPr id="65" name="Text 6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66" name="Text 6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10 / 19</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8009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Waiting time by scenario</a:t>
            </a:r>
            <a:endParaRPr lang="en-US" sz="5400" dirty="0"/>
          </a:p>
        </p:txBody>
      </p:sp>
      <p:sp>
        <p:nvSpPr>
          <p:cNvPr id="3" name="Text 1"/>
          <p:cNvSpPr/>
          <p:nvPr/>
        </p:nvSpPr>
        <p:spPr>
          <a:xfrm>
            <a:off x="12560871" y="1333500"/>
            <a:ext cx="51473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identical traffic per rule</a:t>
            </a:r>
            <a:endParaRPr lang="en-US" sz="1800" dirty="0"/>
          </a:p>
        </p:txBody>
      </p:sp>
      <p:sp>
        <p:nvSpPr>
          <p:cNvPr id="4" name="Shape 2"/>
          <p:cNvSpPr/>
          <p:nvPr/>
        </p:nvSpPr>
        <p:spPr>
          <a:xfrm>
            <a:off x="1047750" y="2049735"/>
            <a:ext cx="16192500" cy="5716339"/>
          </a:xfrm>
          <a:prstGeom prst="roundRect">
            <a:avLst>
              <a:gd name="adj" fmla="val 1666"/>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1285875" y="2325960"/>
            <a:ext cx="15716250" cy="5163889"/>
          </a:xfrm>
          <a:prstGeom prst="rect">
            <a:avLst/>
          </a:prstGeom>
        </p:spPr>
      </p:pic>
      <p:sp>
        <p:nvSpPr>
          <p:cNvPr id="6" name="Shape 3"/>
          <p:cNvSpPr/>
          <p:nvPr/>
        </p:nvSpPr>
        <p:spPr>
          <a:xfrm>
            <a:off x="1047750" y="8113737"/>
            <a:ext cx="152400" cy="152400"/>
          </a:xfrm>
          <a:prstGeom prst="roundRect">
            <a:avLst>
              <a:gd name="adj" fmla="val 25000"/>
            </a:avLst>
          </a:prstGeom>
          <a:solidFill>
            <a:srgbClr val="2F6FD0"/>
          </a:solidFill>
          <a:ln/>
        </p:spPr>
        <p:txBody>
          <a:bodyPr/>
          <a:p/>
        </p:txBody>
      </p:sp>
      <p:sp>
        <p:nvSpPr>
          <p:cNvPr id="7" name="Text 4"/>
          <p:cNvSpPr/>
          <p:nvPr/>
        </p:nvSpPr>
        <p:spPr>
          <a:xfrm>
            <a:off x="1314450" y="8032775"/>
            <a:ext cx="1818233"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Smart dispatch</a:t>
            </a:r>
            <a:endParaRPr lang="en-US" sz="2100" dirty="0"/>
          </a:p>
        </p:txBody>
      </p:sp>
      <p:sp>
        <p:nvSpPr>
          <p:cNvPr id="8" name="Shape 5"/>
          <p:cNvSpPr/>
          <p:nvPr/>
        </p:nvSpPr>
        <p:spPr>
          <a:xfrm>
            <a:off x="3437483" y="8113737"/>
            <a:ext cx="152400" cy="152400"/>
          </a:xfrm>
          <a:prstGeom prst="roundRect">
            <a:avLst>
              <a:gd name="adj" fmla="val 25000"/>
            </a:avLst>
          </a:prstGeom>
          <a:solidFill>
            <a:srgbClr val="D9762B"/>
          </a:solidFill>
          <a:ln/>
        </p:spPr>
        <p:txBody>
          <a:bodyPr/>
          <a:p/>
        </p:txBody>
      </p:sp>
      <p:sp>
        <p:nvSpPr>
          <p:cNvPr id="9" name="Text 6"/>
          <p:cNvSpPr/>
          <p:nvPr/>
        </p:nvSpPr>
        <p:spPr>
          <a:xfrm>
            <a:off x="3704183" y="8032775"/>
            <a:ext cx="139437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Nearest car</a:t>
            </a:r>
            <a:endParaRPr lang="en-US" sz="2100" dirty="0"/>
          </a:p>
        </p:txBody>
      </p:sp>
      <p:sp>
        <p:nvSpPr>
          <p:cNvPr id="10" name="Shape 7"/>
          <p:cNvSpPr/>
          <p:nvPr/>
        </p:nvSpPr>
        <p:spPr>
          <a:xfrm>
            <a:off x="5403354" y="8113737"/>
            <a:ext cx="152400" cy="152400"/>
          </a:xfrm>
          <a:prstGeom prst="roundRect">
            <a:avLst>
              <a:gd name="adj" fmla="val 25000"/>
            </a:avLst>
          </a:prstGeom>
          <a:solidFill>
            <a:srgbClr val="2A9D74"/>
          </a:solidFill>
          <a:ln/>
        </p:spPr>
        <p:txBody>
          <a:bodyPr/>
          <a:p/>
        </p:txBody>
      </p:sp>
      <p:sp>
        <p:nvSpPr>
          <p:cNvPr id="11" name="Text 8"/>
          <p:cNvSpPr/>
          <p:nvPr/>
        </p:nvSpPr>
        <p:spPr>
          <a:xfrm>
            <a:off x="5670054" y="8032775"/>
            <a:ext cx="124822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Take turns</a:t>
            </a:r>
            <a:endParaRPr lang="en-US" sz="2100" dirty="0"/>
          </a:p>
        </p:txBody>
      </p:sp>
      <p:sp>
        <p:nvSpPr>
          <p:cNvPr id="12" name="Text 9"/>
          <p:cNvSpPr/>
          <p:nvPr/>
        </p:nvSpPr>
        <p:spPr>
          <a:xfrm>
            <a:off x="9034016" y="8032775"/>
            <a:ext cx="9026857"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Lowest on every realistic pattern; the margin grows with height and load.</a:t>
            </a:r>
            <a:endParaRPr lang="en-US" sz="2100" dirty="0"/>
          </a:p>
        </p:txBody>
      </p:sp>
      <p:sp>
        <p:nvSpPr>
          <p:cNvPr id="13"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11 / 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0818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cars are used</a:t>
            </a:r>
            <a:endParaRPr lang="en-US" sz="5400" dirty="0"/>
          </a:p>
        </p:txBody>
      </p:sp>
      <p:sp>
        <p:nvSpPr>
          <p:cNvPr id="3" name="Text 1"/>
          <p:cNvSpPr/>
          <p:nvPr/>
        </p:nvSpPr>
        <p:spPr>
          <a:xfrm>
            <a:off x="8844855" y="1333500"/>
            <a:ext cx="92349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busy = aboard or assigned · spread = busiest − least busy car</a:t>
            </a:r>
            <a:endParaRPr lang="en-US" sz="1800" dirty="0"/>
          </a:p>
        </p:txBody>
      </p:sp>
      <p:sp>
        <p:nvSpPr>
          <p:cNvPr id="4" name="Shape 2"/>
          <p:cNvSpPr/>
          <p:nvPr/>
        </p:nvSpPr>
        <p:spPr>
          <a:xfrm>
            <a:off x="1047750" y="1973535"/>
            <a:ext cx="16192500" cy="4468564"/>
          </a:xfrm>
          <a:prstGeom prst="roundRect">
            <a:avLst>
              <a:gd name="adj" fmla="val 2132"/>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952750" y="2173560"/>
            <a:ext cx="12382500" cy="4068514"/>
          </a:xfrm>
          <a:prstGeom prst="rect">
            <a:avLst/>
          </a:prstGeom>
        </p:spPr>
      </p:pic>
      <p:sp>
        <p:nvSpPr>
          <p:cNvPr id="6" name="Shape 3"/>
          <p:cNvSpPr/>
          <p:nvPr/>
        </p:nvSpPr>
        <p:spPr>
          <a:xfrm>
            <a:off x="1047750" y="6746900"/>
            <a:ext cx="5092675" cy="19050"/>
          </a:xfrm>
          <a:prstGeom prst="rect">
            <a:avLst/>
          </a:prstGeom>
          <a:solidFill>
            <a:srgbClr val="1C1B19"/>
          </a:solidFill>
          <a:ln/>
        </p:spPr>
        <p:txBody>
          <a:bodyPr/>
          <a:p/>
        </p:txBody>
      </p:sp>
      <p:sp>
        <p:nvSpPr>
          <p:cNvPr id="7" name="Text 4"/>
          <p:cNvSpPr/>
          <p:nvPr/>
        </p:nvSpPr>
        <p:spPr>
          <a:xfrm>
            <a:off x="1047750" y="688977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6.1</a:t>
            </a:r>
            <a:endParaRPr lang="en-US" sz="4200" dirty="0"/>
          </a:p>
        </p:txBody>
      </p:sp>
      <p:sp>
        <p:nvSpPr>
          <p:cNvPr id="8" name="Text 5"/>
          <p:cNvSpPr/>
          <p:nvPr/>
        </p:nvSpPr>
        <p:spPr>
          <a:xfrm>
            <a:off x="1900833"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9" name="Text 6"/>
          <p:cNvSpPr/>
          <p:nvPr/>
        </p:nvSpPr>
        <p:spPr>
          <a:xfrm>
            <a:off x="2263006" y="688977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9.3</a:t>
            </a:r>
            <a:endParaRPr lang="en-US" sz="4200" dirty="0"/>
          </a:p>
        </p:txBody>
      </p:sp>
      <p:sp>
        <p:nvSpPr>
          <p:cNvPr id="10" name="Text 7"/>
          <p:cNvSpPr/>
          <p:nvPr/>
        </p:nvSpPr>
        <p:spPr>
          <a:xfrm>
            <a:off x="3116089"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11" name="Text 8"/>
          <p:cNvSpPr/>
          <p:nvPr/>
        </p:nvSpPr>
        <p:spPr>
          <a:xfrm>
            <a:off x="3478262" y="6889775"/>
            <a:ext cx="1160041"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10.0</a:t>
            </a:r>
            <a:endParaRPr lang="en-US" sz="4200" dirty="0"/>
          </a:p>
        </p:txBody>
      </p:sp>
      <p:sp>
        <p:nvSpPr>
          <p:cNvPr id="12" name="Text 9"/>
          <p:cNvSpPr/>
          <p:nvPr/>
        </p:nvSpPr>
        <p:spPr>
          <a:xfrm>
            <a:off x="1047750" y="7585100"/>
            <a:ext cx="5245455" cy="1478161"/>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Least car travel per passenger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it bundles people going the same way. Its riders sit through </a:t>
            </a:r>
            <a:pPr algn="l" indent="0" marL="0">
              <a:lnSpc>
                <a:spcPct val="116308"/>
              </a:lnSpc>
              <a:buNone/>
            </a:pPr>
            <a:r>
              <a:rPr lang="en-US" sz="2100" i="1" dirty="0">
                <a:solidFill>
                  <a:srgbClr val="4C4A44"/>
                </a:solidFill>
                <a:latin typeface="Arial" pitchFamily="34" charset="0"/>
                <a:ea typeface="Arial" pitchFamily="34" charset="-122"/>
                <a:cs typeface="Arial" pitchFamily="34" charset="-120"/>
              </a:rPr>
              <a:t>more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stops, not fewer: 1.76 per trip vs 1.21 and 0.95.</a:t>
            </a:r>
            <a:endParaRPr lang="en-US" sz="2100" dirty="0"/>
          </a:p>
        </p:txBody>
      </p:sp>
      <p:sp>
        <p:nvSpPr>
          <p:cNvPr id="13" name="Shape 10"/>
          <p:cNvSpPr/>
          <p:nvPr/>
        </p:nvSpPr>
        <p:spPr>
          <a:xfrm>
            <a:off x="6597625" y="6746900"/>
            <a:ext cx="5092675" cy="19050"/>
          </a:xfrm>
          <a:prstGeom prst="rect">
            <a:avLst/>
          </a:prstGeom>
          <a:solidFill>
            <a:srgbClr val="1C1B19"/>
          </a:solidFill>
          <a:ln/>
        </p:spPr>
        <p:txBody>
          <a:bodyPr/>
          <a:p/>
        </p:txBody>
      </p:sp>
      <p:sp>
        <p:nvSpPr>
          <p:cNvPr id="14" name="Text 11"/>
          <p:cNvSpPr/>
          <p:nvPr/>
        </p:nvSpPr>
        <p:spPr>
          <a:xfrm>
            <a:off x="6597625" y="6937400"/>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36%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fair share 25%</a:t>
            </a:r>
            <a:endParaRPr lang="en-US" sz="4200" dirty="0"/>
          </a:p>
        </p:txBody>
      </p:sp>
      <p:sp>
        <p:nvSpPr>
          <p:cNvPr id="15" name="Text 12"/>
          <p:cNvSpPr/>
          <p:nvPr/>
        </p:nvSpPr>
        <p:spPr>
          <a:xfrm>
            <a:off x="6597625" y="758510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But the work is shared least evenly.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One car in four carries 36% of the morning passengers.</a:t>
            </a:r>
            <a:endParaRPr lang="en-US" sz="2100" dirty="0"/>
          </a:p>
        </p:txBody>
      </p:sp>
      <p:sp>
        <p:nvSpPr>
          <p:cNvPr id="16" name="Shape 13"/>
          <p:cNvSpPr/>
          <p:nvPr/>
        </p:nvSpPr>
        <p:spPr>
          <a:xfrm>
            <a:off x="12147500" y="6746900"/>
            <a:ext cx="5092750" cy="19050"/>
          </a:xfrm>
          <a:prstGeom prst="rect">
            <a:avLst/>
          </a:prstGeom>
          <a:solidFill>
            <a:srgbClr val="1C1B19"/>
          </a:solidFill>
          <a:ln/>
        </p:spPr>
        <p:txBody>
          <a:bodyPr/>
          <a:p/>
        </p:txBody>
      </p:sp>
      <p:sp>
        <p:nvSpPr>
          <p:cNvPr id="17" name="Text 14"/>
          <p:cNvSpPr/>
          <p:nvPr/>
        </p:nvSpPr>
        <p:spPr>
          <a:xfrm>
            <a:off x="12147500" y="6937400"/>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30 → 18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 21 → 5 · 33 → 10</a:t>
            </a:r>
            <a:endParaRPr lang="en-US" sz="4200" dirty="0"/>
          </a:p>
        </p:txBody>
      </p:sp>
      <p:sp>
        <p:nvSpPr>
          <p:cNvPr id="18" name="Text 15"/>
          <p:cNvSpPr/>
          <p:nvPr/>
        </p:nvSpPr>
        <p:spPr>
          <a:xfrm>
            <a:off x="12147500" y="7585100"/>
            <a:ext cx="5245532" cy="1478161"/>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The fairness weight evens the cars as a side effect.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Spread in points, committed draws; narrower in 11–15 of 20 fresh seeds. One knob, two effects.</a:t>
            </a:r>
            <a:endParaRPr lang="en-US" sz="2100" dirty="0"/>
          </a:p>
        </p:txBody>
      </p:sp>
      <p:sp>
        <p:nvSpPr>
          <p:cNvPr id="19"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12 / 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8700296" cy="1546771"/>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Where each rule breaks down</a:t>
            </a:r>
            <a:endParaRPr lang="en-US" sz="5400" dirty="0"/>
          </a:p>
        </p:txBody>
      </p:sp>
      <p:sp>
        <p:nvSpPr>
          <p:cNvPr id="3" name="Text 1"/>
          <p:cNvSpPr/>
          <p:nvPr/>
        </p:nvSpPr>
        <p:spPr>
          <a:xfrm>
            <a:off x="9799439" y="1333500"/>
            <a:ext cx="7664035"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avg wait, ticks · ½× to 2× arrivals · 5 seeds per point</a:t>
            </a:r>
            <a:endParaRPr lang="en-US" sz="1800" dirty="0"/>
          </a:p>
        </p:txBody>
      </p:sp>
      <p:sp>
        <p:nvSpPr>
          <p:cNvPr id="4" name="Shape 2"/>
          <p:cNvSpPr/>
          <p:nvPr/>
        </p:nvSpPr>
        <p:spPr>
          <a:xfrm>
            <a:off x="1047750" y="2727871"/>
            <a:ext cx="7943850" cy="4305300"/>
          </a:xfrm>
          <a:prstGeom prst="roundRect">
            <a:avLst>
              <a:gd name="adj" fmla="val 2212"/>
            </a:avLst>
          </a:prstGeom>
          <a:solidFill>
            <a:srgbClr val="FFFFFF"/>
          </a:solidFill>
          <a:ln w="9525">
            <a:solidFill>
              <a:srgbClr val="E1DFD9"/>
            </a:solidFill>
            <a:prstDash val="solid"/>
          </a:ln>
        </p:spPr>
        <p:txBody>
          <a:bodyPr/>
          <a:p/>
        </p:txBody>
      </p:sp>
      <p:sp>
        <p:nvSpPr>
          <p:cNvPr id="5" name="Text 3"/>
          <p:cNvSpPr/>
          <p:nvPr/>
        </p:nvSpPr>
        <p:spPr>
          <a:xfrm>
            <a:off x="1285875" y="2927896"/>
            <a:ext cx="821436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MORNING UP-PEAK · 20 FLOORS, 4 CARS</a:t>
            </a:r>
            <a:endParaRPr lang="en-US" sz="1800" dirty="0"/>
          </a:p>
        </p:txBody>
      </p:sp>
      <p:pic>
        <p:nvPicPr>
          <p:cNvPr id="6" name="Image 0" descr="preencoded.png">    </p:cNvPr>
          <p:cNvPicPr>
            <a:picLocks noChangeAspect="1"/>
          </p:cNvPicPr>
          <p:nvPr/>
        </p:nvPicPr>
        <p:blipFill>
          <a:blip r:embed="rId1"/>
          <a:stretch>
            <a:fillRect/>
          </a:stretch>
        </p:blipFill>
        <p:spPr>
          <a:xfrm>
            <a:off x="2954685" y="3308896"/>
            <a:ext cx="4129980" cy="3524250"/>
          </a:xfrm>
          <a:prstGeom prst="rect">
            <a:avLst/>
          </a:prstGeom>
        </p:spPr>
      </p:pic>
      <p:sp>
        <p:nvSpPr>
          <p:cNvPr id="7" name="Shape 4"/>
          <p:cNvSpPr/>
          <p:nvPr/>
        </p:nvSpPr>
        <p:spPr>
          <a:xfrm>
            <a:off x="9296400" y="2727871"/>
            <a:ext cx="7943850" cy="4305300"/>
          </a:xfrm>
          <a:prstGeom prst="roundRect">
            <a:avLst>
              <a:gd name="adj" fmla="val 2212"/>
            </a:avLst>
          </a:prstGeom>
          <a:solidFill>
            <a:srgbClr val="FFFFFF"/>
          </a:solidFill>
          <a:ln w="9525">
            <a:solidFill>
              <a:srgbClr val="E1DFD9"/>
            </a:solidFill>
            <a:prstDash val="solid"/>
          </a:ln>
        </p:spPr>
        <p:txBody>
          <a:bodyPr/>
          <a:p/>
        </p:txBody>
      </p:sp>
      <p:sp>
        <p:nvSpPr>
          <p:cNvPr id="8" name="Text 5"/>
          <p:cNvSpPr/>
          <p:nvPr/>
        </p:nvSpPr>
        <p:spPr>
          <a:xfrm>
            <a:off x="9534525" y="2927896"/>
            <a:ext cx="821436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TOWER · 51 FLOORS, 6 CARS</a:t>
            </a:r>
            <a:endParaRPr lang="en-US" sz="1800" dirty="0"/>
          </a:p>
        </p:txBody>
      </p:sp>
      <p:pic>
        <p:nvPicPr>
          <p:cNvPr id="9" name="Image 1" descr="preencoded.png">    </p:cNvPr>
          <p:cNvPicPr>
            <a:picLocks noChangeAspect="1"/>
          </p:cNvPicPr>
          <p:nvPr/>
        </p:nvPicPr>
        <p:blipFill>
          <a:blip r:embed="rId2"/>
          <a:stretch>
            <a:fillRect/>
          </a:stretch>
        </p:blipFill>
        <p:spPr>
          <a:xfrm>
            <a:off x="11203335" y="3308896"/>
            <a:ext cx="4129980" cy="3524250"/>
          </a:xfrm>
          <a:prstGeom prst="rect">
            <a:avLst/>
          </a:prstGeom>
        </p:spPr>
      </p:pic>
      <p:sp>
        <p:nvSpPr>
          <p:cNvPr id="10" name="Shape 6"/>
          <p:cNvSpPr/>
          <p:nvPr/>
        </p:nvSpPr>
        <p:spPr>
          <a:xfrm>
            <a:off x="1047750" y="7299871"/>
            <a:ext cx="16192500" cy="9525"/>
          </a:xfrm>
          <a:prstGeom prst="rect">
            <a:avLst/>
          </a:prstGeom>
          <a:solidFill>
            <a:srgbClr val="E1DFD9"/>
          </a:solidFill>
          <a:ln/>
        </p:spPr>
        <p:txBody>
          <a:bodyPr/>
          <a:p/>
        </p:txBody>
      </p:sp>
      <p:sp>
        <p:nvSpPr>
          <p:cNvPr id="11" name="Text 7"/>
          <p:cNvSpPr/>
          <p:nvPr/>
        </p:nvSpPr>
        <p:spPr>
          <a:xfrm>
            <a:off x="1047750" y="7537996"/>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 → 11</a:t>
            </a:r>
            <a:endParaRPr lang="en-US" sz="4200" dirty="0"/>
          </a:p>
        </p:txBody>
      </p:sp>
      <p:sp>
        <p:nvSpPr>
          <p:cNvPr id="12" name="Text 8"/>
          <p:cNvSpPr/>
          <p:nvPr/>
        </p:nvSpPr>
        <p:spPr>
          <a:xfrm>
            <a:off x="1047750" y="8185696"/>
            <a:ext cx="5245455"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Smart dispatch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morning peak, half to double load. It degrades gently.</a:t>
            </a:r>
            <a:endParaRPr lang="en-US" sz="2100" dirty="0"/>
          </a:p>
        </p:txBody>
      </p:sp>
      <p:sp>
        <p:nvSpPr>
          <p:cNvPr id="13" name="Text 9"/>
          <p:cNvSpPr/>
          <p:nvPr/>
        </p:nvSpPr>
        <p:spPr>
          <a:xfrm>
            <a:off x="6597625" y="7537996"/>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8 → 31</a:t>
            </a:r>
            <a:endParaRPr lang="en-US" sz="4200" dirty="0"/>
          </a:p>
        </p:txBody>
      </p:sp>
      <p:sp>
        <p:nvSpPr>
          <p:cNvPr id="14" name="Text 10"/>
          <p:cNvSpPr/>
          <p:nvPr/>
        </p:nvSpPr>
        <p:spPr>
          <a:xfrm>
            <a:off x="6597625" y="8185696"/>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Nearest car.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Blind to queued stops, it compounds with load — and ends up worse than take turns.</a:t>
            </a:r>
            <a:endParaRPr lang="en-US" sz="2100" dirty="0"/>
          </a:p>
        </p:txBody>
      </p:sp>
      <p:sp>
        <p:nvSpPr>
          <p:cNvPr id="15" name="Text 11"/>
          <p:cNvSpPr/>
          <p:nvPr/>
        </p:nvSpPr>
        <p:spPr>
          <a:xfrm>
            <a:off x="12147500" y="7537996"/>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11 → 21</a:t>
            </a:r>
            <a:endParaRPr lang="en-US" sz="4200" dirty="0"/>
          </a:p>
        </p:txBody>
      </p:sp>
      <p:sp>
        <p:nvSpPr>
          <p:cNvPr id="16" name="Text 12"/>
          <p:cNvSpPr/>
          <p:nvPr/>
        </p:nvSpPr>
        <p:spPr>
          <a:xfrm>
            <a:off x="12147500" y="8185696"/>
            <a:ext cx="5245532"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Take turns.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Steady. On the saturated burst all three climb the same line — no rule beats arithmetic.</a:t>
            </a:r>
            <a:endParaRPr lang="en-US" sz="2100" dirty="0"/>
          </a:p>
        </p:txBody>
      </p:sp>
      <p:sp>
        <p:nvSpPr>
          <p:cNvPr id="17" name="Text 1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8" name="Text 1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13 / 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495102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many cars</a:t>
            </a:r>
            <a:endParaRPr lang="en-US" sz="5400" dirty="0"/>
          </a:p>
        </p:txBody>
      </p:sp>
      <p:sp>
        <p:nvSpPr>
          <p:cNvPr id="3" name="Text 1"/>
          <p:cNvSpPr/>
          <p:nvPr/>
        </p:nvSpPr>
        <p:spPr>
          <a:xfrm>
            <a:off x="7881491" y="1333500"/>
            <a:ext cx="1029463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share waiting over a minute · dashed: one in ten · 5 seeds per point</a:t>
            </a:r>
            <a:endParaRPr lang="en-US" sz="1800" dirty="0"/>
          </a:p>
        </p:txBody>
      </p:sp>
      <p:sp>
        <p:nvSpPr>
          <p:cNvPr id="4" name="Shape 2"/>
          <p:cNvSpPr/>
          <p:nvPr/>
        </p:nvSpPr>
        <p:spPr>
          <a:xfrm>
            <a:off x="1047750" y="1973535"/>
            <a:ext cx="16192500" cy="4784452"/>
          </a:xfrm>
          <a:prstGeom prst="roundRect">
            <a:avLst>
              <a:gd name="adj" fmla="val 1991"/>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476500" y="2211660"/>
            <a:ext cx="13335000" cy="4308202"/>
          </a:xfrm>
          <a:prstGeom prst="rect">
            <a:avLst/>
          </a:prstGeom>
        </p:spPr>
      </p:pic>
      <p:sp>
        <p:nvSpPr>
          <p:cNvPr id="6" name="Shape 3"/>
          <p:cNvSpPr/>
          <p:nvPr/>
        </p:nvSpPr>
        <p:spPr>
          <a:xfrm>
            <a:off x="1047750" y="7024688"/>
            <a:ext cx="16192500" cy="9525"/>
          </a:xfrm>
          <a:prstGeom prst="rect">
            <a:avLst/>
          </a:prstGeom>
          <a:solidFill>
            <a:srgbClr val="E1DFD9"/>
          </a:solidFill>
          <a:ln/>
        </p:spPr>
        <p:txBody>
          <a:bodyPr/>
          <a:p/>
        </p:txBody>
      </p:sp>
      <p:sp>
        <p:nvSpPr>
          <p:cNvPr id="7" name="Text 4"/>
          <p:cNvSpPr/>
          <p:nvPr/>
        </p:nvSpPr>
        <p:spPr>
          <a:xfrm>
            <a:off x="1047750"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2</a:t>
            </a:r>
            <a:endParaRPr lang="en-US" sz="4200" dirty="0"/>
          </a:p>
        </p:txBody>
      </p:sp>
      <p:sp>
        <p:nvSpPr>
          <p:cNvPr id="8" name="Text 5"/>
          <p:cNvSpPr/>
          <p:nvPr/>
        </p:nvSpPr>
        <p:spPr>
          <a:xfrm>
            <a:off x="1465883" y="7472363"/>
            <a:ext cx="908000"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cars vs</a:t>
            </a:r>
            <a:endParaRPr lang="en-US" sz="2100" dirty="0"/>
          </a:p>
        </p:txBody>
      </p:sp>
      <p:sp>
        <p:nvSpPr>
          <p:cNvPr id="9" name="Text 6"/>
          <p:cNvSpPr/>
          <p:nvPr/>
        </p:nvSpPr>
        <p:spPr>
          <a:xfrm>
            <a:off x="2391370"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5</a:t>
            </a:r>
            <a:endParaRPr lang="en-US" sz="4200" dirty="0"/>
          </a:p>
        </p:txBody>
      </p:sp>
      <p:sp>
        <p:nvSpPr>
          <p:cNvPr id="10" name="Text 7"/>
          <p:cNvSpPr/>
          <p:nvPr/>
        </p:nvSpPr>
        <p:spPr>
          <a:xfrm>
            <a:off x="2809503" y="7472363"/>
            <a:ext cx="521494"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and</a:t>
            </a:r>
            <a:endParaRPr lang="en-US" sz="2100" dirty="0"/>
          </a:p>
        </p:txBody>
      </p:sp>
      <p:sp>
        <p:nvSpPr>
          <p:cNvPr id="11" name="Text 8"/>
          <p:cNvSpPr/>
          <p:nvPr/>
        </p:nvSpPr>
        <p:spPr>
          <a:xfrm>
            <a:off x="3348484"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5</a:t>
            </a:r>
            <a:endParaRPr lang="en-US" sz="4200" dirty="0"/>
          </a:p>
        </p:txBody>
      </p:sp>
      <p:sp>
        <p:nvSpPr>
          <p:cNvPr id="12" name="Text 9"/>
          <p:cNvSpPr/>
          <p:nvPr/>
        </p:nvSpPr>
        <p:spPr>
          <a:xfrm>
            <a:off x="1047750" y="7910512"/>
            <a:ext cx="491763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Morning up-peak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20 floors, to keep long waits under one in ten.</a:t>
            </a:r>
            <a:endParaRPr lang="en-US" sz="2100" dirty="0"/>
          </a:p>
        </p:txBody>
      </p:sp>
      <p:sp>
        <p:nvSpPr>
          <p:cNvPr id="13" name="Text 10"/>
          <p:cNvSpPr/>
          <p:nvPr/>
        </p:nvSpPr>
        <p:spPr>
          <a:xfrm>
            <a:off x="6279356"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9</a:t>
            </a:r>
            <a:endParaRPr lang="en-US" sz="4200" dirty="0"/>
          </a:p>
        </p:txBody>
      </p:sp>
      <p:sp>
        <p:nvSpPr>
          <p:cNvPr id="14" name="Text 11"/>
          <p:cNvSpPr/>
          <p:nvPr/>
        </p:nvSpPr>
        <p:spPr>
          <a:xfrm>
            <a:off x="6697489" y="7472363"/>
            <a:ext cx="908000"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cars vs</a:t>
            </a:r>
            <a:endParaRPr lang="en-US" sz="2100" dirty="0"/>
          </a:p>
        </p:txBody>
      </p:sp>
      <p:sp>
        <p:nvSpPr>
          <p:cNvPr id="15" name="Text 12"/>
          <p:cNvSpPr/>
          <p:nvPr/>
        </p:nvSpPr>
        <p:spPr>
          <a:xfrm>
            <a:off x="7622977" y="7215188"/>
            <a:ext cx="1049462"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&gt;10</a:t>
            </a:r>
            <a:endParaRPr lang="en-US" sz="4200" dirty="0"/>
          </a:p>
        </p:txBody>
      </p:sp>
      <p:sp>
        <p:nvSpPr>
          <p:cNvPr id="16" name="Text 13"/>
          <p:cNvSpPr/>
          <p:nvPr/>
        </p:nvSpPr>
        <p:spPr>
          <a:xfrm>
            <a:off x="8689925" y="7472363"/>
            <a:ext cx="521494"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and</a:t>
            </a:r>
            <a:endParaRPr lang="en-US" sz="2100" dirty="0"/>
          </a:p>
        </p:txBody>
      </p:sp>
      <p:sp>
        <p:nvSpPr>
          <p:cNvPr id="17" name="Text 14"/>
          <p:cNvSpPr/>
          <p:nvPr/>
        </p:nvSpPr>
        <p:spPr>
          <a:xfrm>
            <a:off x="9228906" y="7215188"/>
            <a:ext cx="1049462"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&gt;10</a:t>
            </a:r>
            <a:endParaRPr lang="en-US" sz="4200" dirty="0"/>
          </a:p>
        </p:txBody>
      </p:sp>
      <p:sp>
        <p:nvSpPr>
          <p:cNvPr id="18" name="Text 15"/>
          <p:cNvSpPr/>
          <p:nvPr/>
        </p:nvSpPr>
        <p:spPr>
          <a:xfrm>
            <a:off x="6279356" y="7910512"/>
            <a:ext cx="491763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Tower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51 floors — neither baseline gets there with ten.</a:t>
            </a:r>
            <a:endParaRPr lang="en-US" sz="2100" dirty="0"/>
          </a:p>
        </p:txBody>
      </p:sp>
      <p:sp>
        <p:nvSpPr>
          <p:cNvPr id="19" name="Text 16"/>
          <p:cNvSpPr/>
          <p:nvPr/>
        </p:nvSpPr>
        <p:spPr>
          <a:xfrm>
            <a:off x="11510963" y="7262813"/>
            <a:ext cx="5901166"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Shafts are the expensive part of a lift bank. The rule is the cheap part — so decide the rule before the car count.</a:t>
            </a:r>
            <a:endParaRPr lang="en-US" sz="2400" dirty="0"/>
          </a:p>
        </p:txBody>
      </p:sp>
      <p:sp>
        <p:nvSpPr>
          <p:cNvPr id="20"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1"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14 / 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95553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After a burst, and across a day</a:t>
            </a:r>
            <a:endParaRPr lang="en-US" sz="5400" dirty="0"/>
          </a:p>
        </p:txBody>
      </p:sp>
      <p:sp>
        <p:nvSpPr>
          <p:cNvPr id="3" name="Text 1"/>
          <p:cNvSpPr/>
          <p:nvPr/>
        </p:nvSpPr>
        <p:spPr>
          <a:xfrm>
            <a:off x="9808294" y="1333500"/>
            <a:ext cx="8175151"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morning up-peak · office day, 1,500 ticks · five seeds</a:t>
            </a:r>
            <a:endParaRPr lang="en-US" sz="1800" dirty="0"/>
          </a:p>
        </p:txBody>
      </p:sp>
      <p:sp>
        <p:nvSpPr>
          <p:cNvPr id="4" name="Shape 2"/>
          <p:cNvSpPr/>
          <p:nvPr/>
        </p:nvSpPr>
        <p:spPr>
          <a:xfrm>
            <a:off x="1047750" y="1973535"/>
            <a:ext cx="7943850" cy="4184079"/>
          </a:xfrm>
          <a:prstGeom prst="roundRect">
            <a:avLst>
              <a:gd name="adj" fmla="val 2276"/>
            </a:avLst>
          </a:prstGeom>
          <a:solidFill>
            <a:srgbClr val="FFFFFF"/>
          </a:solidFill>
          <a:ln w="9525">
            <a:solidFill>
              <a:srgbClr val="E1DFD9"/>
            </a:solidFill>
            <a:prstDash val="solid"/>
          </a:ln>
        </p:spPr>
        <p:txBody>
          <a:bodyPr/>
          <a:p/>
        </p:txBody>
      </p:sp>
      <p:sp>
        <p:nvSpPr>
          <p:cNvPr id="5" name="Text 3"/>
          <p:cNvSpPr/>
          <p:nvPr/>
        </p:nvSpPr>
        <p:spPr>
          <a:xfrm>
            <a:off x="1285875" y="2173560"/>
            <a:ext cx="7691628" cy="5715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PEOPLE WAITING · 30 ARRIVE AT FLOOR 14 AT TICK 200</a:t>
            </a:r>
            <a:endParaRPr lang="en-US" sz="1800" dirty="0"/>
          </a:p>
        </p:txBody>
      </p:sp>
      <p:pic>
        <p:nvPicPr>
          <p:cNvPr id="6" name="Image 0" descr="preencoded.png">    </p:cNvPr>
          <p:cNvPicPr>
            <a:picLocks noChangeAspect="1"/>
          </p:cNvPicPr>
          <p:nvPr/>
        </p:nvPicPr>
        <p:blipFill>
          <a:blip r:embed="rId1"/>
          <a:stretch>
            <a:fillRect/>
          </a:stretch>
        </p:blipFill>
        <p:spPr>
          <a:xfrm>
            <a:off x="1285875" y="2821260"/>
            <a:ext cx="7467600" cy="2986980"/>
          </a:xfrm>
          <a:prstGeom prst="rect">
            <a:avLst/>
          </a:prstGeom>
        </p:spPr>
      </p:pic>
      <p:sp>
        <p:nvSpPr>
          <p:cNvPr id="7" name="Shape 4"/>
          <p:cNvSpPr/>
          <p:nvPr/>
        </p:nvSpPr>
        <p:spPr>
          <a:xfrm>
            <a:off x="9296400" y="1973535"/>
            <a:ext cx="7943850" cy="4184079"/>
          </a:xfrm>
          <a:prstGeom prst="roundRect">
            <a:avLst>
              <a:gd name="adj" fmla="val 2276"/>
            </a:avLst>
          </a:prstGeom>
          <a:solidFill>
            <a:srgbClr val="FFFFFF"/>
          </a:solidFill>
          <a:ln w="9525">
            <a:solidFill>
              <a:srgbClr val="E1DFD9"/>
            </a:solidFill>
            <a:prstDash val="solid"/>
          </a:ln>
        </p:spPr>
        <p:txBody>
          <a:bodyPr/>
          <a:p/>
        </p:txBody>
      </p:sp>
      <p:sp>
        <p:nvSpPr>
          <p:cNvPr id="8" name="Text 5"/>
          <p:cNvSpPr/>
          <p:nvPr/>
        </p:nvSpPr>
        <p:spPr>
          <a:xfrm>
            <a:off x="9534525" y="2173560"/>
            <a:ext cx="7691628" cy="5715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AVERAGE WAIT BY TIME OF DAY · WITH TWO PARKING POLICIES</a:t>
            </a:r>
            <a:endParaRPr lang="en-US" sz="1800" dirty="0"/>
          </a:p>
        </p:txBody>
      </p:sp>
      <p:pic>
        <p:nvPicPr>
          <p:cNvPr id="9" name="Image 1" descr="preencoded.png">    </p:cNvPr>
          <p:cNvPicPr>
            <a:picLocks noChangeAspect="1"/>
          </p:cNvPicPr>
          <p:nvPr/>
        </p:nvPicPr>
        <p:blipFill>
          <a:blip r:embed="rId2"/>
          <a:stretch>
            <a:fillRect/>
          </a:stretch>
        </p:blipFill>
        <p:spPr>
          <a:xfrm>
            <a:off x="9534525" y="2821260"/>
            <a:ext cx="7467600" cy="3136329"/>
          </a:xfrm>
          <a:prstGeom prst="rect">
            <a:avLst/>
          </a:prstGeom>
        </p:spPr>
      </p:pic>
      <p:sp>
        <p:nvSpPr>
          <p:cNvPr id="10" name="Shape 6"/>
          <p:cNvSpPr/>
          <p:nvPr/>
        </p:nvSpPr>
        <p:spPr>
          <a:xfrm>
            <a:off x="1047750" y="6424315"/>
            <a:ext cx="16192500" cy="9525"/>
          </a:xfrm>
          <a:prstGeom prst="rect">
            <a:avLst/>
          </a:prstGeom>
          <a:solidFill>
            <a:srgbClr val="E1DFD9"/>
          </a:solidFill>
          <a:ln/>
        </p:spPr>
        <p:txBody>
          <a:bodyPr/>
          <a:p/>
        </p:txBody>
      </p:sp>
      <p:sp>
        <p:nvSpPr>
          <p:cNvPr id="11" name="Text 7"/>
          <p:cNvSpPr/>
          <p:nvPr/>
        </p:nvSpPr>
        <p:spPr>
          <a:xfrm>
            <a:off x="1047750" y="6614815"/>
            <a:ext cx="72501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26</a:t>
            </a:r>
            <a:endParaRPr lang="en-US" sz="4200" dirty="0"/>
          </a:p>
        </p:txBody>
      </p:sp>
      <p:sp>
        <p:nvSpPr>
          <p:cNvPr id="12" name="Text 8"/>
          <p:cNvSpPr/>
          <p:nvPr/>
        </p:nvSpPr>
        <p:spPr>
          <a:xfrm>
            <a:off x="1790254"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13" name="Text 9"/>
          <p:cNvSpPr/>
          <p:nvPr/>
        </p:nvSpPr>
        <p:spPr>
          <a:xfrm>
            <a:off x="1964159" y="6614815"/>
            <a:ext cx="72501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40</a:t>
            </a:r>
            <a:endParaRPr lang="en-US" sz="4200" dirty="0"/>
          </a:p>
        </p:txBody>
      </p:sp>
      <p:sp>
        <p:nvSpPr>
          <p:cNvPr id="14" name="Text 10"/>
          <p:cNvSpPr/>
          <p:nvPr/>
        </p:nvSpPr>
        <p:spPr>
          <a:xfrm>
            <a:off x="2706663"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15" name="Text 11"/>
          <p:cNvSpPr/>
          <p:nvPr/>
        </p:nvSpPr>
        <p:spPr>
          <a:xfrm>
            <a:off x="2880568" y="6614815"/>
            <a:ext cx="1049462"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123</a:t>
            </a:r>
            <a:endParaRPr lang="en-US" sz="4200" dirty="0"/>
          </a:p>
        </p:txBody>
      </p:sp>
      <p:sp>
        <p:nvSpPr>
          <p:cNvPr id="16" name="Text 12"/>
          <p:cNvSpPr/>
          <p:nvPr/>
        </p:nvSpPr>
        <p:spPr>
          <a:xfrm>
            <a:off x="1047750" y="731014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Ticks to recover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from the burst. Nearest car keeps sending the closest cars, which fill and leave while the queue grows.</a:t>
            </a:r>
            <a:endParaRPr lang="en-US" sz="2100" dirty="0"/>
          </a:p>
        </p:txBody>
      </p:sp>
      <p:sp>
        <p:nvSpPr>
          <p:cNvPr id="17" name="Text 13"/>
          <p:cNvSpPr/>
          <p:nvPr/>
        </p:nvSpPr>
        <p:spPr>
          <a:xfrm>
            <a:off x="6597625" y="661481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5.4</a:t>
            </a:r>
            <a:endParaRPr lang="en-US" sz="4200" dirty="0"/>
          </a:p>
        </p:txBody>
      </p:sp>
      <p:sp>
        <p:nvSpPr>
          <p:cNvPr id="18" name="Text 14"/>
          <p:cNvSpPr/>
          <p:nvPr/>
        </p:nvSpPr>
        <p:spPr>
          <a:xfrm>
            <a:off x="7450708"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19" name="Text 15"/>
          <p:cNvSpPr/>
          <p:nvPr/>
        </p:nvSpPr>
        <p:spPr>
          <a:xfrm>
            <a:off x="7624614" y="661481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9.0</a:t>
            </a:r>
            <a:endParaRPr lang="en-US" sz="4200" dirty="0"/>
          </a:p>
        </p:txBody>
      </p:sp>
      <p:sp>
        <p:nvSpPr>
          <p:cNvPr id="20" name="Text 16"/>
          <p:cNvSpPr/>
          <p:nvPr/>
        </p:nvSpPr>
        <p:spPr>
          <a:xfrm>
            <a:off x="8477696"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21" name="Text 17"/>
          <p:cNvSpPr/>
          <p:nvPr/>
        </p:nvSpPr>
        <p:spPr>
          <a:xfrm>
            <a:off x="8651602" y="6614815"/>
            <a:ext cx="1160041"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13.9</a:t>
            </a:r>
            <a:endParaRPr lang="en-US" sz="4200" dirty="0"/>
          </a:p>
        </p:txBody>
      </p:sp>
      <p:sp>
        <p:nvSpPr>
          <p:cNvPr id="22" name="Text 18"/>
          <p:cNvSpPr/>
          <p:nvPr/>
        </p:nvSpPr>
        <p:spPr>
          <a:xfrm>
            <a:off x="6597625" y="7310140"/>
            <a:ext cx="5245455"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Average wait over the day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and the ratio holds in every segment.</a:t>
            </a:r>
            <a:endParaRPr lang="en-US" sz="2100" dirty="0"/>
          </a:p>
        </p:txBody>
      </p:sp>
      <p:sp>
        <p:nvSpPr>
          <p:cNvPr id="23" name="Text 19"/>
          <p:cNvSpPr/>
          <p:nvPr/>
        </p:nvSpPr>
        <p:spPr>
          <a:xfrm>
            <a:off x="12147500" y="6662440"/>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4.8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park by the clock · lobby all day 5.5</a:t>
            </a:r>
            <a:endParaRPr lang="en-US" sz="4200" dirty="0"/>
          </a:p>
        </p:txBody>
      </p:sp>
      <p:sp>
        <p:nvSpPr>
          <p:cNvPr id="24" name="Text 20"/>
          <p:cNvSpPr/>
          <p:nvPr/>
        </p:nvSpPr>
        <p:spPr>
          <a:xfrm>
            <a:off x="12147500" y="7310140"/>
            <a:ext cx="5245532"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Park by the clock or not at all.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A schedule that follows the traffic gives 11% less waiting; the lobby all day is neutral.</a:t>
            </a:r>
            <a:endParaRPr lang="en-US" sz="2100" dirty="0"/>
          </a:p>
        </p:txBody>
      </p:sp>
      <p:sp>
        <p:nvSpPr>
          <p:cNvPr id="25" name="Text 21"/>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6" name="Text 22"/>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15 / 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35257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Which rule, which policy, for which building</a:t>
            </a:r>
            <a:endParaRPr lang="en-US" sz="5400" dirty="0"/>
          </a:p>
        </p:txBody>
      </p:sp>
      <p:sp>
        <p:nvSpPr>
          <p:cNvPr id="3" name="Text 1"/>
          <p:cNvSpPr/>
          <p:nvPr/>
        </p:nvSpPr>
        <p:spPr>
          <a:xfrm>
            <a:off x="14625265" y="1333500"/>
            <a:ext cx="287648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average wait, ticks</a:t>
            </a:r>
            <a:endParaRPr lang="en-US" sz="1800" dirty="0"/>
          </a:p>
        </p:txBody>
      </p:sp>
      <p:sp>
        <p:nvSpPr>
          <p:cNvPr id="4" name="Shape 2"/>
          <p:cNvSpPr/>
          <p:nvPr/>
        </p:nvSpPr>
        <p:spPr>
          <a:xfrm>
            <a:off x="1047750" y="2128763"/>
            <a:ext cx="4857750" cy="9525"/>
          </a:xfrm>
          <a:prstGeom prst="rect">
            <a:avLst/>
          </a:prstGeom>
          <a:solidFill>
            <a:srgbClr val="1C1B19"/>
          </a:solidFill>
          <a:ln/>
        </p:spPr>
        <p:txBody>
          <a:bodyPr/>
          <a:p/>
        </p:txBody>
      </p:sp>
      <p:sp>
        <p:nvSpPr>
          <p:cNvPr id="5" name="Text 3"/>
          <p:cNvSpPr/>
          <p:nvPr/>
        </p:nvSpPr>
        <p:spPr>
          <a:xfrm>
            <a:off x="1047750" y="1744935"/>
            <a:ext cx="5003483" cy="345728"/>
          </a:xfrm>
          <a:prstGeom prst="rect">
            <a:avLst/>
          </a:prstGeom>
          <a:noFill/>
          <a:ln/>
        </p:spPr>
        <p:txBody>
          <a:bodyPr wrap="square" lIns="25400" tIns="25400" rIns="25400" bIns="25400" rtlCol="0" anchor="ctr">
            <a:normAutofit/>
          </a:bodyPr>
          <a:lstStyle/>
          <a:p>
            <a:pPr algn="l" indent="0" marL="0">
              <a:lnSpc>
                <a:spcPct val="106667"/>
              </a:lnSpc>
              <a:buNone/>
            </a:pPr>
            <a:r>
              <a:rPr lang="en-US" sz="1800" dirty="0">
                <a:solidFill>
                  <a:srgbClr val="7A786F"/>
                </a:solidFill>
                <a:latin typeface="Courier New" pitchFamily="34" charset="0"/>
                <a:ea typeface="Courier New" pitchFamily="34" charset="-122"/>
                <a:cs typeface="Courier New" pitchFamily="34" charset="-120"/>
              </a:rPr>
              <a:t>Building and traffic</a:t>
            </a:r>
            <a:endParaRPr lang="en-US" sz="1800" dirty="0"/>
          </a:p>
        </p:txBody>
      </p:sp>
      <p:sp>
        <p:nvSpPr>
          <p:cNvPr id="6" name="Shape 4"/>
          <p:cNvSpPr/>
          <p:nvPr/>
        </p:nvSpPr>
        <p:spPr>
          <a:xfrm>
            <a:off x="5905500" y="2128763"/>
            <a:ext cx="7448550" cy="9525"/>
          </a:xfrm>
          <a:prstGeom prst="rect">
            <a:avLst/>
          </a:prstGeom>
          <a:solidFill>
            <a:srgbClr val="1C1B19"/>
          </a:solidFill>
          <a:ln/>
        </p:spPr>
        <p:txBody>
          <a:bodyPr/>
          <a:p/>
        </p:txBody>
      </p:sp>
      <p:sp>
        <p:nvSpPr>
          <p:cNvPr id="7" name="Text 5"/>
          <p:cNvSpPr/>
          <p:nvPr/>
        </p:nvSpPr>
        <p:spPr>
          <a:xfrm>
            <a:off x="6134100" y="1744935"/>
            <a:ext cx="7214807" cy="307628"/>
          </a:xfrm>
          <a:prstGeom prst="rect">
            <a:avLst/>
          </a:prstGeom>
          <a:noFill/>
          <a:ln/>
        </p:spPr>
        <p:txBody>
          <a:bodyPr wrap="square" lIns="25400" tIns="25400" rIns="25400" bIns="25400" rtlCol="0" anchor="ctr">
            <a:normAutofit/>
          </a:bodyPr>
          <a:lstStyle/>
          <a:p>
            <a:pPr algn="l" indent="0" marL="0">
              <a:lnSpc>
                <a:spcPct val="106667"/>
              </a:lnSpc>
              <a:buNone/>
            </a:pPr>
            <a:r>
              <a:rPr lang="en-US" sz="1800" dirty="0">
                <a:solidFill>
                  <a:srgbClr val="7A786F"/>
                </a:solidFill>
                <a:latin typeface="Courier New" pitchFamily="34" charset="0"/>
                <a:ea typeface="Courier New" pitchFamily="34" charset="-122"/>
                <a:cs typeface="Courier New" pitchFamily="34" charset="-120"/>
              </a:rPr>
              <a:t>Choose</a:t>
            </a:r>
            <a:endParaRPr lang="en-US" sz="1800" dirty="0"/>
          </a:p>
        </p:txBody>
      </p:sp>
      <p:sp>
        <p:nvSpPr>
          <p:cNvPr id="8" name="Shape 6"/>
          <p:cNvSpPr/>
          <p:nvPr/>
        </p:nvSpPr>
        <p:spPr>
          <a:xfrm>
            <a:off x="13354050" y="2128763"/>
            <a:ext cx="3886200" cy="9525"/>
          </a:xfrm>
          <a:prstGeom prst="rect">
            <a:avLst/>
          </a:prstGeom>
          <a:solidFill>
            <a:srgbClr val="1C1B19"/>
          </a:solidFill>
          <a:ln/>
        </p:spPr>
        <p:txBody>
          <a:bodyPr/>
          <a:p/>
        </p:txBody>
      </p:sp>
      <p:sp>
        <p:nvSpPr>
          <p:cNvPr id="9" name="Text 7"/>
          <p:cNvSpPr/>
          <p:nvPr/>
        </p:nvSpPr>
        <p:spPr>
          <a:xfrm>
            <a:off x="13354050" y="1744935"/>
            <a:ext cx="4002786" cy="307628"/>
          </a:xfrm>
          <a:prstGeom prst="rect">
            <a:avLst/>
          </a:prstGeom>
          <a:noFill/>
          <a:ln/>
        </p:spPr>
        <p:txBody>
          <a:bodyPr wrap="square" lIns="25400" tIns="25400" rIns="25400" bIns="25400" rtlCol="0" anchor="ctr">
            <a:normAutofit/>
          </a:bodyPr>
          <a:lstStyle/>
          <a:p>
            <a:pPr algn="l" indent="0" marL="0">
              <a:lnSpc>
                <a:spcPct val="106667"/>
              </a:lnSpc>
              <a:buNone/>
            </a:pPr>
            <a:r>
              <a:rPr lang="en-US" sz="1800" dirty="0">
                <a:solidFill>
                  <a:srgbClr val="7A786F"/>
                </a:solidFill>
                <a:latin typeface="Courier New" pitchFamily="34" charset="0"/>
                <a:ea typeface="Courier New" pitchFamily="34" charset="-122"/>
                <a:cs typeface="Courier New" pitchFamily="34" charset="-120"/>
              </a:rPr>
              <a:t>Evidence</a:t>
            </a:r>
            <a:endParaRPr lang="en-US" sz="1800" dirty="0"/>
          </a:p>
        </p:txBody>
      </p:sp>
      <p:sp>
        <p:nvSpPr>
          <p:cNvPr id="10" name="Shape 8"/>
          <p:cNvSpPr/>
          <p:nvPr/>
        </p:nvSpPr>
        <p:spPr>
          <a:xfrm>
            <a:off x="1047750" y="2763069"/>
            <a:ext cx="4857750" cy="9525"/>
          </a:xfrm>
          <a:prstGeom prst="rect">
            <a:avLst/>
          </a:prstGeom>
          <a:solidFill>
            <a:srgbClr val="E1DFD9"/>
          </a:solidFill>
          <a:ln/>
        </p:spPr>
        <p:txBody>
          <a:bodyPr/>
          <a:p/>
        </p:txBody>
      </p:sp>
      <p:sp>
        <p:nvSpPr>
          <p:cNvPr id="11" name="Text 9"/>
          <p:cNvSpPr/>
          <p:nvPr/>
        </p:nvSpPr>
        <p:spPr>
          <a:xfrm>
            <a:off x="1047750" y="2176388"/>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Ordinary office, moderate traffic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≤20 floors</a:t>
            </a:r>
            <a:endParaRPr lang="en-US" sz="1800" dirty="0"/>
          </a:p>
        </p:txBody>
      </p:sp>
      <p:sp>
        <p:nvSpPr>
          <p:cNvPr id="12" name="Shape 10"/>
          <p:cNvSpPr/>
          <p:nvPr/>
        </p:nvSpPr>
        <p:spPr>
          <a:xfrm>
            <a:off x="5905500" y="2763069"/>
            <a:ext cx="7448550" cy="9525"/>
          </a:xfrm>
          <a:prstGeom prst="rect">
            <a:avLst/>
          </a:prstGeom>
          <a:solidFill>
            <a:srgbClr val="E1DFD9"/>
          </a:solidFill>
          <a:ln/>
        </p:spPr>
        <p:txBody>
          <a:bodyPr/>
          <a:p/>
        </p:txBody>
      </p:sp>
      <p:sp>
        <p:nvSpPr>
          <p:cNvPr id="13" name="Text 11"/>
          <p:cNvSpPr/>
          <p:nvPr/>
        </p:nvSpPr>
        <p:spPr>
          <a:xfrm>
            <a:off x="6134100" y="2176388"/>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1.5–2× shorter average wait than nearest car on the three peaks across seeds; the gap widens as load rises.</a:t>
            </a:r>
            <a:endParaRPr lang="en-US" sz="1800" dirty="0"/>
          </a:p>
        </p:txBody>
      </p:sp>
      <p:sp>
        <p:nvSpPr>
          <p:cNvPr id="14" name="Shape 12"/>
          <p:cNvSpPr/>
          <p:nvPr/>
        </p:nvSpPr>
        <p:spPr>
          <a:xfrm>
            <a:off x="13354050" y="2763069"/>
            <a:ext cx="3886200" cy="9525"/>
          </a:xfrm>
          <a:prstGeom prst="rect">
            <a:avLst/>
          </a:prstGeom>
          <a:solidFill>
            <a:srgbClr val="E1DFD9"/>
          </a:solidFill>
          <a:ln/>
        </p:spPr>
        <p:txBody>
          <a:bodyPr/>
          <a:p/>
        </p:txBody>
      </p:sp>
      <p:sp>
        <p:nvSpPr>
          <p:cNvPr id="15" name="Text 13"/>
          <p:cNvSpPr/>
          <p:nvPr/>
        </p:nvSpPr>
        <p:spPr>
          <a:xfrm>
            <a:off x="13354050" y="2176388"/>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Strong · 20 of 20 seeds on each peak</a:t>
            </a:r>
            <a:endParaRPr lang="en-US" sz="1800" dirty="0"/>
          </a:p>
        </p:txBody>
      </p:sp>
      <p:sp>
        <p:nvSpPr>
          <p:cNvPr id="16" name="Shape 14"/>
          <p:cNvSpPr/>
          <p:nvPr/>
        </p:nvSpPr>
        <p:spPr>
          <a:xfrm>
            <a:off x="1047750" y="3397374"/>
            <a:ext cx="4857750" cy="9525"/>
          </a:xfrm>
          <a:prstGeom prst="rect">
            <a:avLst/>
          </a:prstGeom>
          <a:solidFill>
            <a:srgbClr val="E1DFD9"/>
          </a:solidFill>
          <a:ln/>
        </p:spPr>
        <p:txBody>
          <a:bodyPr/>
          <a:p/>
        </p:txBody>
      </p:sp>
      <p:sp>
        <p:nvSpPr>
          <p:cNvPr id="17" name="Text 15"/>
          <p:cNvSpPr/>
          <p:nvPr/>
        </p:nvSpPr>
        <p:spPr>
          <a:xfrm>
            <a:off x="1047750" y="2810694"/>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Quiet, interfloor traffic</a:t>
            </a:r>
            <a:endParaRPr lang="en-US" sz="1800" dirty="0"/>
          </a:p>
        </p:txBody>
      </p:sp>
      <p:sp>
        <p:nvSpPr>
          <p:cNvPr id="18" name="Shape 16"/>
          <p:cNvSpPr/>
          <p:nvPr/>
        </p:nvSpPr>
        <p:spPr>
          <a:xfrm>
            <a:off x="5905500" y="3397374"/>
            <a:ext cx="7448550" cy="9525"/>
          </a:xfrm>
          <a:prstGeom prst="rect">
            <a:avLst/>
          </a:prstGeom>
          <a:solidFill>
            <a:srgbClr val="E1DFD9"/>
          </a:solidFill>
          <a:ln/>
        </p:spPr>
        <p:txBody>
          <a:bodyPr/>
          <a:p/>
        </p:txBody>
      </p:sp>
      <p:sp>
        <p:nvSpPr>
          <p:cNvPr id="19" name="Text 17"/>
          <p:cNvSpPr/>
          <p:nvPr/>
        </p:nvSpPr>
        <p:spPr>
          <a:xfrm>
            <a:off x="6134100" y="2810694"/>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but by 1.2× — a nearest-car controller is within 15% here.</a:t>
            </a:r>
            <a:endParaRPr lang="en-US" sz="1800" dirty="0"/>
          </a:p>
        </p:txBody>
      </p:sp>
      <p:sp>
        <p:nvSpPr>
          <p:cNvPr id="20" name="Shape 18"/>
          <p:cNvSpPr/>
          <p:nvPr/>
        </p:nvSpPr>
        <p:spPr>
          <a:xfrm>
            <a:off x="13354050" y="3397374"/>
            <a:ext cx="3886200" cy="9525"/>
          </a:xfrm>
          <a:prstGeom prst="rect">
            <a:avLst/>
          </a:prstGeom>
          <a:solidFill>
            <a:srgbClr val="E1DFD9"/>
          </a:solidFill>
          <a:ln/>
        </p:spPr>
        <p:txBody>
          <a:bodyPr/>
          <a:p/>
        </p:txBody>
      </p:sp>
      <p:sp>
        <p:nvSpPr>
          <p:cNvPr id="21" name="Text 19"/>
          <p:cNvSpPr/>
          <p:nvPr/>
        </p:nvSpPr>
        <p:spPr>
          <a:xfrm>
            <a:off x="13354050" y="2810694"/>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19 of 20 seeds</a:t>
            </a:r>
            <a:endParaRPr lang="en-US" sz="1800" dirty="0"/>
          </a:p>
        </p:txBody>
      </p:sp>
      <p:sp>
        <p:nvSpPr>
          <p:cNvPr id="22" name="Shape 20"/>
          <p:cNvSpPr/>
          <p:nvPr/>
        </p:nvSpPr>
        <p:spPr>
          <a:xfrm>
            <a:off x="1047750" y="4031679"/>
            <a:ext cx="4857750" cy="9525"/>
          </a:xfrm>
          <a:prstGeom prst="rect">
            <a:avLst/>
          </a:prstGeom>
          <a:solidFill>
            <a:srgbClr val="E1DFD9"/>
          </a:solidFill>
          <a:ln/>
        </p:spPr>
        <p:txBody>
          <a:bodyPr/>
          <a:p/>
        </p:txBody>
      </p:sp>
      <p:sp>
        <p:nvSpPr>
          <p:cNvPr id="23" name="Text 21"/>
          <p:cNvSpPr/>
          <p:nvPr/>
        </p:nvSpPr>
        <p:spPr>
          <a:xfrm>
            <a:off x="1047750" y="3444999"/>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Tall building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~50 floors</a:t>
            </a:r>
            <a:endParaRPr lang="en-US" sz="1800" dirty="0"/>
          </a:p>
        </p:txBody>
      </p:sp>
      <p:sp>
        <p:nvSpPr>
          <p:cNvPr id="24" name="Shape 22"/>
          <p:cNvSpPr/>
          <p:nvPr/>
        </p:nvSpPr>
        <p:spPr>
          <a:xfrm>
            <a:off x="5905500" y="4031679"/>
            <a:ext cx="7448550" cy="9525"/>
          </a:xfrm>
          <a:prstGeom prst="rect">
            <a:avLst/>
          </a:prstGeom>
          <a:solidFill>
            <a:srgbClr val="E1DFD9"/>
          </a:solidFill>
          <a:ln/>
        </p:spPr>
        <p:txBody>
          <a:bodyPr/>
          <a:p/>
        </p:txBody>
      </p:sp>
      <p:sp>
        <p:nvSpPr>
          <p:cNvPr id="25" name="Text 23"/>
          <p:cNvSpPr/>
          <p:nvPr/>
        </p:nvSpPr>
        <p:spPr>
          <a:xfrm>
            <a:off x="6134100" y="3444999"/>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2.6× across seeds (3.7× committed draw); nearest car’s maximum 250 ± 85 against 65 ± 13.</a:t>
            </a:r>
            <a:endParaRPr lang="en-US" sz="1800" dirty="0"/>
          </a:p>
        </p:txBody>
      </p:sp>
      <p:sp>
        <p:nvSpPr>
          <p:cNvPr id="26" name="Shape 24"/>
          <p:cNvSpPr/>
          <p:nvPr/>
        </p:nvSpPr>
        <p:spPr>
          <a:xfrm>
            <a:off x="13354050" y="4031679"/>
            <a:ext cx="3886200" cy="9525"/>
          </a:xfrm>
          <a:prstGeom prst="rect">
            <a:avLst/>
          </a:prstGeom>
          <a:solidFill>
            <a:srgbClr val="E1DFD9"/>
          </a:solidFill>
          <a:ln/>
        </p:spPr>
        <p:txBody>
          <a:bodyPr/>
          <a:p/>
        </p:txBody>
      </p:sp>
      <p:sp>
        <p:nvSpPr>
          <p:cNvPr id="27" name="Text 25"/>
          <p:cNvSpPr/>
          <p:nvPr/>
        </p:nvSpPr>
        <p:spPr>
          <a:xfrm>
            <a:off x="13354050" y="3444999"/>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Strong · 20 of 20 seeds</a:t>
            </a:r>
            <a:endParaRPr lang="en-US" sz="1800" dirty="0"/>
          </a:p>
        </p:txBody>
      </p:sp>
      <p:sp>
        <p:nvSpPr>
          <p:cNvPr id="28" name="Shape 26"/>
          <p:cNvSpPr/>
          <p:nvPr/>
        </p:nvSpPr>
        <p:spPr>
          <a:xfrm>
            <a:off x="1047750" y="4940275"/>
            <a:ext cx="4857750" cy="9525"/>
          </a:xfrm>
          <a:prstGeom prst="rect">
            <a:avLst/>
          </a:prstGeom>
          <a:solidFill>
            <a:srgbClr val="E1DFD9"/>
          </a:solidFill>
          <a:ln/>
        </p:spPr>
        <p:txBody>
          <a:bodyPr/>
          <a:p/>
        </p:txBody>
      </p:sp>
      <p:sp>
        <p:nvSpPr>
          <p:cNvPr id="29" name="Text 27"/>
          <p:cNvSpPr/>
          <p:nvPr/>
        </p:nvSpPr>
        <p:spPr>
          <a:xfrm>
            <a:off x="1047750" y="4079304"/>
            <a:ext cx="5003483"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A bank being sized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or a building growing into its shafts</a:t>
            </a:r>
            <a:endParaRPr lang="en-US" sz="1800" dirty="0"/>
          </a:p>
        </p:txBody>
      </p:sp>
      <p:sp>
        <p:nvSpPr>
          <p:cNvPr id="30" name="Shape 28"/>
          <p:cNvSpPr/>
          <p:nvPr/>
        </p:nvSpPr>
        <p:spPr>
          <a:xfrm>
            <a:off x="5905500" y="4940275"/>
            <a:ext cx="7448550" cy="9525"/>
          </a:xfrm>
          <a:prstGeom prst="rect">
            <a:avLst/>
          </a:prstGeom>
          <a:solidFill>
            <a:srgbClr val="E1DFD9"/>
          </a:solidFill>
          <a:ln/>
        </p:spPr>
        <p:txBody>
          <a:bodyPr/>
          <a:p/>
        </p:txBody>
      </p:sp>
      <p:sp>
        <p:nvSpPr>
          <p:cNvPr id="31" name="Text 29"/>
          <p:cNvSpPr/>
          <p:nvPr/>
        </p:nvSpPr>
        <p:spPr>
          <a:xfrm>
            <a:off x="6134100" y="4079304"/>
            <a:ext cx="7214807"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Decide the rule before the car count.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“At most one in ten waits over a minute”: two cars against five on the morning peak; nine against more than ten on the tower.</a:t>
            </a:r>
            <a:endParaRPr lang="en-US" sz="1800" dirty="0"/>
          </a:p>
        </p:txBody>
      </p:sp>
      <p:sp>
        <p:nvSpPr>
          <p:cNvPr id="32" name="Shape 30"/>
          <p:cNvSpPr/>
          <p:nvPr/>
        </p:nvSpPr>
        <p:spPr>
          <a:xfrm>
            <a:off x="13354050" y="4940275"/>
            <a:ext cx="3886200" cy="9525"/>
          </a:xfrm>
          <a:prstGeom prst="rect">
            <a:avLst/>
          </a:prstGeom>
          <a:solidFill>
            <a:srgbClr val="E1DFD9"/>
          </a:solidFill>
          <a:ln/>
        </p:spPr>
        <p:txBody>
          <a:bodyPr/>
          <a:p/>
        </p:txBody>
      </p:sp>
      <p:sp>
        <p:nvSpPr>
          <p:cNvPr id="33" name="Text 31"/>
          <p:cNvSpPr/>
          <p:nvPr/>
        </p:nvSpPr>
        <p:spPr>
          <a:xfrm>
            <a:off x="13354050" y="4079304"/>
            <a:ext cx="4002786"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5 seeds per point · two buildings</a:t>
            </a:r>
            <a:endParaRPr lang="en-US" sz="1800" dirty="0"/>
          </a:p>
        </p:txBody>
      </p:sp>
      <p:sp>
        <p:nvSpPr>
          <p:cNvPr id="34" name="Shape 32"/>
          <p:cNvSpPr/>
          <p:nvPr/>
        </p:nvSpPr>
        <p:spPr>
          <a:xfrm>
            <a:off x="1047750" y="5574581"/>
            <a:ext cx="4857750" cy="9525"/>
          </a:xfrm>
          <a:prstGeom prst="rect">
            <a:avLst/>
          </a:prstGeom>
          <a:solidFill>
            <a:srgbClr val="E1DFD9"/>
          </a:solidFill>
          <a:ln/>
        </p:spPr>
        <p:txBody>
          <a:bodyPr/>
          <a:p/>
        </p:txBody>
      </p:sp>
      <p:sp>
        <p:nvSpPr>
          <p:cNvPr id="35" name="Text 33"/>
          <p:cNvSpPr/>
          <p:nvPr/>
        </p:nvSpPr>
        <p:spPr>
          <a:xfrm>
            <a:off x="1047750" y="4987900"/>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Buildings with bursts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meeting floors, lecture theatres</a:t>
            </a:r>
            <a:endParaRPr lang="en-US" sz="1800" dirty="0"/>
          </a:p>
        </p:txBody>
      </p:sp>
      <p:sp>
        <p:nvSpPr>
          <p:cNvPr id="36" name="Shape 34"/>
          <p:cNvSpPr/>
          <p:nvPr/>
        </p:nvSpPr>
        <p:spPr>
          <a:xfrm>
            <a:off x="5905500" y="5574581"/>
            <a:ext cx="7448550" cy="9525"/>
          </a:xfrm>
          <a:prstGeom prst="rect">
            <a:avLst/>
          </a:prstGeom>
          <a:solidFill>
            <a:srgbClr val="E1DFD9"/>
          </a:solidFill>
          <a:ln/>
        </p:spPr>
        <p:txBody>
          <a:bodyPr/>
          <a:p/>
        </p:txBody>
      </p:sp>
      <p:sp>
        <p:nvSpPr>
          <p:cNvPr id="37" name="Text 35"/>
          <p:cNvSpPr/>
          <p:nvPr/>
        </p:nvSpPr>
        <p:spPr>
          <a:xfrm>
            <a:off x="6134100" y="4987900"/>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back to normal ~25 ticks after a 30-person burst; nearest car ~120. The rule is the lever, not the fairness weight.</a:t>
            </a:r>
            <a:endParaRPr lang="en-US" sz="1800" dirty="0"/>
          </a:p>
        </p:txBody>
      </p:sp>
      <p:sp>
        <p:nvSpPr>
          <p:cNvPr id="38" name="Shape 36"/>
          <p:cNvSpPr/>
          <p:nvPr/>
        </p:nvSpPr>
        <p:spPr>
          <a:xfrm>
            <a:off x="13354050" y="5574581"/>
            <a:ext cx="3886200" cy="9525"/>
          </a:xfrm>
          <a:prstGeom prst="rect">
            <a:avLst/>
          </a:prstGeom>
          <a:solidFill>
            <a:srgbClr val="E1DFD9"/>
          </a:solidFill>
          <a:ln/>
        </p:spPr>
        <p:txBody>
          <a:bodyPr/>
          <a:p/>
        </p:txBody>
      </p:sp>
      <p:sp>
        <p:nvSpPr>
          <p:cNvPr id="39" name="Text 37"/>
          <p:cNvSpPr/>
          <p:nvPr/>
        </p:nvSpPr>
        <p:spPr>
          <a:xfrm>
            <a:off x="13354050" y="4987900"/>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One burst shape · 5 seeds</a:t>
            </a:r>
            <a:endParaRPr lang="en-US" sz="1800" dirty="0"/>
          </a:p>
        </p:txBody>
      </p:sp>
      <p:sp>
        <p:nvSpPr>
          <p:cNvPr id="40" name="Shape 38"/>
          <p:cNvSpPr/>
          <p:nvPr/>
        </p:nvSpPr>
        <p:spPr>
          <a:xfrm>
            <a:off x="1047750" y="6483176"/>
            <a:ext cx="4857750" cy="9525"/>
          </a:xfrm>
          <a:prstGeom prst="rect">
            <a:avLst/>
          </a:prstGeom>
          <a:solidFill>
            <a:srgbClr val="E1DFD9"/>
          </a:solidFill>
          <a:ln/>
        </p:spPr>
        <p:txBody>
          <a:bodyPr/>
          <a:p/>
        </p:txBody>
      </p:sp>
      <p:sp>
        <p:nvSpPr>
          <p:cNvPr id="41" name="Text 39"/>
          <p:cNvSpPr/>
          <p:nvPr/>
        </p:nvSpPr>
        <p:spPr>
          <a:xfrm>
            <a:off x="1047750" y="5622206"/>
            <a:ext cx="5003483"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Where the tail matters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hospitals, hotels</a:t>
            </a:r>
            <a:endParaRPr lang="en-US" sz="1800" dirty="0"/>
          </a:p>
        </p:txBody>
      </p:sp>
      <p:sp>
        <p:nvSpPr>
          <p:cNvPr id="42" name="Shape 40"/>
          <p:cNvSpPr/>
          <p:nvPr/>
        </p:nvSpPr>
        <p:spPr>
          <a:xfrm>
            <a:off x="5905500" y="6483176"/>
            <a:ext cx="7448550" cy="9525"/>
          </a:xfrm>
          <a:prstGeom prst="rect">
            <a:avLst/>
          </a:prstGeom>
          <a:solidFill>
            <a:srgbClr val="E1DFD9"/>
          </a:solidFill>
          <a:ln/>
        </p:spPr>
        <p:txBody>
          <a:bodyPr/>
          <a:p/>
        </p:txBody>
      </p:sp>
      <p:sp>
        <p:nvSpPr>
          <p:cNvPr id="43" name="Text 41"/>
          <p:cNvSpPr/>
          <p:nvPr/>
        </p:nvSpPr>
        <p:spPr>
          <a:xfrm>
            <a:off x="6134100" y="5622206"/>
            <a:ext cx="7214807"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The </a:t>
            </a:r>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works reliably only under saturation: burst max lower in 14 of 20. On the tower, max lower in 4 of 20 and average up in 18.</a:t>
            </a:r>
            <a:endParaRPr lang="en-US" sz="1800" dirty="0"/>
          </a:p>
        </p:txBody>
      </p:sp>
      <p:sp>
        <p:nvSpPr>
          <p:cNvPr id="44" name="Shape 42"/>
          <p:cNvSpPr/>
          <p:nvPr/>
        </p:nvSpPr>
        <p:spPr>
          <a:xfrm>
            <a:off x="13354050" y="6483176"/>
            <a:ext cx="3886200" cy="9525"/>
          </a:xfrm>
          <a:prstGeom prst="rect">
            <a:avLst/>
          </a:prstGeom>
          <a:solidFill>
            <a:srgbClr val="E1DFD9"/>
          </a:solidFill>
          <a:ln/>
        </p:spPr>
        <p:txBody>
          <a:bodyPr/>
          <a:p/>
        </p:txBody>
      </p:sp>
      <p:sp>
        <p:nvSpPr>
          <p:cNvPr id="45" name="Text 43"/>
          <p:cNvSpPr/>
          <p:nvPr/>
        </p:nvSpPr>
        <p:spPr>
          <a:xfrm>
            <a:off x="13354050" y="5622206"/>
            <a:ext cx="4002786"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Robust on the burst · not reproduced on the tower</a:t>
            </a:r>
            <a:endParaRPr lang="en-US" sz="1800" dirty="0"/>
          </a:p>
        </p:txBody>
      </p:sp>
      <p:sp>
        <p:nvSpPr>
          <p:cNvPr id="46" name="Shape 44"/>
          <p:cNvSpPr/>
          <p:nvPr/>
        </p:nvSpPr>
        <p:spPr>
          <a:xfrm>
            <a:off x="1047750" y="7391772"/>
            <a:ext cx="4857750" cy="9525"/>
          </a:xfrm>
          <a:prstGeom prst="rect">
            <a:avLst/>
          </a:prstGeom>
          <a:solidFill>
            <a:srgbClr val="E1DFD9"/>
          </a:solidFill>
          <a:ln/>
        </p:spPr>
        <p:txBody>
          <a:bodyPr/>
          <a:p/>
        </p:txBody>
      </p:sp>
      <p:sp>
        <p:nvSpPr>
          <p:cNvPr id="47" name="Text 45"/>
          <p:cNvSpPr/>
          <p:nvPr/>
        </p:nvSpPr>
        <p:spPr>
          <a:xfrm>
            <a:off x="1047750" y="6530801"/>
            <a:ext cx="5003483"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Parking idle cars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across a day</a:t>
            </a:r>
            <a:endParaRPr lang="en-US" sz="1800" dirty="0"/>
          </a:p>
        </p:txBody>
      </p:sp>
      <p:sp>
        <p:nvSpPr>
          <p:cNvPr id="48" name="Shape 46"/>
          <p:cNvSpPr/>
          <p:nvPr/>
        </p:nvSpPr>
        <p:spPr>
          <a:xfrm>
            <a:off x="5905500" y="7391772"/>
            <a:ext cx="7448550" cy="9525"/>
          </a:xfrm>
          <a:prstGeom prst="rect">
            <a:avLst/>
          </a:prstGeom>
          <a:solidFill>
            <a:srgbClr val="E1DFD9"/>
          </a:solidFill>
          <a:ln/>
        </p:spPr>
        <p:txBody>
          <a:bodyPr/>
          <a:p/>
        </p:txBody>
      </p:sp>
      <p:sp>
        <p:nvSpPr>
          <p:cNvPr id="49" name="Text 47"/>
          <p:cNvSpPr/>
          <p:nvPr/>
        </p:nvSpPr>
        <p:spPr>
          <a:xfrm>
            <a:off x="6134100" y="6530801"/>
            <a:ext cx="7214807"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Park by the clock or not at all.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Lobby all day is neutral over the day (5.5 vs 5.4); a schedule that follows the traffic gives 4.8 — 11% less waiting.</a:t>
            </a:r>
            <a:endParaRPr lang="en-US" sz="1800" dirty="0"/>
          </a:p>
        </p:txBody>
      </p:sp>
      <p:sp>
        <p:nvSpPr>
          <p:cNvPr id="50" name="Shape 48"/>
          <p:cNvSpPr/>
          <p:nvPr/>
        </p:nvSpPr>
        <p:spPr>
          <a:xfrm>
            <a:off x="13354050" y="7391772"/>
            <a:ext cx="3886200" cy="9525"/>
          </a:xfrm>
          <a:prstGeom prst="rect">
            <a:avLst/>
          </a:prstGeom>
          <a:solidFill>
            <a:srgbClr val="E1DFD9"/>
          </a:solidFill>
          <a:ln/>
        </p:spPr>
        <p:txBody>
          <a:bodyPr/>
          <a:p/>
        </p:txBody>
      </p:sp>
      <p:sp>
        <p:nvSpPr>
          <p:cNvPr id="51" name="Text 49"/>
          <p:cNvSpPr/>
          <p:nvPr/>
        </p:nvSpPr>
        <p:spPr>
          <a:xfrm>
            <a:off x="13354050" y="6530801"/>
            <a:ext cx="4002786"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Morning: 20 of 20 seeds · the day: 5 seeds</a:t>
            </a:r>
            <a:endParaRPr lang="en-US" sz="1800" dirty="0"/>
          </a:p>
        </p:txBody>
      </p:sp>
      <p:sp>
        <p:nvSpPr>
          <p:cNvPr id="52" name="Shape 50"/>
          <p:cNvSpPr/>
          <p:nvPr/>
        </p:nvSpPr>
        <p:spPr>
          <a:xfrm>
            <a:off x="1047750" y="8026078"/>
            <a:ext cx="4857750" cy="9525"/>
          </a:xfrm>
          <a:prstGeom prst="rect">
            <a:avLst/>
          </a:prstGeom>
          <a:solidFill>
            <a:srgbClr val="E1DFD9"/>
          </a:solidFill>
          <a:ln/>
        </p:spPr>
        <p:txBody>
          <a:bodyPr/>
          <a:p/>
        </p:txBody>
      </p:sp>
      <p:sp>
        <p:nvSpPr>
          <p:cNvPr id="53" name="Text 51"/>
          <p:cNvSpPr/>
          <p:nvPr/>
        </p:nvSpPr>
        <p:spPr>
          <a:xfrm>
            <a:off x="1047750" y="7439397"/>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Even wear across cars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per-car maintenance</a:t>
            </a:r>
            <a:endParaRPr lang="en-US" sz="1800" dirty="0"/>
          </a:p>
        </p:txBody>
      </p:sp>
      <p:sp>
        <p:nvSpPr>
          <p:cNvPr id="54" name="Shape 52"/>
          <p:cNvSpPr/>
          <p:nvPr/>
        </p:nvSpPr>
        <p:spPr>
          <a:xfrm>
            <a:off x="5905500" y="8026078"/>
            <a:ext cx="7448550" cy="9525"/>
          </a:xfrm>
          <a:prstGeom prst="rect">
            <a:avLst/>
          </a:prstGeom>
          <a:solidFill>
            <a:srgbClr val="E1DFD9"/>
          </a:solidFill>
          <a:ln/>
        </p:spPr>
        <p:txBody>
          <a:bodyPr/>
          <a:p/>
        </p:txBody>
      </p:sp>
      <p:sp>
        <p:nvSpPr>
          <p:cNvPr id="55" name="Text 53"/>
          <p:cNvSpPr/>
          <p:nvPr/>
        </p:nvSpPr>
        <p:spPr>
          <a:xfrm>
            <a:off x="6134100" y="7439397"/>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Add the </a:t>
            </a:r>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it narrows the spread between cars. Not take-turns: it evens cars by working all of them more.</a:t>
            </a:r>
            <a:endParaRPr lang="en-US" sz="1800" dirty="0"/>
          </a:p>
        </p:txBody>
      </p:sp>
      <p:sp>
        <p:nvSpPr>
          <p:cNvPr id="56" name="Shape 54"/>
          <p:cNvSpPr/>
          <p:nvPr/>
        </p:nvSpPr>
        <p:spPr>
          <a:xfrm>
            <a:off x="13354050" y="8026078"/>
            <a:ext cx="3886200" cy="9525"/>
          </a:xfrm>
          <a:prstGeom prst="rect">
            <a:avLst/>
          </a:prstGeom>
          <a:solidFill>
            <a:srgbClr val="E1DFD9"/>
          </a:solidFill>
          <a:ln/>
        </p:spPr>
        <p:txBody>
          <a:bodyPr/>
          <a:p/>
        </p:txBody>
      </p:sp>
      <p:sp>
        <p:nvSpPr>
          <p:cNvPr id="57" name="Text 55"/>
          <p:cNvSpPr/>
          <p:nvPr/>
        </p:nvSpPr>
        <p:spPr>
          <a:xfrm>
            <a:off x="13354050" y="7439397"/>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11–15 of 20 seeds · wear not modelled</a:t>
            </a:r>
            <a:endParaRPr lang="en-US" sz="1800" dirty="0"/>
          </a:p>
        </p:txBody>
      </p:sp>
      <p:sp>
        <p:nvSpPr>
          <p:cNvPr id="58" name="Shape 56"/>
          <p:cNvSpPr/>
          <p:nvPr/>
        </p:nvSpPr>
        <p:spPr>
          <a:xfrm>
            <a:off x="1047750" y="8660383"/>
            <a:ext cx="4857750" cy="9525"/>
          </a:xfrm>
          <a:prstGeom prst="rect">
            <a:avLst/>
          </a:prstGeom>
          <a:solidFill>
            <a:srgbClr val="E1DFD9"/>
          </a:solidFill>
          <a:ln/>
        </p:spPr>
        <p:txBody>
          <a:bodyPr/>
          <a:p/>
        </p:txBody>
      </p:sp>
      <p:sp>
        <p:nvSpPr>
          <p:cNvPr id="59" name="Text 57"/>
          <p:cNvSpPr/>
          <p:nvPr/>
        </p:nvSpPr>
        <p:spPr>
          <a:xfrm>
            <a:off x="1047750" y="8073703"/>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Saturation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more people than cars can move</a:t>
            </a:r>
            <a:endParaRPr lang="en-US" sz="1800" dirty="0"/>
          </a:p>
        </p:txBody>
      </p:sp>
      <p:sp>
        <p:nvSpPr>
          <p:cNvPr id="60" name="Shape 58"/>
          <p:cNvSpPr/>
          <p:nvPr/>
        </p:nvSpPr>
        <p:spPr>
          <a:xfrm>
            <a:off x="5905500" y="8660383"/>
            <a:ext cx="7448550" cy="9525"/>
          </a:xfrm>
          <a:prstGeom prst="rect">
            <a:avLst/>
          </a:prstGeom>
          <a:solidFill>
            <a:srgbClr val="E1DFD9"/>
          </a:solidFill>
          <a:ln/>
        </p:spPr>
        <p:txBody>
          <a:bodyPr/>
          <a:p/>
        </p:txBody>
      </p:sp>
      <p:sp>
        <p:nvSpPr>
          <p:cNvPr id="61" name="Text 59"/>
          <p:cNvSpPr/>
          <p:nvPr/>
        </p:nvSpPr>
        <p:spPr>
          <a:xfrm>
            <a:off x="6134100" y="8073703"/>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No rule fixes a capacity problem — the three rules are within noise. The levers are cars and capacity.</a:t>
            </a:r>
            <a:endParaRPr lang="en-US" sz="1800" dirty="0"/>
          </a:p>
        </p:txBody>
      </p:sp>
      <p:sp>
        <p:nvSpPr>
          <p:cNvPr id="62" name="Shape 60"/>
          <p:cNvSpPr/>
          <p:nvPr/>
        </p:nvSpPr>
        <p:spPr>
          <a:xfrm>
            <a:off x="13354050" y="8660383"/>
            <a:ext cx="3886200" cy="9525"/>
          </a:xfrm>
          <a:prstGeom prst="rect">
            <a:avLst/>
          </a:prstGeom>
          <a:solidFill>
            <a:srgbClr val="E1DFD9"/>
          </a:solidFill>
          <a:ln/>
        </p:spPr>
        <p:txBody>
          <a:bodyPr/>
          <a:p/>
        </p:txBody>
      </p:sp>
      <p:sp>
        <p:nvSpPr>
          <p:cNvPr id="63" name="Text 61"/>
          <p:cNvSpPr/>
          <p:nvPr/>
        </p:nvSpPr>
        <p:spPr>
          <a:xfrm>
            <a:off x="13354050" y="8073703"/>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20 seeds · the rule does not matter</a:t>
            </a:r>
            <a:endParaRPr lang="en-US" sz="1800" dirty="0"/>
          </a:p>
        </p:txBody>
      </p:sp>
      <p:sp>
        <p:nvSpPr>
          <p:cNvPr id="64" name="Shape 62"/>
          <p:cNvSpPr/>
          <p:nvPr/>
        </p:nvSpPr>
        <p:spPr>
          <a:xfrm>
            <a:off x="1047750" y="9294688"/>
            <a:ext cx="4857750" cy="9525"/>
          </a:xfrm>
          <a:prstGeom prst="rect">
            <a:avLst/>
          </a:prstGeom>
          <a:solidFill>
            <a:srgbClr val="E1DFD9"/>
          </a:solidFill>
          <a:ln/>
        </p:spPr>
        <p:txBody>
          <a:bodyPr/>
          <a:p/>
        </p:txBody>
      </p:sp>
      <p:sp>
        <p:nvSpPr>
          <p:cNvPr id="65" name="Text 63"/>
          <p:cNvSpPr/>
          <p:nvPr/>
        </p:nvSpPr>
        <p:spPr>
          <a:xfrm>
            <a:off x="1047750" y="8708008"/>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Zoning and express cars</a:t>
            </a:r>
            <a:endParaRPr lang="en-US" sz="1800" dirty="0"/>
          </a:p>
        </p:txBody>
      </p:sp>
      <p:sp>
        <p:nvSpPr>
          <p:cNvPr id="66" name="Shape 64"/>
          <p:cNvSpPr/>
          <p:nvPr/>
        </p:nvSpPr>
        <p:spPr>
          <a:xfrm>
            <a:off x="5905500" y="9294688"/>
            <a:ext cx="7448550" cy="9525"/>
          </a:xfrm>
          <a:prstGeom prst="rect">
            <a:avLst/>
          </a:prstGeom>
          <a:solidFill>
            <a:srgbClr val="E1DFD9"/>
          </a:solidFill>
          <a:ln/>
        </p:spPr>
        <p:txBody>
          <a:bodyPr/>
          <a:p/>
        </p:txBody>
      </p:sp>
      <p:sp>
        <p:nvSpPr>
          <p:cNvPr id="67" name="Text 65"/>
          <p:cNvSpPr/>
          <p:nvPr/>
        </p:nvSpPr>
        <p:spPr>
          <a:xfrm>
            <a:off x="6134100" y="8708008"/>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 </a:t>
            </a:r>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null result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at moderate load: 24.4 vs 24.8 across seeds. The committed 21.4 → 25.8 was one draw.</a:t>
            </a:r>
            <a:endParaRPr lang="en-US" sz="1800" dirty="0"/>
          </a:p>
        </p:txBody>
      </p:sp>
      <p:sp>
        <p:nvSpPr>
          <p:cNvPr id="68" name="Shape 66"/>
          <p:cNvSpPr/>
          <p:nvPr/>
        </p:nvSpPr>
        <p:spPr>
          <a:xfrm>
            <a:off x="13354050" y="9294688"/>
            <a:ext cx="3886200" cy="9525"/>
          </a:xfrm>
          <a:prstGeom prst="rect">
            <a:avLst/>
          </a:prstGeom>
          <a:solidFill>
            <a:srgbClr val="E1DFD9"/>
          </a:solidFill>
          <a:ln/>
        </p:spPr>
        <p:txBody>
          <a:bodyPr/>
          <a:p/>
        </p:txBody>
      </p:sp>
      <p:sp>
        <p:nvSpPr>
          <p:cNvPr id="69" name="Text 67"/>
          <p:cNvSpPr/>
          <p:nvPr/>
        </p:nvSpPr>
        <p:spPr>
          <a:xfrm>
            <a:off x="13354050" y="8708008"/>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Null, 20 seeds · saturated case untested</a:t>
            </a:r>
            <a:endParaRPr lang="en-US" sz="1800" dirty="0"/>
          </a:p>
        </p:txBody>
      </p:sp>
      <p:sp>
        <p:nvSpPr>
          <p:cNvPr id="70" name="Text 6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71" name="Text 6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16 / 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Limits of the model</a:t>
            </a:r>
            <a:endParaRPr lang="en-US" sz="5400" dirty="0"/>
          </a:p>
        </p:txBody>
      </p:sp>
      <p:sp>
        <p:nvSpPr>
          <p:cNvPr id="3" name="Text 1"/>
          <p:cNvSpPr/>
          <p:nvPr/>
        </p:nvSpPr>
        <p:spPr>
          <a:xfrm>
            <a:off x="10477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NOT MODELLED</a:t>
            </a:r>
            <a:endParaRPr lang="en-US" sz="1800" dirty="0"/>
          </a:p>
        </p:txBody>
      </p:sp>
      <p:sp>
        <p:nvSpPr>
          <p:cNvPr id="4" name="Text 2"/>
          <p:cNvSpPr/>
          <p:nvPr/>
        </p:nvSpPr>
        <p:spPr>
          <a:xfrm>
            <a:off x="8343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Door and acceleration physics — a stop is one tick, whoever boards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Reassignment after dispatch,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Sky-lobby transfers across zones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Passenger no-shows and group entries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Energy</a:t>
            </a:r>
            <a:endParaRPr lang="en-US" sz="2400" dirty="0"/>
          </a:p>
        </p:txBody>
      </p:sp>
      <p:sp>
        <p:nvSpPr>
          <p:cNvPr id="5" name="Text 3"/>
          <p:cNvSpPr/>
          <p:nvPr/>
        </p:nvSpPr>
        <p:spPr>
          <a:xfrm>
            <a:off x="96202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WHAT WOULD SHARPEN THE CONCLUSIONS</a:t>
            </a:r>
            <a:endParaRPr lang="en-US" sz="1800" dirty="0"/>
          </a:p>
        </p:txBody>
      </p:sp>
      <p:sp>
        <p:nvSpPr>
          <p:cNvPr id="6" name="Text 4"/>
          <p:cNvSpPr/>
          <p:nvPr/>
        </p:nvSpPr>
        <p:spPr>
          <a:xfrm>
            <a:off x="9406890" y="2697435"/>
            <a:ext cx="7909560" cy="36039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Group entries and no-shows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reassignment window,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saturated counterpart to the zoning experiment</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More than one burst shape — thirty people at one floor was the only one tried</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Batch re-optimisation in place of greedy per-request choice</a:t>
            </a:r>
            <a:endParaRPr lang="en-US" sz="2400" dirty="0"/>
          </a:p>
        </p:txBody>
      </p:sp>
      <p:sp>
        <p:nvSpPr>
          <p:cNvPr id="7" name="Shape 5"/>
          <p:cNvSpPr/>
          <p:nvPr/>
        </p:nvSpPr>
        <p:spPr>
          <a:xfrm>
            <a:off x="1047750" y="6872883"/>
            <a:ext cx="14859000" cy="9525"/>
          </a:xfrm>
          <a:prstGeom prst="rect">
            <a:avLst/>
          </a:prstGeom>
          <a:solidFill>
            <a:srgbClr val="E1DFD9"/>
          </a:solidFill>
          <a:ln/>
        </p:spPr>
        <p:txBody>
          <a:bodyPr/>
          <a:p/>
        </p:txBody>
      </p:sp>
      <p:sp>
        <p:nvSpPr>
          <p:cNvPr id="8" name="Text 6"/>
          <p:cNvSpPr/>
          <p:nvPr/>
        </p:nvSpPr>
        <p:spPr>
          <a:xfrm>
            <a:off x="1047750" y="7187208"/>
            <a:ext cx="15304770"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Seed variance, arrival rate and car count have since been swept, and the stop cost tested at 0, 1 and 2: the ranking held at every point. Measuring changed two secondary claims and one stated mechanism — which is what the remaining items would do to the rest.</a:t>
            </a:r>
            <a:endParaRPr lang="en-US" sz="2400" dirty="0"/>
          </a:p>
        </p:txBody>
      </p:sp>
      <p:sp>
        <p:nvSpPr>
          <p:cNvPr id="9" name="Text 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0" name="Text 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17 / 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I would do next</a:t>
            </a:r>
            <a:endParaRPr lang="en-US" sz="5400" dirty="0"/>
          </a:p>
        </p:txBody>
      </p:sp>
      <p:sp>
        <p:nvSpPr>
          <p:cNvPr id="3" name="Text 1"/>
          <p:cNvSpPr/>
          <p:nvPr/>
        </p:nvSpPr>
        <p:spPr>
          <a:xfrm>
            <a:off x="1047750" y="2202135"/>
            <a:ext cx="779714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BUILD, IN THIS ORDER</a:t>
            </a:r>
            <a:endParaRPr lang="en-US" sz="1800" dirty="0"/>
          </a:p>
        </p:txBody>
      </p:sp>
      <p:sp>
        <p:nvSpPr>
          <p:cNvPr id="4" name="Text 2"/>
          <p:cNvSpPr/>
          <p:nvPr/>
        </p:nvSpPr>
        <p:spPr>
          <a:xfrm>
            <a:off x="1047750" y="2697435"/>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5" name="Text 3"/>
          <p:cNvSpPr/>
          <p:nvPr/>
        </p:nvSpPr>
        <p:spPr>
          <a:xfrm>
            <a:off x="1771650" y="2697435"/>
            <a:ext cx="6555344"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Reassignment window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move a passenger until their car starts slowing, as hybrid systems do.</a:t>
            </a:r>
            <a:endParaRPr lang="en-US" sz="2400" dirty="0"/>
          </a:p>
        </p:txBody>
      </p:sp>
      <p:sp>
        <p:nvSpPr>
          <p:cNvPr id="6" name="Text 4"/>
          <p:cNvSpPr/>
          <p:nvPr/>
        </p:nvSpPr>
        <p:spPr>
          <a:xfrm>
            <a:off x="1047750" y="4179391"/>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7" name="Text 5"/>
          <p:cNvSpPr/>
          <p:nvPr/>
        </p:nvSpPr>
        <p:spPr>
          <a:xfrm>
            <a:off x="1771650" y="4179391"/>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Batch re-optimisation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revisit outstanding assignments every few ticks.</a:t>
            </a:r>
            <a:endParaRPr lang="en-US" sz="2400" dirty="0"/>
          </a:p>
        </p:txBody>
      </p:sp>
      <p:sp>
        <p:nvSpPr>
          <p:cNvPr id="8" name="Text 6"/>
          <p:cNvSpPr/>
          <p:nvPr/>
        </p:nvSpPr>
        <p:spPr>
          <a:xfrm>
            <a:off x="1047750" y="5249912"/>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9" name="Text 7"/>
          <p:cNvSpPr/>
          <p:nvPr/>
        </p:nvSpPr>
        <p:spPr>
          <a:xfrm>
            <a:off x="1771650" y="5249912"/>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Time-of-day policies — the fairness weight following the traffic profile, as the park floor now does.</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r>
            <a:endParaRPr lang="en-US" sz="2400" dirty="0"/>
          </a:p>
        </p:txBody>
      </p:sp>
      <p:sp>
        <p:nvSpPr>
          <p:cNvPr id="10" name="Text 8"/>
          <p:cNvSpPr/>
          <p:nvPr/>
        </p:nvSpPr>
        <p:spPr>
          <a:xfrm>
            <a:off x="9088562" y="2202135"/>
            <a:ext cx="896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QUESTIONS FOR A REAL CUSTOMER FIRST</a:t>
            </a:r>
            <a:endParaRPr lang="en-US" sz="1800" dirty="0"/>
          </a:p>
        </p:txBody>
      </p:sp>
      <p:sp>
        <p:nvSpPr>
          <p:cNvPr id="11" name="Text 9"/>
          <p:cNvSpPr/>
          <p:nvPr/>
        </p:nvSpPr>
        <p:spPr>
          <a:xfrm>
            <a:off x="8875202" y="2697435"/>
            <a:ext cx="8441174" cy="36801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What does your traffic look like — arrival rate and mix, by hour?</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Which complaint are we fixing: the average wait, or the worst one?</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Is a zoned or sky-lobby bank on the table, or one free group?</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May the display change a passenger’s car after it is shown?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 people travel in groups, and how often do they not show up?</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18 / 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2807122"/>
            <a:ext cx="15304770" cy="2232571"/>
          </a:xfrm>
          <a:prstGeom prst="rect">
            <a:avLst/>
          </a:prstGeom>
          <a:noFill/>
          <a:ln/>
        </p:spPr>
        <p:txBody>
          <a:bodyPr wrap="square" lIns="25400" tIns="25400" rIns="25400" bIns="25400" rtlCol="0" anchor="t">
            <a:normAutofit/>
          </a:bodyPr>
          <a:lstStyle/>
          <a:p>
            <a:pPr algn="l" indent="0" marL="0">
              <a:lnSpc>
                <a:spcPct val="104490"/>
              </a:lnSpc>
              <a:buNone/>
            </a:pPr>
            <a:r>
              <a:rPr lang="en-US" sz="4800" b="1" spc="-96" kern="0" dirty="0">
                <a:solidFill>
                  <a:srgbClr val="F6F5F2"/>
                </a:solidFill>
                <a:latin typeface="Arial" pitchFamily="34" charset="0"/>
                <a:ea typeface="Arial" pitchFamily="34" charset="-122"/>
                <a:cs typeface="Arial" pitchFamily="34" charset="-120"/>
              </a:rPr>
              <a:t>A rule that accounts for queued stops and the delay it inflicts on others beats rules that do not — increasingly so as buildings get taller and busier.</a:t>
            </a:r>
            <a:endParaRPr lang="en-US" sz="4800" dirty="0"/>
          </a:p>
        </p:txBody>
      </p:sp>
      <p:sp>
        <p:nvSpPr>
          <p:cNvPr id="3" name="Shape 1"/>
          <p:cNvSpPr/>
          <p:nvPr/>
        </p:nvSpPr>
        <p:spPr>
          <a:xfrm>
            <a:off x="1047750" y="5839792"/>
            <a:ext cx="16192500" cy="9525"/>
          </a:xfrm>
          <a:prstGeom prst="rect">
            <a:avLst/>
          </a:prstGeom>
          <a:solidFill>
            <a:srgbClr val="34332F"/>
          </a:solidFill>
          <a:ln/>
        </p:spPr>
        <p:txBody>
          <a:bodyPr/>
          <a:p/>
        </p:txBody>
      </p:sp>
      <p:sp>
        <p:nvSpPr>
          <p:cNvPr id="4" name="Text 2"/>
          <p:cNvSpPr/>
          <p:nvPr/>
        </p:nvSpPr>
        <p:spPr>
          <a:xfrm>
            <a:off x="1047750" y="6230317"/>
            <a:ext cx="549021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REPOSITORY</a:t>
            </a:r>
            <a:endParaRPr lang="en-US" sz="1800" dirty="0"/>
          </a:p>
        </p:txBody>
      </p:sp>
      <p:sp>
        <p:nvSpPr>
          <p:cNvPr id="5" name="Text 3"/>
          <p:cNvSpPr/>
          <p:nvPr/>
        </p:nvSpPr>
        <p:spPr>
          <a:xfrm>
            <a:off x="1047750" y="6611317"/>
            <a:ext cx="5140833" cy="678061"/>
          </a:xfrm>
          <a:prstGeom prst="rect">
            <a:avLst/>
          </a:prstGeom>
          <a:noFill/>
          <a:ln/>
        </p:spPr>
        <p:txBody>
          <a:bodyPr wrap="square" lIns="25400" tIns="25400" rIns="25400" bIns="25400" rtlCol="0" anchor="t">
            <a:normAutofit/>
          </a:bodyPr>
          <a:lstStyle/>
          <a:p>
            <a:pPr algn="l" indent="0" marL="0">
              <a:lnSpc>
                <a:spcPct val="124444"/>
              </a:lnSpc>
              <a:buNone/>
            </a:pPr>
            <a:r>
              <a:rPr lang="en-US" sz="1800" dirty="0">
                <a:solidFill>
                  <a:srgbClr val="F6F5F2"/>
                </a:solidFill>
                <a:latin typeface="Courier New" pitchFamily="34" charset="0"/>
                <a:ea typeface="Courier New" pitchFamily="34" charset="-122"/>
                <a:cs typeface="Courier New" pitchFamily="34" charset="-120"/>
              </a:rPr>
              <a:t>github.com/samuelgregorovic/elevator-dispatch-sim</a:t>
            </a:r>
            <a:endParaRPr lang="en-US" sz="1800" dirty="0"/>
          </a:p>
        </p:txBody>
      </p:sp>
      <p:sp>
        <p:nvSpPr>
          <p:cNvPr id="6" name="Text 4"/>
          <p:cNvSpPr/>
          <p:nvPr/>
        </p:nvSpPr>
        <p:spPr>
          <a:xfrm>
            <a:off x="6648450" y="6230317"/>
            <a:ext cx="549021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LIVE SIMULATOR</a:t>
            </a:r>
            <a:endParaRPr lang="en-US" sz="1800" dirty="0"/>
          </a:p>
        </p:txBody>
      </p:sp>
      <p:sp>
        <p:nvSpPr>
          <p:cNvPr id="7" name="Text 5"/>
          <p:cNvSpPr/>
          <p:nvPr/>
        </p:nvSpPr>
        <p:spPr>
          <a:xfrm>
            <a:off x="6648450" y="6611317"/>
            <a:ext cx="5140833" cy="678061"/>
          </a:xfrm>
          <a:prstGeom prst="rect">
            <a:avLst/>
          </a:prstGeom>
          <a:noFill/>
          <a:ln/>
        </p:spPr>
        <p:txBody>
          <a:bodyPr wrap="square" lIns="25400" tIns="25400" rIns="25400" bIns="25400" rtlCol="0" anchor="t">
            <a:normAutofit/>
          </a:bodyPr>
          <a:lstStyle/>
          <a:p>
            <a:pPr algn="l" indent="0" marL="0">
              <a:lnSpc>
                <a:spcPct val="124444"/>
              </a:lnSpc>
              <a:buNone/>
            </a:pPr>
            <a:r>
              <a:rPr lang="en-US" sz="1800" dirty="0">
                <a:solidFill>
                  <a:srgbClr val="F6F5F2"/>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8" name="Text 6"/>
          <p:cNvSpPr/>
          <p:nvPr/>
        </p:nvSpPr>
        <p:spPr>
          <a:xfrm>
            <a:off x="12249150" y="6230317"/>
            <a:ext cx="549021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ANALYSIS EXPLORER</a:t>
            </a:r>
            <a:endParaRPr lang="en-US" sz="1800" dirty="0"/>
          </a:p>
        </p:txBody>
      </p:sp>
      <p:sp>
        <p:nvSpPr>
          <p:cNvPr id="9" name="Text 7"/>
          <p:cNvSpPr/>
          <p:nvPr/>
        </p:nvSpPr>
        <p:spPr>
          <a:xfrm>
            <a:off x="12249150" y="6611317"/>
            <a:ext cx="5140833" cy="678061"/>
          </a:xfrm>
          <a:prstGeom prst="rect">
            <a:avLst/>
          </a:prstGeom>
          <a:noFill/>
          <a:ln/>
        </p:spPr>
        <p:txBody>
          <a:bodyPr wrap="square" lIns="25400" tIns="25400" rIns="25400" bIns="25400" rtlCol="0" anchor="t">
            <a:normAutofit/>
          </a:bodyPr>
          <a:lstStyle/>
          <a:p>
            <a:pPr algn="l" indent="0" marL="0">
              <a:lnSpc>
                <a:spcPct val="124444"/>
              </a:lnSpc>
              <a:buNone/>
            </a:pPr>
            <a:r>
              <a:rPr lang="en-US" sz="1800" dirty="0">
                <a:solidFill>
                  <a:srgbClr val="F6F5F2"/>
                </a:solidFill>
                <a:latin typeface="Courier New" pitchFamily="34" charset="0"/>
                <a:ea typeface="Courier New" pitchFamily="34" charset="-122"/>
                <a:cs typeface="Courier New" pitchFamily="34" charset="-120"/>
              </a:rPr>
              <a:t>samuelgregorovic.github.io/elevator-dispatch-sim/docs/results/</a:t>
            </a:r>
            <a:endParaRPr lang="en-US" sz="1800" dirty="0"/>
          </a:p>
        </p:txBody>
      </p:sp>
      <p:sp>
        <p:nvSpPr>
          <p:cNvPr id="10" name="Text 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1" name="Text 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19 / 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2026-09-15T14:29:03Z</dcterms:created>
  <dcterms:modified xsi:type="dcterms:W3CDTF">2026-09-15T14:29:03Z</dcterms:modified>
</cp:coreProperties>
</file>