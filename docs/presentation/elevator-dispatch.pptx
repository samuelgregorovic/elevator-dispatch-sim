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This is a walkthrough of the elevator-dispatch simulator: what the question was, what I built, what the measurements say, and how the work was done. Fifteen minutes, then questions; halfway through I will switch to the live simulator for a couple of minutes. The problem first; then what was built, how, and how it was checked; then the live simulator; then the answer, the findings, and what to do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destination-controlled building you type your floor before you board and a display says: car C. That assignment is final. Good means three things at once: short waits, short total journeys, and nobody left standing for a very long time. It is not obvious because the controller cannot see the future, and because the fastest average tends to bundle people onto a car already going their way — efficient in aggregate, occasionally cruel to the individual who keeps being passed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Requests come in as a CSV, are validated, and a feed releases each one to the controller exactly at its time — never earlier. The tick loop asks a scheduler which car; three rules answer behind one interface. The loop moves the cars and writes the positions log, a trace and statistics. Around that: a seeded generator for seven traffic patterns — each re-drawn with twenty fresh seeds in the robustness study — a compare command, charts, a browser simulator that runs a JavaScript port of the same engine, and 192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the point, not the tool. Seven phases. I framed the problem from the brief and answered the assistant’s four questions; together we fixed a plan that pinned every ambiguity and set working rules. Then research into how real controllers assign cars and what traffic looks like, the build with tests at every level, the measurement — comparison, charts, car usage, the browser simulator — an adversarial review including a twenty-seed robustness study, and the documentation and this deck. My part throughout: intent, scope, quality bar, every judgement call, review at each checkpoint. The assistant drafted, researched, built, tested and challenged, executing the plan autonomously. Time, honestly: two sessions on consecutive days, one to two hours of my attention on the first and two to three on the second, about six hours of wall-clock with the assistant doing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engineers — I will skip this if we are short on time. Time is discrete: one tick is one floor of travel, and a stop costs one tick; without a stop cost, fewer stops would have no effect and all three rules would look the same. Inside a tick the order is fixed: release and assign, unload then load, log, advance. Three things are enforced by structure rather than promised: the feed cannot release a future request, assignment is immutable, and cars follow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one interface. Smart dispatch projects each candidate car’s route with and without the new passenger, using the simulation’s own movement code, and charges the passenger’s own time to destination plus the delay inflicted on everyone already assigned — the estimated-time-to-destination method Peters Research describes and commercial controllers use. Nearest car sends the closest car going the right way and ignores how many stops that car already has. Take turns uses no information at all — the floor for the comparison, and by accident the most even-handed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and the numbers: why you should believe them. 192 tests at six levels — unit tests for every observable assumption, a structural no-peek-ahead test, property-based invariants over random buildings, golden statistics that now pin every committed result so a behaviour change forces a documentation change, end-to-end CLI checks, and a conformance matrix that runs the JavaScript port on all fifty scenario-by-variant combinations and asserts identical positions, events and car usage. Then an adversarial review of the whole repository: forty-one findings, no blockers, eight major; sixteen changed code or tests, twenty-one changed documents, four resolved otherwise. The review also re-drew every pattern with twenty fresh seeds — the headline held, two secondary claims did not. Sceptic’s question: two engines agreeing only proves they share the same bugs. Correct — conformance proves equality, not correctness; correctness comes from the unit and property tests and from a 400-seed fuzz, which broke no invariant.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simulator — the same engine, ported to JavaScript and verified identical to Python on all fifty scenario-by-rule combinations. I will run the morning rush: 160 people, 4 cars, 20 floors, 8 per car. Watch the ranking at the top of each building change as people are delivered; watch nearest car pile passengers onto whichever car is closest to the lobby while take turns sends a far car; watch the usage strip under each building — one bar per car — to see smart dispatch leave cars idle while take turns keeps all of them busy; then I will tick park at lobby and click a floor to add a passenger — everyone I add goes to all three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from the demo — now the question, and the short answer. The question is simple to state: a bank of cars, passengers who tell the system where they are going, a controller that must pick a car for each one — how much does the rule matter? The answer, measured on identical traffic and then re-drawn twenty times per pattern, is a lot. Smart dispatch waits are 1.2 to 2.6 times shorter than nearest car across seeds — 3.7 on the committed tower draw, which was a high one — and 2 to 3 times shorter than taking turns. It had the lowest average wait in 119 of 120 runs on the six realistic patterns; on the saturated lobby burst the rules are within noise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average wait in ticks, on the committed draw of each pattern. Smart dispatch wins the four office patterns and the tower. Two cases go the other way and I would rather show them than hide them. Under the lobby burst — 76 people, one origin, two small cars — the three rules are within noise of each other: 60.3 against 60.1 here, and across twenty seeds 55, 61 and 59 with a standard deviation of about 20; when the system is saturated the rule does not matter. And on the brief’s own three-passenger sample nearest car wins: smart dispatch splits two lobby passengers across both cars to save a stop, so no car is idle when the third request comes. Sceptic’s question: why not tune the sample away? Because a greedy per-request rule can lose on tiny inputs, and the fix — batch re-optimisation — is a real change, first on the future-work list, not a parameter tweak.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committed chart: average wait on the left, 90th percentile on the right, every scenario, all three rules on identical traffic. Blue is lowest on every realistic pattern, and the gap grows as the building gets taller and busier: small on quiet interfloor traffic, very large on the 51-floor tower. Sceptic’s question: every scenario is one seed — how do you know? The final review re-drew every pattern with twenty fresh seeds. The direction is robust: smart dispatch had the lowest average wait in 119 of 120 runs on the six realistic patterns. The size is not: the tower ratio is 2.6 ± 0.8 across seeds and the committed 3.7 was a high draw. Two secondary claims did not reproduce, and they are on the use-case slide after the demo,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 time says how the passengers fared; this says how the cars were used. A car is busy when it has someone aboard or someone assigned and still waiting. Three points. Smart dispatch does the same job with the least car-time — 62% busy in the morning peak against 89% and 95% — because fewer stops per trip is less travel per passenger; take turns keeps its cars busiest everywhere, which is waste, not throughput. But smart dispatch shares the work least evenly: one car in four carries 36% of the morning passengers where a fair share is 25%. And the fairness weight evens the cars as a side effect — 30 to 18 points in the morning, 21 to 5 at lunch, 33 to 10 on the tall lobby on the committed draws, and narrower in 11 to 15 of 20 fresh seeds on every pattern. One knob, two effects — it also raises the average wait in most seeds. Sceptic’s question: busy for a car that is travelling to a pickup — is that use or waste? It is work caused by the assignment, so it counts; that is the definition in A20, and a car driving to its parking floor is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output, with the evidence strength after the final review re-drew every pattern twenty times. Ordinary offices: smart dispatch, 20 of 20 seeds on each peak. Tall buildings: this is where the rule matters most — 2.6 times across seeds, 3.7 on the committed draw, and nearest car’s worst wait around 250 ticks against 65. Two rows changed. The fairness weight only reliably shortens the tail under saturation: on the tower the 108 to 56 was one draw — it lowered the maximum in 4 of 20 seeds and raised the average in 18. And zoning is a null result: 24.4 against 24.8 across seeds, not the harm first reported. Parking held on every seed, about 39% off the up-peak average. Where even wear matters, add the fairness weight rather than switching to take turns. Sceptic’s question: ticks are not seconds, so what do the absolutes mean? Nothing directly: a tick is one floor of travel and one stop; trust the ratios and the direction, not the absolute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model does not do. No door or acceleration physics — a stop is one tick regardless of who boards. No reassignment after dispatch, no sky-lobby transfers, no no-shows or groups, no energy. One traffic level per pattern; the zoning experiment lacks its saturated counterpart. Seed variance is the one item on this list that has since been measured: twenty fresh draws of every pattern. The headline survived; two secondary claims did not — the fairness weight on the tower and the harm from zoning — and that is the honest reason the remaining sweeps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in order of expected effect: a reassignment window, which is what hybrid systems do and the change most likely to help under bursty load; batch re-optimisation every few ticks, which addresses the greedy loss on the sample; and policies that follow the time of day. Before building any of it I would ask a customer five things — because the answers decide which of these matters, and whether a tick-based model is even the right tool for their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 have shown is in the repository — every number regenerates from the commands in the README, and the simulator runs the same engine in your browser. One line to take away: a rule that accounts for queued stops and the delay it inflicts on others beats rules that do not, increasingly so as buildings get taller and busier.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19"/>
        </a:solidFill>
      </p:bgPr>
    </p:bg>
    <p:spTree>
      <p:nvGrpSpPr>
        <p:cNvPr id="1" name=""/>
        <p:cNvGrpSpPr/>
        <p:nvPr/>
      </p:nvGrpSpPr>
      <p:grpSpPr>
        <a:xfrm>
          <a:off x="0" y="0"/>
          <a:ext cx="0" cy="0"/>
          <a:chOff x="0" y="0"/>
          <a:chExt cx="0" cy="0"/>
        </a:xfrm>
      </p:grpSpPr>
      <p:sp>
        <p:nvSpPr>
          <p:cNvPr id="2" name="Shape 0"/>
          <p:cNvSpPr/>
          <p:nvPr/>
        </p:nvSpPr>
        <p:spPr>
          <a:xfrm>
            <a:off x="1047750" y="5573092"/>
            <a:ext cx="419100" cy="114300"/>
          </a:xfrm>
          <a:prstGeom prst="rect">
            <a:avLst/>
          </a:prstGeom>
          <a:solidFill>
            <a:srgbClr val="2F6FD0"/>
          </a:solidFill>
          <a:ln/>
        </p:spPr>
        <p:txBody>
          <a:bodyPr/>
          <a:p/>
        </p:txBody>
      </p:sp>
      <p:sp>
        <p:nvSpPr>
          <p:cNvPr id="3" name="Shape 1"/>
          <p:cNvSpPr/>
          <p:nvPr/>
        </p:nvSpPr>
        <p:spPr>
          <a:xfrm>
            <a:off x="1600200" y="5573092"/>
            <a:ext cx="419100" cy="114300"/>
          </a:xfrm>
          <a:prstGeom prst="rect">
            <a:avLst/>
          </a:prstGeom>
          <a:solidFill>
            <a:srgbClr val="D9762B"/>
          </a:solidFill>
          <a:ln/>
        </p:spPr>
        <p:txBody>
          <a:bodyPr/>
          <a:p/>
        </p:txBody>
      </p:sp>
      <p:sp>
        <p:nvSpPr>
          <p:cNvPr id="4" name="Shape 2"/>
          <p:cNvSpPr/>
          <p:nvPr/>
        </p:nvSpPr>
        <p:spPr>
          <a:xfrm>
            <a:off x="2152650" y="5573092"/>
            <a:ext cx="419100" cy="114300"/>
          </a:xfrm>
          <a:prstGeom prst="rect">
            <a:avLst/>
          </a:prstGeom>
          <a:solidFill>
            <a:srgbClr val="2A9D74"/>
          </a:solidFill>
          <a:ln/>
        </p:spPr>
        <p:txBody>
          <a:bodyPr/>
          <a:p/>
        </p:txBody>
      </p:sp>
      <p:sp>
        <p:nvSpPr>
          <p:cNvPr id="5" name="Text 3"/>
          <p:cNvSpPr/>
          <p:nvPr/>
        </p:nvSpPr>
        <p:spPr>
          <a:xfrm>
            <a:off x="1047750" y="6068392"/>
            <a:ext cx="15716250" cy="1203945"/>
          </a:xfrm>
          <a:prstGeom prst="rect">
            <a:avLst/>
          </a:prstGeom>
          <a:noFill/>
          <a:ln/>
        </p:spPr>
        <p:txBody>
          <a:bodyPr wrap="square" lIns="25400" tIns="25400" rIns="25400" bIns="25400" rtlCol="0" anchor="t">
            <a:normAutofit/>
          </a:bodyPr>
          <a:lstStyle/>
          <a:p>
            <a:pPr algn="l" indent="0" marL="0">
              <a:lnSpc>
                <a:spcPct val="88696"/>
              </a:lnSpc>
              <a:buNone/>
            </a:pPr>
            <a:r>
              <a:rPr lang="en-US" sz="9000" b="1" spc="-225" kern="0" dirty="0">
                <a:solidFill>
                  <a:srgbClr val="F6F5F2"/>
                </a:solidFill>
                <a:latin typeface="Arial" pitchFamily="34" charset="0"/>
                <a:ea typeface="Arial" pitchFamily="34" charset="-122"/>
                <a:cs typeface="Arial" pitchFamily="34" charset="-120"/>
              </a:rPr>
              <a:t>Which car should you get?</a:t>
            </a:r>
            <a:endParaRPr lang="en-US" sz="9000" dirty="0"/>
          </a:p>
        </p:txBody>
      </p:sp>
      <p:sp>
        <p:nvSpPr>
          <p:cNvPr id="6" name="Text 4"/>
          <p:cNvSpPr/>
          <p:nvPr/>
        </p:nvSpPr>
        <p:spPr>
          <a:xfrm>
            <a:off x="1047750" y="7577138"/>
            <a:ext cx="14668500" cy="533400"/>
          </a:xfrm>
          <a:prstGeom prst="rect">
            <a:avLst/>
          </a:prstGeom>
          <a:noFill/>
          <a:ln/>
        </p:spPr>
        <p:txBody>
          <a:bodyPr wrap="square" lIns="25400" tIns="25400" rIns="25400" bIns="25400" rtlCol="0" anchor="t">
            <a:normAutofit/>
          </a:bodyPr>
          <a:lstStyle/>
          <a:p>
            <a:pPr algn="l" indent="0" marL="0">
              <a:lnSpc>
                <a:spcPct val="113043"/>
              </a:lnSpc>
              <a:buNone/>
            </a:pPr>
            <a:r>
              <a:rPr lang="en-US" sz="3000" spc="-12" kern="0" dirty="0">
                <a:solidFill>
                  <a:srgbClr val="C9C7C0"/>
                </a:solidFill>
                <a:latin typeface="Arial" pitchFamily="34" charset="0"/>
                <a:ea typeface="Arial" pitchFamily="34" charset="-122"/>
                <a:cs typeface="Arial" pitchFamily="34" charset="-120"/>
              </a:rPr>
              <a:t>Dispatch rules for destination-controlled elevators, measured</a:t>
            </a:r>
            <a:endParaRPr lang="en-US" sz="3000" dirty="0"/>
          </a:p>
        </p:txBody>
      </p:sp>
      <p:sp>
        <p:nvSpPr>
          <p:cNvPr id="7" name="Text 5"/>
          <p:cNvSpPr/>
          <p:nvPr/>
        </p:nvSpPr>
        <p:spPr>
          <a:xfrm>
            <a:off x="1047750" y="8834438"/>
            <a:ext cx="17811750" cy="347663"/>
          </a:xfrm>
          <a:prstGeom prst="rect">
            <a:avLst/>
          </a:prstGeom>
          <a:noFill/>
          <a:ln/>
        </p:spPr>
        <p:txBody>
          <a:bodyPr wrap="square" lIns="25400" tIns="25400" rIns="25400" bIns="25400" rtlCol="0" anchor="t">
            <a:normAutofit/>
          </a:bodyPr>
          <a:lstStyle/>
          <a:p>
            <a:pPr algn="l" indent="0" marL="0">
              <a:buNone/>
            </a:pPr>
            <a:r>
              <a:rPr lang="en-US" sz="2100" spc="-12" kern="0" dirty="0">
                <a:solidFill>
                  <a:srgbClr val="9B998F"/>
                </a:solidFill>
                <a:latin typeface="Courier New" pitchFamily="34" charset="0"/>
                <a:ea typeface="Courier New" pitchFamily="34" charset="-122"/>
                <a:cs typeface="Courier New" pitchFamily="34" charset="-120"/>
              </a:rPr>
              <a:t>elevator-dispatch-sim · one engineer, one AI assistant, one brief</a:t>
            </a:r>
            <a:endParaRPr lang="en-US" sz="2100" dirty="0"/>
          </a:p>
        </p:txBody>
      </p:sp>
      <p:sp>
        <p:nvSpPr>
          <p:cNvPr id="8" name="Text 6"/>
          <p:cNvSpPr/>
          <p:nvPr/>
        </p:nvSpPr>
        <p:spPr>
          <a:xfrm>
            <a:off x="1047750" y="9601200"/>
            <a:ext cx="4042350" cy="304800"/>
          </a:xfrm>
          <a:prstGeom prst="rect">
            <a:avLst/>
          </a:prstGeom>
          <a:noFill/>
          <a:ln/>
        </p:spPr>
        <p:txBody>
          <a:bodyPr wrap="square" lIns="25400" tIns="25400" rIns="25400" bIns="25400" rtlCol="0" anchor="t">
            <a:normAutofit/>
          </a:bodyPr>
          <a:lstStyle/>
          <a:p>
            <a:pPr algn="l" indent="0" marL="0">
              <a:buNone/>
            </a:pPr>
            <a:r>
              <a:rPr lang="en-US" sz="1800" spc="-12" kern="0" dirty="0">
                <a:solidFill>
                  <a:srgbClr val="77756C"/>
                </a:solidFill>
                <a:latin typeface="Courier New" pitchFamily="34" charset="0"/>
                <a:ea typeface="Courier New" pitchFamily="34" charset="-122"/>
                <a:cs typeface="Courier New" pitchFamily="34" charset="-120"/>
              </a:rPr>
              <a:t>Elevator dispatch, measured</a:t>
            </a:r>
            <a:endParaRPr lang="en-US" sz="1800" dirty="0"/>
          </a:p>
        </p:txBody>
      </p:sp>
      <p:sp>
        <p:nvSpPr>
          <p:cNvPr id="9" name="Text 7"/>
          <p:cNvSpPr/>
          <p:nvPr/>
        </p:nvSpPr>
        <p:spPr>
          <a:xfrm>
            <a:off x="16287452" y="9601200"/>
            <a:ext cx="1028998" cy="304800"/>
          </a:xfrm>
          <a:prstGeom prst="rect">
            <a:avLst/>
          </a:prstGeom>
          <a:noFill/>
          <a:ln/>
        </p:spPr>
        <p:txBody>
          <a:bodyPr wrap="square" lIns="25400" tIns="25400" rIns="25400" bIns="25400" rtlCol="0" anchor="t">
            <a:normAutofit/>
          </a:bodyPr>
          <a:lstStyle/>
          <a:p>
            <a:pPr algn="l" indent="0" marL="0">
              <a:buNone/>
            </a:pPr>
            <a:r>
              <a:rPr lang="en-US" sz="1800" spc="-12" kern="0" dirty="0">
                <a:solidFill>
                  <a:srgbClr val="77756C"/>
                </a:solidFill>
                <a:latin typeface="Courier New" pitchFamily="34" charset="0"/>
                <a:ea typeface="Courier New" pitchFamily="34" charset="-122"/>
                <a:cs typeface="Courier New" pitchFamily="34" charset="-120"/>
              </a:rPr>
              <a:t>01 / 16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The problem in plain language</a:t>
            </a:r>
            <a:endParaRPr lang="en-US" sz="5400" dirty="0"/>
          </a:p>
        </p:txBody>
      </p:sp>
      <p:sp>
        <p:nvSpPr>
          <p:cNvPr id="3" name="Shape 1"/>
          <p:cNvSpPr/>
          <p:nvPr/>
        </p:nvSpPr>
        <p:spPr>
          <a:xfrm>
            <a:off x="1047750" y="2202135"/>
            <a:ext cx="5041850" cy="19050"/>
          </a:xfrm>
          <a:prstGeom prst="rect">
            <a:avLst/>
          </a:prstGeom>
          <a:solidFill>
            <a:srgbClr val="1C1B19"/>
          </a:solidFill>
          <a:ln/>
        </p:spPr>
        <p:txBody>
          <a:bodyPr/>
          <a:p/>
        </p:txBody>
      </p:sp>
      <p:sp>
        <p:nvSpPr>
          <p:cNvPr id="4" name="Text 2"/>
          <p:cNvSpPr/>
          <p:nvPr/>
        </p:nvSpPr>
        <p:spPr>
          <a:xfrm>
            <a:off x="1047750" y="2487885"/>
            <a:ext cx="5546035"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1C1B19"/>
                </a:solidFill>
                <a:latin typeface="Arial" pitchFamily="34" charset="0"/>
                <a:ea typeface="Arial" pitchFamily="34" charset="-122"/>
                <a:cs typeface="Arial" pitchFamily="34" charset="-120"/>
              </a:rPr>
              <a:t>Destination dispatch</a:t>
            </a:r>
            <a:endParaRPr lang="en-US" sz="3000" dirty="0"/>
          </a:p>
        </p:txBody>
      </p:sp>
      <p:sp>
        <p:nvSpPr>
          <p:cNvPr id="5" name="Text 3"/>
          <p:cNvSpPr/>
          <p:nvPr/>
        </p:nvSpPr>
        <p:spPr>
          <a:xfrm>
            <a:off x="1047750" y="3164160"/>
            <a:ext cx="5193106" cy="131817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4C4A44"/>
                </a:solidFill>
                <a:latin typeface="Arial" pitchFamily="34" charset="0"/>
                <a:ea typeface="Arial" pitchFamily="34" charset="-122"/>
                <a:cs typeface="Arial" pitchFamily="34" charset="-120"/>
              </a:rPr>
              <a:t>You enter your destination before you board. The controller picks one car, at that moment, and the choice is final.</a:t>
            </a:r>
            <a:endParaRPr lang="en-US" sz="2400" dirty="0"/>
          </a:p>
        </p:txBody>
      </p:sp>
      <p:sp>
        <p:nvSpPr>
          <p:cNvPr id="6" name="Shape 4"/>
          <p:cNvSpPr/>
          <p:nvPr/>
        </p:nvSpPr>
        <p:spPr>
          <a:xfrm>
            <a:off x="6623000" y="2202135"/>
            <a:ext cx="5041925" cy="19050"/>
          </a:xfrm>
          <a:prstGeom prst="rect">
            <a:avLst/>
          </a:prstGeom>
          <a:solidFill>
            <a:srgbClr val="1C1B19"/>
          </a:solidFill>
          <a:ln/>
        </p:spPr>
        <p:txBody>
          <a:bodyPr/>
          <a:p/>
        </p:txBody>
      </p:sp>
      <p:sp>
        <p:nvSpPr>
          <p:cNvPr id="7" name="Text 5"/>
          <p:cNvSpPr/>
          <p:nvPr/>
        </p:nvSpPr>
        <p:spPr>
          <a:xfrm>
            <a:off x="6623000" y="2487885"/>
            <a:ext cx="5546117"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1C1B19"/>
                </a:solidFill>
                <a:latin typeface="Arial" pitchFamily="34" charset="0"/>
                <a:ea typeface="Arial" pitchFamily="34" charset="-122"/>
                <a:cs typeface="Arial" pitchFamily="34" charset="-120"/>
              </a:rPr>
              <a:t>What good means</a:t>
            </a:r>
            <a:endParaRPr lang="en-US" sz="3000" dirty="0"/>
          </a:p>
        </p:txBody>
      </p:sp>
      <p:sp>
        <p:nvSpPr>
          <p:cNvPr id="8" name="Text 6"/>
          <p:cNvSpPr/>
          <p:nvPr/>
        </p:nvSpPr>
        <p:spPr>
          <a:xfrm>
            <a:off x="6623000" y="3164160"/>
            <a:ext cx="5193183" cy="174486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4C4A44"/>
                </a:solidFill>
                <a:latin typeface="Arial" pitchFamily="34" charset="0"/>
                <a:ea typeface="Arial" pitchFamily="34" charset="-122"/>
                <a:cs typeface="Arial" pitchFamily="34" charset="-120"/>
              </a:rPr>
              <a:t>Short </a:t>
            </a:r>
            <a:pPr algn="l" indent="0" marL="0">
              <a:lnSpc>
                <a:spcPct val="121081"/>
              </a:lnSpc>
              <a:buNone/>
            </a:pPr>
            <a:r>
              <a:rPr lang="en-US" sz="2400" b="1" dirty="0">
                <a:solidFill>
                  <a:srgbClr val="1C1B19"/>
                </a:solidFill>
                <a:latin typeface="Arial" pitchFamily="34" charset="0"/>
                <a:ea typeface="Arial" pitchFamily="34" charset="-122"/>
                <a:cs typeface="Arial" pitchFamily="34" charset="-120"/>
              </a:rPr>
              <a:t>wait </a:t>
            </a:r>
            <a:pPr algn="l" indent="0" marL="0">
              <a:lnSpc>
                <a:spcPct val="121081"/>
              </a:lnSpc>
              <a:buNone/>
            </a:pPr>
            <a:r>
              <a:rPr lang="en-US" sz="2400" dirty="0">
                <a:solidFill>
                  <a:srgbClr val="4C4A44"/>
                </a:solidFill>
                <a:latin typeface="Arial" pitchFamily="34" charset="0"/>
                <a:ea typeface="Arial" pitchFamily="34" charset="-122"/>
                <a:cs typeface="Arial" pitchFamily="34" charset="-120"/>
              </a:rPr>
              <a:t>— request to boarding. Short </a:t>
            </a:r>
            <a:pPr algn="l" indent="0" marL="0">
              <a:lnSpc>
                <a:spcPct val="121081"/>
              </a:lnSpc>
              <a:buNone/>
            </a:pPr>
            <a:r>
              <a:rPr lang="en-US" sz="2400" b="1" dirty="0">
                <a:solidFill>
                  <a:srgbClr val="1C1B19"/>
                </a:solidFill>
                <a:latin typeface="Arial" pitchFamily="34" charset="0"/>
                <a:ea typeface="Arial" pitchFamily="34" charset="-122"/>
                <a:cs typeface="Arial" pitchFamily="34" charset="-120"/>
              </a:rPr>
              <a:t>total time </a:t>
            </a:r>
            <a:pPr algn="l" indent="0" marL="0">
              <a:lnSpc>
                <a:spcPct val="121081"/>
              </a:lnSpc>
              <a:buNone/>
            </a:pPr>
            <a:r>
              <a:rPr lang="en-US" sz="2400" dirty="0">
                <a:solidFill>
                  <a:srgbClr val="4C4A44"/>
                </a:solidFill>
                <a:latin typeface="Arial" pitchFamily="34" charset="0"/>
                <a:ea typeface="Arial" pitchFamily="34" charset="-122"/>
                <a:cs typeface="Arial" pitchFamily="34" charset="-120"/>
              </a:rPr>
              <a:t>— request to arrival. And </a:t>
            </a:r>
            <a:pPr algn="l" indent="0" marL="0">
              <a:lnSpc>
                <a:spcPct val="121081"/>
              </a:lnSpc>
              <a:buNone/>
            </a:pPr>
            <a:r>
              <a:rPr lang="en-US" sz="2400" b="1" dirty="0">
                <a:solidFill>
                  <a:srgbClr val="1C1B19"/>
                </a:solidFill>
                <a:latin typeface="Arial" pitchFamily="34" charset="0"/>
                <a:ea typeface="Arial" pitchFamily="34" charset="-122"/>
                <a:cs typeface="Arial" pitchFamily="34" charset="-120"/>
              </a:rPr>
              <a:t>fairness </a:t>
            </a:r>
            <a:pPr algn="l" indent="0" marL="0">
              <a:lnSpc>
                <a:spcPct val="121081"/>
              </a:lnSpc>
              <a:buNone/>
            </a:pPr>
            <a:r>
              <a:rPr lang="en-US" sz="2400" dirty="0">
                <a:solidFill>
                  <a:srgbClr val="4C4A44"/>
                </a:solidFill>
                <a:latin typeface="Arial" pitchFamily="34" charset="0"/>
                <a:ea typeface="Arial" pitchFamily="34" charset="-122"/>
                <a:cs typeface="Arial" pitchFamily="34" charset="-120"/>
              </a:rPr>
              <a:t>: no one waits far longer than everyone else.</a:t>
            </a:r>
            <a:endParaRPr lang="en-US" sz="2400" dirty="0"/>
          </a:p>
        </p:txBody>
      </p:sp>
      <p:sp>
        <p:nvSpPr>
          <p:cNvPr id="9" name="Shape 7"/>
          <p:cNvSpPr/>
          <p:nvPr/>
        </p:nvSpPr>
        <p:spPr>
          <a:xfrm>
            <a:off x="12198325" y="2202135"/>
            <a:ext cx="5041850" cy="19050"/>
          </a:xfrm>
          <a:prstGeom prst="rect">
            <a:avLst/>
          </a:prstGeom>
          <a:solidFill>
            <a:srgbClr val="1C1B19"/>
          </a:solidFill>
          <a:ln/>
        </p:spPr>
        <p:txBody>
          <a:bodyPr/>
          <a:p/>
        </p:txBody>
      </p:sp>
      <p:sp>
        <p:nvSpPr>
          <p:cNvPr id="10" name="Text 8"/>
          <p:cNvSpPr/>
          <p:nvPr/>
        </p:nvSpPr>
        <p:spPr>
          <a:xfrm>
            <a:off x="12198325" y="2487885"/>
            <a:ext cx="5546035"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1C1B19"/>
                </a:solidFill>
                <a:latin typeface="Arial" pitchFamily="34" charset="0"/>
                <a:ea typeface="Arial" pitchFamily="34" charset="-122"/>
                <a:cs typeface="Arial" pitchFamily="34" charset="-120"/>
              </a:rPr>
              <a:t>Why it is not obvious</a:t>
            </a:r>
            <a:endParaRPr lang="en-US" sz="3000" dirty="0"/>
          </a:p>
        </p:txBody>
      </p:sp>
      <p:sp>
        <p:nvSpPr>
          <p:cNvPr id="11" name="Text 9"/>
          <p:cNvSpPr/>
          <p:nvPr/>
        </p:nvSpPr>
        <p:spPr>
          <a:xfrm>
            <a:off x="12198325" y="3164160"/>
            <a:ext cx="5193106" cy="259824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4C4A44"/>
                </a:solidFill>
                <a:latin typeface="Arial" pitchFamily="34" charset="0"/>
                <a:ea typeface="Arial" pitchFamily="34" charset="-122"/>
                <a:cs typeface="Arial" pitchFamily="34" charset="-120"/>
              </a:rPr>
              <a:t>The controller cannot see the future. And the goals pull apart: the best average bundles people onto a busy car, which is efficient on the whole and hard on whoever keeps being passed over.</a:t>
            </a:r>
            <a:endParaRPr lang="en-US" sz="2400" dirty="0"/>
          </a:p>
        </p:txBody>
      </p:sp>
      <p:sp>
        <p:nvSpPr>
          <p:cNvPr id="12" name="Text 10"/>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13" name="Text 11"/>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02 / 16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What was built</a:t>
            </a:r>
            <a:endParaRPr lang="en-US" sz="5400" dirty="0"/>
          </a:p>
        </p:txBody>
      </p:sp>
      <p:sp>
        <p:nvSpPr>
          <p:cNvPr id="3" name="Shape 1"/>
          <p:cNvSpPr/>
          <p:nvPr/>
        </p:nvSpPr>
        <p:spPr>
          <a:xfrm>
            <a:off x="1047750" y="2565946"/>
            <a:ext cx="2419127" cy="2457450"/>
          </a:xfrm>
          <a:prstGeom prst="roundRect">
            <a:avLst>
              <a:gd name="adj" fmla="val 3937"/>
            </a:avLst>
          </a:prstGeom>
          <a:solidFill>
            <a:srgbClr val="FFFFFF"/>
          </a:solidFill>
          <a:ln w="9525">
            <a:solidFill>
              <a:srgbClr val="E1DFD9"/>
            </a:solidFill>
            <a:prstDash val="solid"/>
          </a:ln>
        </p:spPr>
        <p:txBody>
          <a:bodyPr/>
          <a:p/>
        </p:txBody>
      </p:sp>
      <p:sp>
        <p:nvSpPr>
          <p:cNvPr id="4" name="Text 2"/>
          <p:cNvSpPr/>
          <p:nvPr/>
        </p:nvSpPr>
        <p:spPr>
          <a:xfrm>
            <a:off x="1304925" y="3332708"/>
            <a:ext cx="2095254"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Requests</a:t>
            </a:r>
            <a:endParaRPr lang="en-US" sz="2100" dirty="0"/>
          </a:p>
        </p:txBody>
      </p:sp>
      <p:sp>
        <p:nvSpPr>
          <p:cNvPr id="5" name="Text 3"/>
          <p:cNvSpPr/>
          <p:nvPr/>
        </p:nvSpPr>
        <p:spPr>
          <a:xfrm>
            <a:off x="1304925" y="3723233"/>
            <a:ext cx="1980977"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CSV · validate</a:t>
            </a:r>
            <a:endParaRPr lang="en-US" sz="1800" dirty="0"/>
          </a:p>
        </p:txBody>
      </p:sp>
      <p:sp>
        <p:nvSpPr>
          <p:cNvPr id="6" name="Text 4"/>
          <p:cNvSpPr/>
          <p:nvPr/>
        </p:nvSpPr>
        <p:spPr>
          <a:xfrm>
            <a:off x="3638327" y="3570833"/>
            <a:ext cx="42483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9D9B92"/>
                </a:solidFill>
                <a:latin typeface="Arial" pitchFamily="34" charset="0"/>
                <a:ea typeface="Arial" pitchFamily="34" charset="-122"/>
                <a:cs typeface="Arial" pitchFamily="34" charset="-120"/>
              </a:rPr>
              <a:t>→</a:t>
            </a:r>
            <a:endParaRPr lang="en-US" sz="3000" dirty="0"/>
          </a:p>
        </p:txBody>
      </p:sp>
      <p:sp>
        <p:nvSpPr>
          <p:cNvPr id="7" name="Shape 5"/>
          <p:cNvSpPr/>
          <p:nvPr/>
        </p:nvSpPr>
        <p:spPr>
          <a:xfrm>
            <a:off x="4158407" y="2565946"/>
            <a:ext cx="2419201" cy="2457450"/>
          </a:xfrm>
          <a:prstGeom prst="roundRect">
            <a:avLst>
              <a:gd name="adj" fmla="val 3937"/>
            </a:avLst>
          </a:prstGeom>
          <a:solidFill>
            <a:srgbClr val="FFFFFF"/>
          </a:solidFill>
          <a:ln w="9525">
            <a:solidFill>
              <a:srgbClr val="E1DFD9"/>
            </a:solidFill>
            <a:prstDash val="solid"/>
          </a:ln>
        </p:spPr>
        <p:txBody>
          <a:bodyPr/>
          <a:p/>
        </p:txBody>
      </p:sp>
      <p:sp>
        <p:nvSpPr>
          <p:cNvPr id="8" name="Text 6"/>
          <p:cNvSpPr/>
          <p:nvPr/>
        </p:nvSpPr>
        <p:spPr>
          <a:xfrm>
            <a:off x="4415582" y="3153668"/>
            <a:ext cx="2095336"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Feed</a:t>
            </a:r>
            <a:endParaRPr lang="en-US" sz="2100" dirty="0"/>
          </a:p>
        </p:txBody>
      </p:sp>
      <p:sp>
        <p:nvSpPr>
          <p:cNvPr id="9" name="Text 7"/>
          <p:cNvSpPr/>
          <p:nvPr/>
        </p:nvSpPr>
        <p:spPr>
          <a:xfrm>
            <a:off x="4415582" y="3544193"/>
            <a:ext cx="1981051" cy="929506"/>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7A786F"/>
                </a:solidFill>
                <a:latin typeface="Arial" pitchFamily="34" charset="0"/>
                <a:ea typeface="Arial" pitchFamily="34" charset="-122"/>
                <a:cs typeface="Arial" pitchFamily="34" charset="-120"/>
              </a:rPr>
              <a:t>releases a request only when its time has come</a:t>
            </a:r>
            <a:endParaRPr lang="en-US" sz="1800" dirty="0"/>
          </a:p>
        </p:txBody>
      </p:sp>
      <p:sp>
        <p:nvSpPr>
          <p:cNvPr id="10" name="Text 8"/>
          <p:cNvSpPr/>
          <p:nvPr/>
        </p:nvSpPr>
        <p:spPr>
          <a:xfrm>
            <a:off x="6749058" y="3570833"/>
            <a:ext cx="42483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9D9B92"/>
                </a:solidFill>
                <a:latin typeface="Arial" pitchFamily="34" charset="0"/>
                <a:ea typeface="Arial" pitchFamily="34" charset="-122"/>
                <a:cs typeface="Arial" pitchFamily="34" charset="-120"/>
              </a:rPr>
              <a:t>→</a:t>
            </a:r>
            <a:endParaRPr lang="en-US" sz="3000" dirty="0"/>
          </a:p>
        </p:txBody>
      </p:sp>
      <p:sp>
        <p:nvSpPr>
          <p:cNvPr id="11" name="Shape 9"/>
          <p:cNvSpPr/>
          <p:nvPr/>
        </p:nvSpPr>
        <p:spPr>
          <a:xfrm>
            <a:off x="7269138" y="2354535"/>
            <a:ext cx="3265810" cy="2880271"/>
          </a:xfrm>
          <a:prstGeom prst="roundRect">
            <a:avLst>
              <a:gd name="adj" fmla="val 3307"/>
            </a:avLst>
          </a:prstGeom>
          <a:solidFill>
            <a:srgbClr val="FFFFFF"/>
          </a:solidFill>
          <a:ln w="9525">
            <a:solidFill>
              <a:srgbClr val="E1DFD9"/>
            </a:solidFill>
            <a:prstDash val="solid"/>
          </a:ln>
        </p:spPr>
        <p:txBody>
          <a:bodyPr/>
          <a:p/>
        </p:txBody>
      </p:sp>
      <p:sp>
        <p:nvSpPr>
          <p:cNvPr id="12" name="Text 10"/>
          <p:cNvSpPr/>
          <p:nvPr/>
        </p:nvSpPr>
        <p:spPr>
          <a:xfrm>
            <a:off x="7526313" y="2630760"/>
            <a:ext cx="3026606"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Tick loop</a:t>
            </a:r>
            <a:endParaRPr lang="en-US" sz="2100" dirty="0"/>
          </a:p>
        </p:txBody>
      </p:sp>
      <p:sp>
        <p:nvSpPr>
          <p:cNvPr id="13" name="Text 11"/>
          <p:cNvSpPr/>
          <p:nvPr/>
        </p:nvSpPr>
        <p:spPr>
          <a:xfrm>
            <a:off x="7526313" y="3021285"/>
            <a:ext cx="2834004"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7A786F"/>
                </a:solidFill>
                <a:latin typeface="Arial" pitchFamily="34" charset="0"/>
                <a:ea typeface="Arial" pitchFamily="34" charset="-122"/>
                <a:cs typeface="Arial" pitchFamily="34" charset="-120"/>
              </a:rPr>
              <a:t>LOOK movement · capacity · dwell</a:t>
            </a:r>
            <a:endParaRPr lang="en-US" sz="1800" dirty="0"/>
          </a:p>
        </p:txBody>
      </p:sp>
      <p:sp>
        <p:nvSpPr>
          <p:cNvPr id="14" name="Shape 12"/>
          <p:cNvSpPr/>
          <p:nvPr/>
        </p:nvSpPr>
        <p:spPr>
          <a:xfrm>
            <a:off x="7526313" y="3787006"/>
            <a:ext cx="2751460" cy="9525"/>
          </a:xfrm>
          <a:prstGeom prst="rect">
            <a:avLst/>
          </a:prstGeom>
          <a:solidFill>
            <a:srgbClr val="EEEDE8"/>
          </a:solidFill>
          <a:ln/>
        </p:spPr>
        <p:txBody>
          <a:bodyPr/>
          <a:p/>
        </p:txBody>
      </p:sp>
      <p:sp>
        <p:nvSpPr>
          <p:cNvPr id="15" name="Shape 13"/>
          <p:cNvSpPr/>
          <p:nvPr/>
        </p:nvSpPr>
        <p:spPr>
          <a:xfrm>
            <a:off x="7526313" y="4044181"/>
            <a:ext cx="114300" cy="114300"/>
          </a:xfrm>
          <a:prstGeom prst="roundRect">
            <a:avLst>
              <a:gd name="adj" fmla="val 25000"/>
            </a:avLst>
          </a:prstGeom>
          <a:solidFill>
            <a:srgbClr val="2F6FD0"/>
          </a:solidFill>
          <a:ln/>
        </p:spPr>
        <p:txBody>
          <a:bodyPr/>
          <a:p/>
        </p:txBody>
      </p:sp>
      <p:sp>
        <p:nvSpPr>
          <p:cNvPr id="16" name="Text 14"/>
          <p:cNvSpPr/>
          <p:nvPr/>
        </p:nvSpPr>
        <p:spPr>
          <a:xfrm>
            <a:off x="7735863" y="3929881"/>
            <a:ext cx="164153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C1B19"/>
                </a:solidFill>
                <a:latin typeface="Arial" pitchFamily="34" charset="0"/>
                <a:ea typeface="Arial" pitchFamily="34" charset="-122"/>
                <a:cs typeface="Arial" pitchFamily="34" charset="-120"/>
              </a:rPr>
              <a:t>Smart dispatch</a:t>
            </a:r>
            <a:endParaRPr lang="en-US" sz="1800" dirty="0"/>
          </a:p>
        </p:txBody>
      </p:sp>
      <p:sp>
        <p:nvSpPr>
          <p:cNvPr id="17" name="Shape 15"/>
          <p:cNvSpPr/>
          <p:nvPr/>
        </p:nvSpPr>
        <p:spPr>
          <a:xfrm>
            <a:off x="7526313" y="4387081"/>
            <a:ext cx="114300" cy="114300"/>
          </a:xfrm>
          <a:prstGeom prst="roundRect">
            <a:avLst>
              <a:gd name="adj" fmla="val 25000"/>
            </a:avLst>
          </a:prstGeom>
          <a:solidFill>
            <a:srgbClr val="D9762B"/>
          </a:solidFill>
          <a:ln/>
        </p:spPr>
        <p:txBody>
          <a:bodyPr/>
          <a:p/>
        </p:txBody>
      </p:sp>
      <p:sp>
        <p:nvSpPr>
          <p:cNvPr id="18" name="Text 16"/>
          <p:cNvSpPr/>
          <p:nvPr/>
        </p:nvSpPr>
        <p:spPr>
          <a:xfrm>
            <a:off x="7735863" y="4272781"/>
            <a:ext cx="120684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C1B19"/>
                </a:solidFill>
                <a:latin typeface="Arial" pitchFamily="34" charset="0"/>
                <a:ea typeface="Arial" pitchFamily="34" charset="-122"/>
                <a:cs typeface="Arial" pitchFamily="34" charset="-120"/>
              </a:rPr>
              <a:t>Nearest car</a:t>
            </a:r>
            <a:endParaRPr lang="en-US" sz="1800" dirty="0"/>
          </a:p>
        </p:txBody>
      </p:sp>
      <p:sp>
        <p:nvSpPr>
          <p:cNvPr id="19" name="Shape 17"/>
          <p:cNvSpPr/>
          <p:nvPr/>
        </p:nvSpPr>
        <p:spPr>
          <a:xfrm>
            <a:off x="7526313" y="4729981"/>
            <a:ext cx="114300" cy="114300"/>
          </a:xfrm>
          <a:prstGeom prst="roundRect">
            <a:avLst>
              <a:gd name="adj" fmla="val 25000"/>
            </a:avLst>
          </a:prstGeom>
          <a:solidFill>
            <a:srgbClr val="2A9D74"/>
          </a:solidFill>
          <a:ln/>
        </p:spPr>
        <p:txBody>
          <a:bodyPr/>
          <a:p/>
        </p:txBody>
      </p:sp>
      <p:sp>
        <p:nvSpPr>
          <p:cNvPr id="20" name="Text 18"/>
          <p:cNvSpPr/>
          <p:nvPr/>
        </p:nvSpPr>
        <p:spPr>
          <a:xfrm>
            <a:off x="7735863" y="4615681"/>
            <a:ext cx="1082873"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1C1B19"/>
                </a:solidFill>
                <a:latin typeface="Arial" pitchFamily="34" charset="0"/>
                <a:ea typeface="Arial" pitchFamily="34" charset="-122"/>
                <a:cs typeface="Arial" pitchFamily="34" charset="-120"/>
              </a:rPr>
              <a:t>Take turns</a:t>
            </a:r>
            <a:endParaRPr lang="en-US" sz="1800" dirty="0"/>
          </a:p>
        </p:txBody>
      </p:sp>
      <p:sp>
        <p:nvSpPr>
          <p:cNvPr id="21" name="Text 19"/>
          <p:cNvSpPr/>
          <p:nvPr/>
        </p:nvSpPr>
        <p:spPr>
          <a:xfrm>
            <a:off x="10706398" y="3570833"/>
            <a:ext cx="42483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9D9B92"/>
                </a:solidFill>
                <a:latin typeface="Arial" pitchFamily="34" charset="0"/>
                <a:ea typeface="Arial" pitchFamily="34" charset="-122"/>
                <a:cs typeface="Arial" pitchFamily="34" charset="-120"/>
              </a:rPr>
              <a:t>→</a:t>
            </a:r>
            <a:endParaRPr lang="en-US" sz="3000" dirty="0"/>
          </a:p>
        </p:txBody>
      </p:sp>
      <p:sp>
        <p:nvSpPr>
          <p:cNvPr id="22" name="Shape 20"/>
          <p:cNvSpPr/>
          <p:nvPr/>
        </p:nvSpPr>
        <p:spPr>
          <a:xfrm>
            <a:off x="11226478" y="2565946"/>
            <a:ext cx="2419201" cy="2457450"/>
          </a:xfrm>
          <a:prstGeom prst="roundRect">
            <a:avLst>
              <a:gd name="adj" fmla="val 3937"/>
            </a:avLst>
          </a:prstGeom>
          <a:solidFill>
            <a:srgbClr val="FFFFFF"/>
          </a:solidFill>
          <a:ln w="9525">
            <a:solidFill>
              <a:srgbClr val="E1DFD9"/>
            </a:solidFill>
            <a:prstDash val="solid"/>
          </a:ln>
        </p:spPr>
        <p:txBody>
          <a:bodyPr/>
          <a:p/>
        </p:txBody>
      </p:sp>
      <p:sp>
        <p:nvSpPr>
          <p:cNvPr id="23" name="Text 21"/>
          <p:cNvSpPr/>
          <p:nvPr/>
        </p:nvSpPr>
        <p:spPr>
          <a:xfrm>
            <a:off x="11483653" y="3085058"/>
            <a:ext cx="2095336"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Outputs</a:t>
            </a:r>
            <a:endParaRPr lang="en-US" sz="2100" dirty="0"/>
          </a:p>
        </p:txBody>
      </p:sp>
      <p:sp>
        <p:nvSpPr>
          <p:cNvPr id="24" name="Text 22"/>
          <p:cNvSpPr/>
          <p:nvPr/>
        </p:nvSpPr>
        <p:spPr>
          <a:xfrm>
            <a:off x="11483653" y="3475583"/>
            <a:ext cx="1981051" cy="1066800"/>
          </a:xfrm>
          <a:prstGeom prst="rect">
            <a:avLst/>
          </a:prstGeom>
          <a:noFill/>
          <a:ln/>
        </p:spPr>
        <p:txBody>
          <a:bodyPr wrap="square" lIns="25400" tIns="25400" rIns="25400" bIns="25400" rtlCol="0" anchor="t">
            <a:normAutofit/>
          </a:bodyPr>
          <a:lstStyle/>
          <a:p>
            <a:pPr algn="l" indent="0" marL="0">
              <a:lnSpc>
                <a:spcPct val="133333"/>
              </a:lnSpc>
              <a:buNone/>
            </a:pPr>
            <a:r>
              <a:rPr lang="en-US" sz="1800" dirty="0">
                <a:solidFill>
                  <a:srgbClr val="7A786F"/>
                </a:solidFill>
                <a:latin typeface="Courier New" pitchFamily="34" charset="0"/>
                <a:ea typeface="Courier New" pitchFamily="34" charset="-122"/>
                <a:cs typeface="Courier New" pitchFamily="34" charset="-120"/>
              </a:rPr>
              <a:t>positions.csv trace.json summary</a:t>
            </a:r>
            <a:endParaRPr lang="en-US" sz="1800" dirty="0"/>
          </a:p>
        </p:txBody>
      </p:sp>
      <p:sp>
        <p:nvSpPr>
          <p:cNvPr id="25" name="Text 23"/>
          <p:cNvSpPr/>
          <p:nvPr/>
        </p:nvSpPr>
        <p:spPr>
          <a:xfrm>
            <a:off x="13817129" y="3570833"/>
            <a:ext cx="42483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9D9B92"/>
                </a:solidFill>
                <a:latin typeface="Arial" pitchFamily="34" charset="0"/>
                <a:ea typeface="Arial" pitchFamily="34" charset="-122"/>
                <a:cs typeface="Arial" pitchFamily="34" charset="-120"/>
              </a:rPr>
              <a:t>→</a:t>
            </a:r>
            <a:endParaRPr lang="en-US" sz="3000" dirty="0"/>
          </a:p>
        </p:txBody>
      </p:sp>
      <p:sp>
        <p:nvSpPr>
          <p:cNvPr id="26" name="Shape 24"/>
          <p:cNvSpPr/>
          <p:nvPr/>
        </p:nvSpPr>
        <p:spPr>
          <a:xfrm>
            <a:off x="14337209" y="2565946"/>
            <a:ext cx="2903041" cy="2457450"/>
          </a:xfrm>
          <a:prstGeom prst="roundRect">
            <a:avLst>
              <a:gd name="adj" fmla="val 3876"/>
            </a:avLst>
          </a:prstGeom>
          <a:solidFill>
            <a:srgbClr val="FFFFFF"/>
          </a:solidFill>
          <a:ln w="9525">
            <a:solidFill>
              <a:srgbClr val="E1DFD9"/>
            </a:solidFill>
            <a:prstDash val="solid"/>
          </a:ln>
        </p:spPr>
        <p:txBody>
          <a:bodyPr/>
          <a:p/>
        </p:txBody>
      </p:sp>
      <p:sp>
        <p:nvSpPr>
          <p:cNvPr id="27" name="Text 25"/>
          <p:cNvSpPr/>
          <p:nvPr/>
        </p:nvSpPr>
        <p:spPr>
          <a:xfrm>
            <a:off x="14594384" y="3279428"/>
            <a:ext cx="2627561"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Evidence</a:t>
            </a:r>
            <a:endParaRPr lang="en-US" sz="2100" dirty="0"/>
          </a:p>
        </p:txBody>
      </p:sp>
      <p:sp>
        <p:nvSpPr>
          <p:cNvPr id="28" name="Text 26"/>
          <p:cNvSpPr/>
          <p:nvPr/>
        </p:nvSpPr>
        <p:spPr>
          <a:xfrm>
            <a:off x="14594384" y="3669953"/>
            <a:ext cx="2464891"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7A786F"/>
                </a:solidFill>
                <a:latin typeface="Arial" pitchFamily="34" charset="0"/>
                <a:ea typeface="Arial" pitchFamily="34" charset="-122"/>
                <a:cs typeface="Arial" pitchFamily="34" charset="-120"/>
              </a:rPr>
              <a:t>compare table · charts · browser simulator</a:t>
            </a:r>
            <a:endParaRPr lang="en-US" sz="1800" dirty="0"/>
          </a:p>
        </p:txBody>
      </p:sp>
      <p:sp>
        <p:nvSpPr>
          <p:cNvPr id="29" name="Shape 27"/>
          <p:cNvSpPr/>
          <p:nvPr/>
        </p:nvSpPr>
        <p:spPr>
          <a:xfrm>
            <a:off x="1047750" y="5844406"/>
            <a:ext cx="16192500" cy="9525"/>
          </a:xfrm>
          <a:prstGeom prst="rect">
            <a:avLst/>
          </a:prstGeom>
          <a:solidFill>
            <a:srgbClr val="E1DFD9"/>
          </a:solidFill>
          <a:ln/>
        </p:spPr>
        <p:txBody>
          <a:bodyPr/>
          <a:p/>
        </p:txBody>
      </p:sp>
      <p:sp>
        <p:nvSpPr>
          <p:cNvPr id="30" name="Text 28"/>
          <p:cNvSpPr/>
          <p:nvPr/>
        </p:nvSpPr>
        <p:spPr>
          <a:xfrm>
            <a:off x="1047750" y="6158731"/>
            <a:ext cx="4138612"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44" kern="0" dirty="0">
                <a:solidFill>
                  <a:srgbClr val="1C1B19"/>
                </a:solidFill>
                <a:latin typeface="Arial" pitchFamily="34" charset="0"/>
                <a:ea typeface="Arial" pitchFamily="34" charset="-122"/>
                <a:cs typeface="Arial" pitchFamily="34" charset="-120"/>
              </a:rPr>
              <a:t>3</a:t>
            </a:r>
            <a:endParaRPr lang="en-US" sz="4800" dirty="0"/>
          </a:p>
        </p:txBody>
      </p:sp>
      <p:sp>
        <p:nvSpPr>
          <p:cNvPr id="31" name="Text 29"/>
          <p:cNvSpPr/>
          <p:nvPr/>
        </p:nvSpPr>
        <p:spPr>
          <a:xfrm>
            <a:off x="1047750" y="6844531"/>
            <a:ext cx="4138612" cy="352425"/>
          </a:xfrm>
          <a:prstGeom prst="rect">
            <a:avLst/>
          </a:prstGeom>
          <a:noFill/>
          <a:ln/>
        </p:spPr>
        <p:txBody>
          <a:bodyPr wrap="square" lIns="25400" tIns="25400" rIns="25400" bIns="2540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rules behind one interface</a:t>
            </a:r>
            <a:endParaRPr lang="en-US" sz="2100" dirty="0"/>
          </a:p>
        </p:txBody>
      </p:sp>
      <p:sp>
        <p:nvSpPr>
          <p:cNvPr id="32" name="Text 30"/>
          <p:cNvSpPr/>
          <p:nvPr/>
        </p:nvSpPr>
        <p:spPr>
          <a:xfrm>
            <a:off x="5191125" y="6158731"/>
            <a:ext cx="4138612"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44" kern="0" dirty="0">
                <a:solidFill>
                  <a:srgbClr val="1C1B19"/>
                </a:solidFill>
                <a:latin typeface="Arial" pitchFamily="34" charset="0"/>
                <a:ea typeface="Arial" pitchFamily="34" charset="-122"/>
                <a:cs typeface="Arial" pitchFamily="34" charset="-120"/>
              </a:rPr>
              <a:t>7</a:t>
            </a:r>
            <a:endParaRPr lang="en-US" sz="4800" dirty="0"/>
          </a:p>
        </p:txBody>
      </p:sp>
      <p:sp>
        <p:nvSpPr>
          <p:cNvPr id="33" name="Text 31"/>
          <p:cNvSpPr/>
          <p:nvPr/>
        </p:nvSpPr>
        <p:spPr>
          <a:xfrm>
            <a:off x="5191125" y="6844531"/>
            <a:ext cx="3875246" cy="666750"/>
          </a:xfrm>
          <a:prstGeom prst="rect">
            <a:avLst/>
          </a:prstGeom>
          <a:noFill/>
          <a:ln/>
        </p:spPr>
        <p:txBody>
          <a:bodyPr wrap="square" lIns="25400" tIns="25400" rIns="25400" bIns="2540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seeded traffic patterns · 20 fresh seeds each</a:t>
            </a:r>
            <a:endParaRPr lang="en-US" sz="2100" dirty="0"/>
          </a:p>
        </p:txBody>
      </p:sp>
      <p:sp>
        <p:nvSpPr>
          <p:cNvPr id="34" name="Text 32"/>
          <p:cNvSpPr/>
          <p:nvPr/>
        </p:nvSpPr>
        <p:spPr>
          <a:xfrm>
            <a:off x="9334500" y="6158731"/>
            <a:ext cx="4138612"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44" kern="0" dirty="0">
                <a:solidFill>
                  <a:srgbClr val="1C1B19"/>
                </a:solidFill>
                <a:latin typeface="Arial" pitchFamily="34" charset="0"/>
                <a:ea typeface="Arial" pitchFamily="34" charset="-122"/>
                <a:cs typeface="Arial" pitchFamily="34" charset="-120"/>
              </a:rPr>
              <a:t>192</a:t>
            </a:r>
            <a:endParaRPr lang="en-US" sz="4800" dirty="0"/>
          </a:p>
        </p:txBody>
      </p:sp>
      <p:sp>
        <p:nvSpPr>
          <p:cNvPr id="35" name="Text 33"/>
          <p:cNvSpPr/>
          <p:nvPr/>
        </p:nvSpPr>
        <p:spPr>
          <a:xfrm>
            <a:off x="9334500" y="6844531"/>
            <a:ext cx="4138612" cy="352425"/>
          </a:xfrm>
          <a:prstGeom prst="rect">
            <a:avLst/>
          </a:prstGeom>
          <a:noFill/>
          <a:ln/>
        </p:spPr>
        <p:txBody>
          <a:bodyPr wrap="square" lIns="25400" tIns="25400" rIns="25400" bIns="2540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tests, six levels</a:t>
            </a:r>
            <a:endParaRPr lang="en-US" sz="2100" dirty="0"/>
          </a:p>
        </p:txBody>
      </p:sp>
      <p:sp>
        <p:nvSpPr>
          <p:cNvPr id="36" name="Text 34"/>
          <p:cNvSpPr/>
          <p:nvPr/>
        </p:nvSpPr>
        <p:spPr>
          <a:xfrm>
            <a:off x="13477875" y="6158731"/>
            <a:ext cx="4138612"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44" kern="0" dirty="0">
                <a:solidFill>
                  <a:srgbClr val="1C1B19"/>
                </a:solidFill>
                <a:latin typeface="Arial" pitchFamily="34" charset="0"/>
                <a:ea typeface="Arial" pitchFamily="34" charset="-122"/>
                <a:cs typeface="Arial" pitchFamily="34" charset="-120"/>
              </a:rPr>
              <a:t>0</a:t>
            </a:r>
            <a:endParaRPr lang="en-US" sz="4800" dirty="0"/>
          </a:p>
        </p:txBody>
      </p:sp>
      <p:sp>
        <p:nvSpPr>
          <p:cNvPr id="37" name="Text 35"/>
          <p:cNvSpPr/>
          <p:nvPr/>
        </p:nvSpPr>
        <p:spPr>
          <a:xfrm>
            <a:off x="13477875" y="6844531"/>
            <a:ext cx="4138612" cy="352425"/>
          </a:xfrm>
          <a:prstGeom prst="rect">
            <a:avLst/>
          </a:prstGeom>
          <a:noFill/>
          <a:ln/>
        </p:spPr>
        <p:txBody>
          <a:bodyPr wrap="square" lIns="25400" tIns="25400" rIns="25400" bIns="2540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runtime dependencies</a:t>
            </a:r>
            <a:endParaRPr lang="en-US" sz="2100" dirty="0"/>
          </a:p>
        </p:txBody>
      </p:sp>
      <p:sp>
        <p:nvSpPr>
          <p:cNvPr id="38" name="Text 36"/>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39" name="Text 37"/>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03 / 16</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7626228"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How the work was done</a:t>
            </a:r>
            <a:endParaRPr lang="en-US" sz="5400" dirty="0"/>
          </a:p>
        </p:txBody>
      </p:sp>
      <p:sp>
        <p:nvSpPr>
          <p:cNvPr id="3" name="Text 1"/>
          <p:cNvSpPr/>
          <p:nvPr/>
        </p:nvSpPr>
        <p:spPr>
          <a:xfrm>
            <a:off x="12423204" y="1333500"/>
            <a:ext cx="529875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seven phases over two days</a:t>
            </a:r>
            <a:endParaRPr lang="en-US" sz="1800" dirty="0"/>
          </a:p>
        </p:txBody>
      </p:sp>
      <p:sp>
        <p:nvSpPr>
          <p:cNvPr id="4" name="Shape 2"/>
          <p:cNvSpPr/>
          <p:nvPr/>
        </p:nvSpPr>
        <p:spPr>
          <a:xfrm>
            <a:off x="1047750" y="2125935"/>
            <a:ext cx="2117229" cy="19050"/>
          </a:xfrm>
          <a:prstGeom prst="rect">
            <a:avLst/>
          </a:prstGeom>
          <a:solidFill>
            <a:srgbClr val="1C1B19"/>
          </a:solidFill>
          <a:ln/>
        </p:spPr>
        <p:txBody>
          <a:bodyPr/>
          <a:p/>
        </p:txBody>
      </p:sp>
      <p:sp>
        <p:nvSpPr>
          <p:cNvPr id="5" name="Text 3"/>
          <p:cNvSpPr/>
          <p:nvPr/>
        </p:nvSpPr>
        <p:spPr>
          <a:xfrm>
            <a:off x="1047750" y="2316435"/>
            <a:ext cx="23289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01</a:t>
            </a:r>
            <a:endParaRPr lang="en-US" sz="1800" dirty="0"/>
          </a:p>
        </p:txBody>
      </p:sp>
      <p:sp>
        <p:nvSpPr>
          <p:cNvPr id="6" name="Text 4"/>
          <p:cNvSpPr/>
          <p:nvPr/>
        </p:nvSpPr>
        <p:spPr>
          <a:xfrm>
            <a:off x="1047750" y="2659335"/>
            <a:ext cx="2328952"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Frame</a:t>
            </a:r>
            <a:endParaRPr lang="en-US" sz="2100" dirty="0"/>
          </a:p>
        </p:txBody>
      </p:sp>
      <p:sp>
        <p:nvSpPr>
          <p:cNvPr id="7" name="Text 5"/>
          <p:cNvSpPr/>
          <p:nvPr/>
        </p:nvSpPr>
        <p:spPr>
          <a:xfrm>
            <a:off x="1047750" y="3068910"/>
            <a:ext cx="2193429" cy="96388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The brief read closely, four questions answered.</a:t>
            </a:r>
            <a:endParaRPr lang="en-US" sz="1800" dirty="0"/>
          </a:p>
        </p:txBody>
      </p:sp>
      <p:sp>
        <p:nvSpPr>
          <p:cNvPr id="8" name="Text 6"/>
          <p:cNvSpPr/>
          <p:nvPr/>
        </p:nvSpPr>
        <p:spPr>
          <a:xfrm>
            <a:off x="1047750" y="4108996"/>
            <a:ext cx="23289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1C1B19"/>
                </a:solidFill>
                <a:latin typeface="Courier New" pitchFamily="34" charset="0"/>
                <a:ea typeface="Courier New" pitchFamily="34" charset="-122"/>
                <a:cs typeface="Courier New" pitchFamily="34" charset="-120"/>
              </a:rPr>
              <a:t>owner</a:t>
            </a:r>
            <a:endParaRPr lang="en-US" sz="1800" dirty="0"/>
          </a:p>
        </p:txBody>
      </p:sp>
      <p:sp>
        <p:nvSpPr>
          <p:cNvPr id="9" name="Shape 7"/>
          <p:cNvSpPr/>
          <p:nvPr/>
        </p:nvSpPr>
        <p:spPr>
          <a:xfrm>
            <a:off x="3393579" y="2125935"/>
            <a:ext cx="2117303" cy="19050"/>
          </a:xfrm>
          <a:prstGeom prst="rect">
            <a:avLst/>
          </a:prstGeom>
          <a:solidFill>
            <a:srgbClr val="1C1B19"/>
          </a:solidFill>
          <a:ln/>
        </p:spPr>
        <p:txBody>
          <a:bodyPr/>
          <a:p/>
        </p:txBody>
      </p:sp>
      <p:sp>
        <p:nvSpPr>
          <p:cNvPr id="10" name="Text 8"/>
          <p:cNvSpPr/>
          <p:nvPr/>
        </p:nvSpPr>
        <p:spPr>
          <a:xfrm>
            <a:off x="3393579" y="2316435"/>
            <a:ext cx="232903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02</a:t>
            </a:r>
            <a:endParaRPr lang="en-US" sz="1800" dirty="0"/>
          </a:p>
        </p:txBody>
      </p:sp>
      <p:sp>
        <p:nvSpPr>
          <p:cNvPr id="11" name="Text 9"/>
          <p:cNvSpPr/>
          <p:nvPr/>
        </p:nvSpPr>
        <p:spPr>
          <a:xfrm>
            <a:off x="3393579" y="2659335"/>
            <a:ext cx="2329034"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Plan</a:t>
            </a:r>
            <a:endParaRPr lang="en-US" sz="2100" dirty="0"/>
          </a:p>
        </p:txBody>
      </p:sp>
      <p:sp>
        <p:nvSpPr>
          <p:cNvPr id="12" name="Text 10"/>
          <p:cNvSpPr/>
          <p:nvPr/>
        </p:nvSpPr>
        <p:spPr>
          <a:xfrm>
            <a:off x="3393579" y="3068910"/>
            <a:ext cx="2193503" cy="96388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Eleven ambiguities pinned; working rules; checkpoints.</a:t>
            </a:r>
            <a:endParaRPr lang="en-US" sz="1800" dirty="0"/>
          </a:p>
        </p:txBody>
      </p:sp>
      <p:sp>
        <p:nvSpPr>
          <p:cNvPr id="13" name="Text 11"/>
          <p:cNvSpPr/>
          <p:nvPr/>
        </p:nvSpPr>
        <p:spPr>
          <a:xfrm>
            <a:off x="3393579" y="4108996"/>
            <a:ext cx="2193503"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owner + assistant</a:t>
            </a:r>
            <a:endParaRPr lang="en-US" sz="1800" dirty="0"/>
          </a:p>
        </p:txBody>
      </p:sp>
      <p:sp>
        <p:nvSpPr>
          <p:cNvPr id="14" name="Shape 12"/>
          <p:cNvSpPr/>
          <p:nvPr/>
        </p:nvSpPr>
        <p:spPr>
          <a:xfrm>
            <a:off x="5739482" y="2125935"/>
            <a:ext cx="2117229" cy="19050"/>
          </a:xfrm>
          <a:prstGeom prst="rect">
            <a:avLst/>
          </a:prstGeom>
          <a:solidFill>
            <a:srgbClr val="1C1B19"/>
          </a:solidFill>
          <a:ln/>
        </p:spPr>
        <p:txBody>
          <a:bodyPr/>
          <a:p/>
        </p:txBody>
      </p:sp>
      <p:sp>
        <p:nvSpPr>
          <p:cNvPr id="15" name="Text 13"/>
          <p:cNvSpPr/>
          <p:nvPr/>
        </p:nvSpPr>
        <p:spPr>
          <a:xfrm>
            <a:off x="5739482" y="2316435"/>
            <a:ext cx="23289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5739482" y="2659335"/>
            <a:ext cx="2328952"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Research</a:t>
            </a:r>
            <a:endParaRPr lang="en-US" sz="2100" dirty="0"/>
          </a:p>
        </p:txBody>
      </p:sp>
      <p:sp>
        <p:nvSpPr>
          <p:cNvPr id="17" name="Text 15"/>
          <p:cNvSpPr/>
          <p:nvPr/>
        </p:nvSpPr>
        <p:spPr>
          <a:xfrm>
            <a:off x="5739482" y="3068910"/>
            <a:ext cx="2193429" cy="127248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How real controllers assign; traffic patterns from the literature.</a:t>
            </a:r>
            <a:endParaRPr lang="en-US" sz="1800" dirty="0"/>
          </a:p>
        </p:txBody>
      </p:sp>
      <p:sp>
        <p:nvSpPr>
          <p:cNvPr id="18" name="Text 16"/>
          <p:cNvSpPr/>
          <p:nvPr/>
        </p:nvSpPr>
        <p:spPr>
          <a:xfrm>
            <a:off x="5739482" y="4417591"/>
            <a:ext cx="23289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assistant</a:t>
            </a:r>
            <a:endParaRPr lang="en-US" sz="1800" dirty="0"/>
          </a:p>
        </p:txBody>
      </p:sp>
      <p:sp>
        <p:nvSpPr>
          <p:cNvPr id="19" name="Shape 17"/>
          <p:cNvSpPr/>
          <p:nvPr/>
        </p:nvSpPr>
        <p:spPr>
          <a:xfrm>
            <a:off x="8085311" y="2125935"/>
            <a:ext cx="2117303" cy="19050"/>
          </a:xfrm>
          <a:prstGeom prst="rect">
            <a:avLst/>
          </a:prstGeom>
          <a:solidFill>
            <a:srgbClr val="1C1B19"/>
          </a:solidFill>
          <a:ln/>
        </p:spPr>
        <p:txBody>
          <a:bodyPr/>
          <a:p/>
        </p:txBody>
      </p:sp>
      <p:sp>
        <p:nvSpPr>
          <p:cNvPr id="20" name="Text 18"/>
          <p:cNvSpPr/>
          <p:nvPr/>
        </p:nvSpPr>
        <p:spPr>
          <a:xfrm>
            <a:off x="8085311" y="2316435"/>
            <a:ext cx="232903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04</a:t>
            </a:r>
            <a:endParaRPr lang="en-US" sz="1800" dirty="0"/>
          </a:p>
        </p:txBody>
      </p:sp>
      <p:sp>
        <p:nvSpPr>
          <p:cNvPr id="21" name="Text 19"/>
          <p:cNvSpPr/>
          <p:nvPr/>
        </p:nvSpPr>
        <p:spPr>
          <a:xfrm>
            <a:off x="8085311" y="2659335"/>
            <a:ext cx="2329034"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Build &amp; test</a:t>
            </a:r>
            <a:endParaRPr lang="en-US" sz="2100" dirty="0"/>
          </a:p>
        </p:txBody>
      </p:sp>
      <p:sp>
        <p:nvSpPr>
          <p:cNvPr id="22" name="Text 20"/>
          <p:cNvSpPr/>
          <p:nvPr/>
        </p:nvSpPr>
        <p:spPr>
          <a:xfrm>
            <a:off x="8085311" y="3068910"/>
            <a:ext cx="2193503" cy="96388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Engine, three rules, seeded scenarios, 192 tests.</a:t>
            </a:r>
            <a:endParaRPr lang="en-US" sz="1800" dirty="0"/>
          </a:p>
        </p:txBody>
      </p:sp>
      <p:sp>
        <p:nvSpPr>
          <p:cNvPr id="23" name="Text 21"/>
          <p:cNvSpPr/>
          <p:nvPr/>
        </p:nvSpPr>
        <p:spPr>
          <a:xfrm>
            <a:off x="8085311" y="4108996"/>
            <a:ext cx="2193503"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assistant, autonomous</a:t>
            </a:r>
            <a:endParaRPr lang="en-US" sz="1800" dirty="0"/>
          </a:p>
        </p:txBody>
      </p:sp>
      <p:sp>
        <p:nvSpPr>
          <p:cNvPr id="24" name="Shape 22"/>
          <p:cNvSpPr/>
          <p:nvPr/>
        </p:nvSpPr>
        <p:spPr>
          <a:xfrm>
            <a:off x="10431214" y="2125935"/>
            <a:ext cx="2117229" cy="19050"/>
          </a:xfrm>
          <a:prstGeom prst="rect">
            <a:avLst/>
          </a:prstGeom>
          <a:solidFill>
            <a:srgbClr val="1C1B19"/>
          </a:solidFill>
          <a:ln/>
        </p:spPr>
        <p:txBody>
          <a:bodyPr/>
          <a:p/>
        </p:txBody>
      </p:sp>
      <p:sp>
        <p:nvSpPr>
          <p:cNvPr id="25" name="Text 23"/>
          <p:cNvSpPr/>
          <p:nvPr/>
        </p:nvSpPr>
        <p:spPr>
          <a:xfrm>
            <a:off x="10431214" y="2316435"/>
            <a:ext cx="23289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05</a:t>
            </a:r>
            <a:endParaRPr lang="en-US" sz="1800" dirty="0"/>
          </a:p>
        </p:txBody>
      </p:sp>
      <p:sp>
        <p:nvSpPr>
          <p:cNvPr id="26" name="Text 24"/>
          <p:cNvSpPr/>
          <p:nvPr/>
        </p:nvSpPr>
        <p:spPr>
          <a:xfrm>
            <a:off x="10431214" y="2659335"/>
            <a:ext cx="2328952"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Measure</a:t>
            </a:r>
            <a:endParaRPr lang="en-US" sz="2100" dirty="0"/>
          </a:p>
        </p:txBody>
      </p:sp>
      <p:sp>
        <p:nvSpPr>
          <p:cNvPr id="27" name="Text 25"/>
          <p:cNvSpPr/>
          <p:nvPr/>
        </p:nvSpPr>
        <p:spPr>
          <a:xfrm>
            <a:off x="10431214" y="3068910"/>
            <a:ext cx="2193429" cy="96388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Comparison, charts, car usage, the browser simulator.</a:t>
            </a:r>
            <a:endParaRPr lang="en-US" sz="1800" dirty="0"/>
          </a:p>
        </p:txBody>
      </p:sp>
      <p:sp>
        <p:nvSpPr>
          <p:cNvPr id="28" name="Text 26"/>
          <p:cNvSpPr/>
          <p:nvPr/>
        </p:nvSpPr>
        <p:spPr>
          <a:xfrm>
            <a:off x="10431214" y="4108996"/>
            <a:ext cx="23289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assistant</a:t>
            </a:r>
            <a:endParaRPr lang="en-US" sz="1800" dirty="0"/>
          </a:p>
        </p:txBody>
      </p:sp>
      <p:sp>
        <p:nvSpPr>
          <p:cNvPr id="29" name="Shape 27"/>
          <p:cNvSpPr/>
          <p:nvPr/>
        </p:nvSpPr>
        <p:spPr>
          <a:xfrm>
            <a:off x="12777043" y="2125935"/>
            <a:ext cx="2117303" cy="19050"/>
          </a:xfrm>
          <a:prstGeom prst="rect">
            <a:avLst/>
          </a:prstGeom>
          <a:solidFill>
            <a:srgbClr val="1C1B19"/>
          </a:solidFill>
          <a:ln/>
        </p:spPr>
        <p:txBody>
          <a:bodyPr/>
          <a:p/>
        </p:txBody>
      </p:sp>
      <p:sp>
        <p:nvSpPr>
          <p:cNvPr id="30" name="Text 28"/>
          <p:cNvSpPr/>
          <p:nvPr/>
        </p:nvSpPr>
        <p:spPr>
          <a:xfrm>
            <a:off x="12777043" y="2316435"/>
            <a:ext cx="232903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06</a:t>
            </a:r>
            <a:endParaRPr lang="en-US" sz="1800" dirty="0"/>
          </a:p>
        </p:txBody>
      </p:sp>
      <p:sp>
        <p:nvSpPr>
          <p:cNvPr id="31" name="Text 29"/>
          <p:cNvSpPr/>
          <p:nvPr/>
        </p:nvSpPr>
        <p:spPr>
          <a:xfrm>
            <a:off x="12777043" y="2659335"/>
            <a:ext cx="2329034"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Validate</a:t>
            </a:r>
            <a:endParaRPr lang="en-US" sz="2100" dirty="0"/>
          </a:p>
        </p:txBody>
      </p:sp>
      <p:sp>
        <p:nvSpPr>
          <p:cNvPr id="32" name="Text 30"/>
          <p:cNvSpPr/>
          <p:nvPr/>
        </p:nvSpPr>
        <p:spPr>
          <a:xfrm>
            <a:off x="12777043" y="3068910"/>
            <a:ext cx="2193503" cy="96388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Adversarial review; twenty fresh seeds per pattern.</a:t>
            </a:r>
            <a:endParaRPr lang="en-US" sz="1800" dirty="0"/>
          </a:p>
        </p:txBody>
      </p:sp>
      <p:sp>
        <p:nvSpPr>
          <p:cNvPr id="33" name="Text 31"/>
          <p:cNvSpPr/>
          <p:nvPr/>
        </p:nvSpPr>
        <p:spPr>
          <a:xfrm>
            <a:off x="12777043" y="4108996"/>
            <a:ext cx="232903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assistant</a:t>
            </a:r>
            <a:endParaRPr lang="en-US" sz="1800" dirty="0"/>
          </a:p>
        </p:txBody>
      </p:sp>
      <p:sp>
        <p:nvSpPr>
          <p:cNvPr id="34" name="Shape 32"/>
          <p:cNvSpPr/>
          <p:nvPr/>
        </p:nvSpPr>
        <p:spPr>
          <a:xfrm>
            <a:off x="15122947" y="2125935"/>
            <a:ext cx="2117303" cy="19050"/>
          </a:xfrm>
          <a:prstGeom prst="rect">
            <a:avLst/>
          </a:prstGeom>
          <a:solidFill>
            <a:srgbClr val="1C1B19"/>
          </a:solidFill>
          <a:ln/>
        </p:spPr>
        <p:txBody>
          <a:bodyPr/>
          <a:p/>
        </p:txBody>
      </p:sp>
      <p:sp>
        <p:nvSpPr>
          <p:cNvPr id="35" name="Text 33"/>
          <p:cNvSpPr/>
          <p:nvPr/>
        </p:nvSpPr>
        <p:spPr>
          <a:xfrm>
            <a:off x="15122947" y="2316435"/>
            <a:ext cx="232903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07</a:t>
            </a:r>
            <a:endParaRPr lang="en-US" sz="1800" dirty="0"/>
          </a:p>
        </p:txBody>
      </p:sp>
      <p:sp>
        <p:nvSpPr>
          <p:cNvPr id="36" name="Text 34"/>
          <p:cNvSpPr/>
          <p:nvPr/>
        </p:nvSpPr>
        <p:spPr>
          <a:xfrm>
            <a:off x="15122947" y="2659335"/>
            <a:ext cx="2329034"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1C1B19"/>
                </a:solidFill>
                <a:latin typeface="Arial" pitchFamily="34" charset="0"/>
                <a:ea typeface="Arial" pitchFamily="34" charset="-122"/>
                <a:cs typeface="Arial" pitchFamily="34" charset="-120"/>
              </a:rPr>
              <a:t>Document</a:t>
            </a:r>
            <a:endParaRPr lang="en-US" sz="2100" dirty="0"/>
          </a:p>
        </p:txBody>
      </p:sp>
      <p:sp>
        <p:nvSpPr>
          <p:cNvPr id="37" name="Text 35"/>
          <p:cNvSpPr/>
          <p:nvPr/>
        </p:nvSpPr>
        <p:spPr>
          <a:xfrm>
            <a:off x="15122947" y="3068910"/>
            <a:ext cx="2193503" cy="96388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C4A44"/>
                </a:solidFill>
                <a:latin typeface="Arial" pitchFamily="34" charset="0"/>
                <a:ea typeface="Arial" pitchFamily="34" charset="-122"/>
                <a:cs typeface="Arial" pitchFamily="34" charset="-120"/>
              </a:rPr>
              <a:t>Whitepaper, assumptions, design notes, this deck.</a:t>
            </a:r>
            <a:endParaRPr lang="en-US" sz="1800" dirty="0"/>
          </a:p>
        </p:txBody>
      </p:sp>
      <p:sp>
        <p:nvSpPr>
          <p:cNvPr id="38" name="Text 36"/>
          <p:cNvSpPr/>
          <p:nvPr/>
        </p:nvSpPr>
        <p:spPr>
          <a:xfrm>
            <a:off x="15122947" y="4108996"/>
            <a:ext cx="2193503"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owner + assistant</a:t>
            </a:r>
            <a:endParaRPr lang="en-US" sz="1800" dirty="0"/>
          </a:p>
        </p:txBody>
      </p:sp>
      <p:sp>
        <p:nvSpPr>
          <p:cNvPr id="39" name="Shape 37"/>
          <p:cNvSpPr/>
          <p:nvPr/>
        </p:nvSpPr>
        <p:spPr>
          <a:xfrm>
            <a:off x="1047750" y="5217691"/>
            <a:ext cx="16192500" cy="9525"/>
          </a:xfrm>
          <a:prstGeom prst="rect">
            <a:avLst/>
          </a:prstGeom>
          <a:solidFill>
            <a:srgbClr val="E1DFD9"/>
          </a:solidFill>
          <a:ln/>
        </p:spPr>
        <p:txBody>
          <a:bodyPr/>
          <a:p/>
        </p:txBody>
      </p:sp>
      <p:sp>
        <p:nvSpPr>
          <p:cNvPr id="40" name="Text 38"/>
          <p:cNvSpPr/>
          <p:nvPr/>
        </p:nvSpPr>
        <p:spPr>
          <a:xfrm>
            <a:off x="1047750" y="5532016"/>
            <a:ext cx="8570595"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OWNER</a:t>
            </a:r>
            <a:endParaRPr lang="en-US" sz="1800" dirty="0"/>
          </a:p>
        </p:txBody>
      </p:sp>
      <p:sp>
        <p:nvSpPr>
          <p:cNvPr id="41" name="Text 39"/>
          <p:cNvSpPr/>
          <p:nvPr/>
        </p:nvSpPr>
        <p:spPr>
          <a:xfrm>
            <a:off x="1047750" y="5913016"/>
            <a:ext cx="8025194"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Intent, scope and quality bar. Every judgement call. Review at each checkpoint before anything was committed.</a:t>
            </a:r>
            <a:endParaRPr lang="en-US" sz="2100" dirty="0"/>
          </a:p>
        </p:txBody>
      </p:sp>
      <p:sp>
        <p:nvSpPr>
          <p:cNvPr id="42" name="Text 40"/>
          <p:cNvSpPr/>
          <p:nvPr/>
        </p:nvSpPr>
        <p:spPr>
          <a:xfrm>
            <a:off x="9448800" y="5532016"/>
            <a:ext cx="8570595"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ASSISTANT</a:t>
            </a:r>
            <a:endParaRPr lang="en-US" sz="1800" dirty="0"/>
          </a:p>
        </p:txBody>
      </p:sp>
      <p:sp>
        <p:nvSpPr>
          <p:cNvPr id="43" name="Text 41"/>
          <p:cNvSpPr/>
          <p:nvPr/>
        </p:nvSpPr>
        <p:spPr>
          <a:xfrm>
            <a:off x="9448800" y="5913016"/>
            <a:ext cx="8025194"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Drafted, researched, built, tested, challenged. Executed the plan autonomously, committing as it went.</a:t>
            </a:r>
            <a:endParaRPr lang="en-US" sz="2100" dirty="0"/>
          </a:p>
        </p:txBody>
      </p:sp>
      <p:sp>
        <p:nvSpPr>
          <p:cNvPr id="44" name="Text 42"/>
          <p:cNvSpPr/>
          <p:nvPr/>
        </p:nvSpPr>
        <p:spPr>
          <a:xfrm>
            <a:off x="1047750" y="7040687"/>
            <a:ext cx="15697200"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Time: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two sessions on consecutive days — one to two hours of my attention on the first, two to three on the second; about six hours of wall-clock in the history, the assistant doing the rest.</a:t>
            </a:r>
            <a:endParaRPr lang="en-US" sz="2100" dirty="0"/>
          </a:p>
        </p:txBody>
      </p:sp>
      <p:sp>
        <p:nvSpPr>
          <p:cNvPr id="45" name="Text 43"/>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46" name="Text 44"/>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04 / 16</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6912449"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How the model works</a:t>
            </a:r>
            <a:endParaRPr lang="en-US" sz="5400" dirty="0"/>
          </a:p>
        </p:txBody>
      </p:sp>
      <p:sp>
        <p:nvSpPr>
          <p:cNvPr id="3" name="Text 1"/>
          <p:cNvSpPr/>
          <p:nvPr/>
        </p:nvSpPr>
        <p:spPr>
          <a:xfrm>
            <a:off x="7598494" y="1333500"/>
            <a:ext cx="43904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for the engineers · skippable</a:t>
            </a:r>
            <a:endParaRPr lang="en-US" sz="1800" dirty="0"/>
          </a:p>
        </p:txBody>
      </p:sp>
      <p:sp>
        <p:nvSpPr>
          <p:cNvPr id="4" name="Text 2"/>
          <p:cNvSpPr/>
          <p:nvPr/>
        </p:nvSpPr>
        <p:spPr>
          <a:xfrm>
            <a:off x="1047750" y="2202135"/>
            <a:ext cx="8781127"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ONE TICK, IN FIXED ORDER</a:t>
            </a:r>
            <a:endParaRPr lang="en-US" sz="1800" dirty="0"/>
          </a:p>
        </p:txBody>
      </p:sp>
      <p:sp>
        <p:nvSpPr>
          <p:cNvPr id="5" name="Text 3"/>
          <p:cNvSpPr/>
          <p:nvPr/>
        </p:nvSpPr>
        <p:spPr>
          <a:xfrm>
            <a:off x="1047750" y="2697435"/>
            <a:ext cx="685800" cy="860971"/>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1</a:t>
            </a:r>
            <a:endParaRPr lang="en-US" sz="2400" dirty="0"/>
          </a:p>
        </p:txBody>
      </p:sp>
      <p:sp>
        <p:nvSpPr>
          <p:cNvPr id="6" name="Text 4"/>
          <p:cNvSpPr/>
          <p:nvPr/>
        </p:nvSpPr>
        <p:spPr>
          <a:xfrm>
            <a:off x="1809750" y="2697435"/>
            <a:ext cx="7437468"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Release and assign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requests due now reach the scheduler; it returns a car index.</a:t>
            </a:r>
            <a:endParaRPr lang="en-US" sz="2400" dirty="0"/>
          </a:p>
        </p:txBody>
      </p:sp>
      <p:sp>
        <p:nvSpPr>
          <p:cNvPr id="7" name="Text 5"/>
          <p:cNvSpPr/>
          <p:nvPr/>
        </p:nvSpPr>
        <p:spPr>
          <a:xfrm>
            <a:off x="1047750" y="3729856"/>
            <a:ext cx="685800" cy="1272406"/>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2</a:t>
            </a:r>
            <a:endParaRPr lang="en-US" sz="2400" dirty="0"/>
          </a:p>
        </p:txBody>
      </p:sp>
      <p:sp>
        <p:nvSpPr>
          <p:cNvPr id="8" name="Text 6"/>
          <p:cNvSpPr/>
          <p:nvPr/>
        </p:nvSpPr>
        <p:spPr>
          <a:xfrm>
            <a:off x="1809750" y="3729856"/>
            <a:ext cx="7437468" cy="1272406"/>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Unload, then load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at the current floor, in request order, while capacity allows, only in the departure direction.</a:t>
            </a:r>
            <a:endParaRPr lang="en-US" sz="2400" dirty="0"/>
          </a:p>
        </p:txBody>
      </p:sp>
      <p:sp>
        <p:nvSpPr>
          <p:cNvPr id="9" name="Text 7"/>
          <p:cNvSpPr/>
          <p:nvPr/>
        </p:nvSpPr>
        <p:spPr>
          <a:xfrm>
            <a:off x="1047750" y="5173712"/>
            <a:ext cx="685800" cy="449535"/>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3</a:t>
            </a:r>
            <a:endParaRPr lang="en-US" sz="2400" dirty="0"/>
          </a:p>
        </p:txBody>
      </p:sp>
      <p:sp>
        <p:nvSpPr>
          <p:cNvPr id="10" name="Text 8"/>
          <p:cNvSpPr/>
          <p:nvPr/>
        </p:nvSpPr>
        <p:spPr>
          <a:xfrm>
            <a:off x="1809750" y="5173712"/>
            <a:ext cx="7942927" cy="449535"/>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Log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one row of positions per tick, from tick 0.</a:t>
            </a:r>
            <a:endParaRPr lang="en-US" sz="2400" dirty="0"/>
          </a:p>
        </p:txBody>
      </p:sp>
      <p:sp>
        <p:nvSpPr>
          <p:cNvPr id="11" name="Text 9"/>
          <p:cNvSpPr/>
          <p:nvPr/>
        </p:nvSpPr>
        <p:spPr>
          <a:xfrm>
            <a:off x="1047750" y="5794697"/>
            <a:ext cx="685800" cy="860971"/>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4</a:t>
            </a:r>
            <a:endParaRPr lang="en-US" sz="2400" dirty="0"/>
          </a:p>
        </p:txBody>
      </p:sp>
      <p:sp>
        <p:nvSpPr>
          <p:cNvPr id="12" name="Text 10"/>
          <p:cNvSpPr/>
          <p:nvPr/>
        </p:nvSpPr>
        <p:spPr>
          <a:xfrm>
            <a:off x="1809750" y="5794697"/>
            <a:ext cx="7437468"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Advance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each car moves one floor toward its next stop, dwells, or stays idle.</a:t>
            </a:r>
            <a:endParaRPr lang="en-US" sz="2400" dirty="0"/>
          </a:p>
        </p:txBody>
      </p:sp>
      <p:sp>
        <p:nvSpPr>
          <p:cNvPr id="13" name="Text 11"/>
          <p:cNvSpPr/>
          <p:nvPr/>
        </p:nvSpPr>
        <p:spPr>
          <a:xfrm>
            <a:off x="9983093" y="2202135"/>
            <a:ext cx="7982873"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ENFORCED BY STRUCTURE, PINNED BY TESTS</a:t>
            </a:r>
            <a:endParaRPr lang="en-US" sz="1800" dirty="0"/>
          </a:p>
        </p:txBody>
      </p:sp>
      <p:sp>
        <p:nvSpPr>
          <p:cNvPr id="14" name="Text 12"/>
          <p:cNvSpPr/>
          <p:nvPr/>
        </p:nvSpPr>
        <p:spPr>
          <a:xfrm>
            <a:off x="9983093" y="2697435"/>
            <a:ext cx="7474872"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No peek-ahead. </a:t>
            </a:r>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The feed releases a request only when time ≤ now; a spy scheduler proves it.</a:t>
            </a:r>
            <a:endParaRPr lang="en-US" sz="2400" dirty="0"/>
          </a:p>
        </p:txBody>
      </p:sp>
      <p:sp>
        <p:nvSpPr>
          <p:cNvPr id="15" name="Text 13"/>
          <p:cNvSpPr/>
          <p:nvPr/>
        </p:nvSpPr>
        <p:spPr>
          <a:xfrm>
            <a:off x="9983093" y="3729856"/>
            <a:ext cx="7474872"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Assignment is final </a:t>
            </a:r>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 as in real destination systems — so capacity is the scheduler’s problem.</a:t>
            </a:r>
            <a:endParaRPr lang="en-US" sz="2400" dirty="0"/>
          </a:p>
        </p:txBody>
      </p:sp>
      <p:sp>
        <p:nvSpPr>
          <p:cNvPr id="16" name="Text 14"/>
          <p:cNvSpPr/>
          <p:nvPr/>
        </p:nvSpPr>
        <p:spPr>
          <a:xfrm>
            <a:off x="9983093" y="4762277"/>
            <a:ext cx="7474872"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LOOK movement. </a:t>
            </a:r>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Keep direction while a stop lies ahead; never carry anyone away from their destination.</a:t>
            </a:r>
            <a:endParaRPr lang="en-US" sz="2400" dirty="0"/>
          </a:p>
        </p:txBody>
      </p:sp>
      <p:sp>
        <p:nvSpPr>
          <p:cNvPr id="17" name="Text 15"/>
          <p:cNvSpPr/>
          <p:nvPr/>
        </p:nvSpPr>
        <p:spPr>
          <a:xfrm>
            <a:off x="9983093" y="5794697"/>
            <a:ext cx="7474872" cy="870496"/>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A stop costs one tick. </a:t>
            </a:r>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The brief’s literal model is recovered with </a:t>
            </a:r>
            <a:pPr algn="l" indent="0" marL="0">
              <a:lnSpc>
                <a:spcPct val="116757"/>
              </a:lnSpc>
              <a:buNone/>
            </a:pPr>
            <a:r>
              <a:rPr lang="en-US" sz="2400" dirty="0">
                <a:solidFill>
                  <a:srgbClr val="4C4A44"/>
                </a:solidFill>
                <a:latin typeface="Courier New" pitchFamily="34" charset="0"/>
                <a:ea typeface="Courier New" pitchFamily="34" charset="-122"/>
                <a:cs typeface="Courier New" pitchFamily="34" charset="-120"/>
              </a:rPr>
              <a:t>--dwell 0</a:t>
            </a:r>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19" name="Text 17"/>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05 / 16</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The three dispatch rules</a:t>
            </a:r>
            <a:endParaRPr lang="en-US" sz="5400" dirty="0"/>
          </a:p>
        </p:txBody>
      </p:sp>
      <p:sp>
        <p:nvSpPr>
          <p:cNvPr id="3" name="Shape 1"/>
          <p:cNvSpPr/>
          <p:nvPr/>
        </p:nvSpPr>
        <p:spPr>
          <a:xfrm>
            <a:off x="1047750" y="2202135"/>
            <a:ext cx="5092675" cy="76200"/>
          </a:xfrm>
          <a:prstGeom prst="rect">
            <a:avLst/>
          </a:prstGeom>
          <a:solidFill>
            <a:srgbClr val="2F6FD0"/>
          </a:solidFill>
          <a:ln/>
        </p:spPr>
        <p:txBody>
          <a:bodyPr/>
          <a:p/>
        </p:txBody>
      </p:sp>
      <p:sp>
        <p:nvSpPr>
          <p:cNvPr id="4" name="Text 2"/>
          <p:cNvSpPr/>
          <p:nvPr/>
        </p:nvSpPr>
        <p:spPr>
          <a:xfrm>
            <a:off x="1047750" y="2545035"/>
            <a:ext cx="5601943"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1C1B19"/>
                </a:solidFill>
                <a:latin typeface="Arial" pitchFamily="34" charset="0"/>
                <a:ea typeface="Arial" pitchFamily="34" charset="-122"/>
                <a:cs typeface="Arial" pitchFamily="34" charset="-120"/>
              </a:rPr>
              <a:t>Smart dispatch</a:t>
            </a:r>
            <a:endParaRPr lang="en-US" sz="3000" dirty="0"/>
          </a:p>
        </p:txBody>
      </p:sp>
      <p:sp>
        <p:nvSpPr>
          <p:cNvPr id="5" name="Text 3"/>
          <p:cNvSpPr/>
          <p:nvPr/>
        </p:nvSpPr>
        <p:spPr>
          <a:xfrm>
            <a:off x="1047750" y="3049860"/>
            <a:ext cx="560194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ETD · estimated time to destination</a:t>
            </a:r>
            <a:endParaRPr lang="en-US" sz="1800" dirty="0"/>
          </a:p>
        </p:txBody>
      </p:sp>
      <p:sp>
        <p:nvSpPr>
          <p:cNvPr id="6" name="Text 4"/>
          <p:cNvSpPr/>
          <p:nvPr/>
        </p:nvSpPr>
        <p:spPr>
          <a:xfrm>
            <a:off x="1047750" y="3583260"/>
            <a:ext cx="5245455" cy="174486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C1B19"/>
                </a:solidFill>
                <a:latin typeface="Arial" pitchFamily="34" charset="0"/>
                <a:ea typeface="Arial" pitchFamily="34" charset="-122"/>
                <a:cs typeface="Arial" pitchFamily="34" charset="-120"/>
              </a:rPr>
              <a:t>Picks the car that delays everyone the least: the newcomer’s projected time to destination plus the delay added to passengers already assigned.</a:t>
            </a:r>
            <a:endParaRPr lang="en-US" sz="2400" dirty="0"/>
          </a:p>
        </p:txBody>
      </p:sp>
      <p:sp>
        <p:nvSpPr>
          <p:cNvPr id="7" name="Text 5"/>
          <p:cNvSpPr/>
          <p:nvPr/>
        </p:nvSpPr>
        <p:spPr>
          <a:xfrm>
            <a:off x="1047750" y="5518621"/>
            <a:ext cx="5245455" cy="1158106"/>
          </a:xfrm>
          <a:prstGeom prst="rect">
            <a:avLst/>
          </a:prstGeom>
          <a:noFill/>
          <a:ln/>
        </p:spPr>
        <p:txBody>
          <a:bodyPr wrap="square" lIns="25400" tIns="25400" rIns="25400" bIns="25400" rtlCol="0" anchor="t">
            <a:normAutofit/>
          </a:bodyPr>
          <a:lstStyle/>
          <a:p>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Trade-off: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optimises the aggregate; without a fairness weight it can leave one person waiting a long time.</a:t>
            </a:r>
            <a:endParaRPr lang="en-US" sz="2100" dirty="0"/>
          </a:p>
        </p:txBody>
      </p:sp>
      <p:sp>
        <p:nvSpPr>
          <p:cNvPr id="8" name="Shape 6"/>
          <p:cNvSpPr/>
          <p:nvPr/>
        </p:nvSpPr>
        <p:spPr>
          <a:xfrm>
            <a:off x="6597625" y="2202135"/>
            <a:ext cx="5092675" cy="76200"/>
          </a:xfrm>
          <a:prstGeom prst="rect">
            <a:avLst/>
          </a:prstGeom>
          <a:solidFill>
            <a:srgbClr val="D9762B"/>
          </a:solidFill>
          <a:ln/>
        </p:spPr>
        <p:txBody>
          <a:bodyPr/>
          <a:p/>
        </p:txBody>
      </p:sp>
      <p:sp>
        <p:nvSpPr>
          <p:cNvPr id="9" name="Text 7"/>
          <p:cNvSpPr/>
          <p:nvPr/>
        </p:nvSpPr>
        <p:spPr>
          <a:xfrm>
            <a:off x="6597625" y="2545035"/>
            <a:ext cx="5601943"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1C1B19"/>
                </a:solidFill>
                <a:latin typeface="Arial" pitchFamily="34" charset="0"/>
                <a:ea typeface="Arial" pitchFamily="34" charset="-122"/>
                <a:cs typeface="Arial" pitchFamily="34" charset="-120"/>
              </a:rPr>
              <a:t>Nearest car</a:t>
            </a:r>
            <a:endParaRPr lang="en-US" sz="3000" dirty="0"/>
          </a:p>
        </p:txBody>
      </p:sp>
      <p:sp>
        <p:nvSpPr>
          <p:cNvPr id="10" name="Text 8"/>
          <p:cNvSpPr/>
          <p:nvPr/>
        </p:nvSpPr>
        <p:spPr>
          <a:xfrm>
            <a:off x="6597625" y="3049860"/>
            <a:ext cx="560194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baseline · distance</a:t>
            </a:r>
            <a:endParaRPr lang="en-US" sz="1800" dirty="0"/>
          </a:p>
        </p:txBody>
      </p:sp>
      <p:sp>
        <p:nvSpPr>
          <p:cNvPr id="11" name="Text 9"/>
          <p:cNvSpPr/>
          <p:nvPr/>
        </p:nvSpPr>
        <p:spPr>
          <a:xfrm>
            <a:off x="6597625" y="3583260"/>
            <a:ext cx="5245455" cy="131817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C1B19"/>
                </a:solidFill>
                <a:latin typeface="Arial" pitchFamily="34" charset="0"/>
                <a:ea typeface="Arial" pitchFamily="34" charset="-122"/>
                <a:cs typeface="Arial" pitchFamily="34" charset="-120"/>
              </a:rPr>
              <a:t>Sends the closest car going the right way; a large penalty if the car is moving away or in the wrong direction.</a:t>
            </a:r>
            <a:endParaRPr lang="en-US" sz="2400" dirty="0"/>
          </a:p>
        </p:txBody>
      </p:sp>
      <p:sp>
        <p:nvSpPr>
          <p:cNvPr id="12" name="Text 10"/>
          <p:cNvSpPr/>
          <p:nvPr/>
        </p:nvSpPr>
        <p:spPr>
          <a:xfrm>
            <a:off x="6597625" y="5091931"/>
            <a:ext cx="5245455"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Trade-off: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ignores how many stops the car already has — so it degrades as load rises.</a:t>
            </a:r>
            <a:endParaRPr lang="en-US" sz="2100" dirty="0"/>
          </a:p>
        </p:txBody>
      </p:sp>
      <p:sp>
        <p:nvSpPr>
          <p:cNvPr id="13" name="Shape 11"/>
          <p:cNvSpPr/>
          <p:nvPr/>
        </p:nvSpPr>
        <p:spPr>
          <a:xfrm>
            <a:off x="12147500" y="2202135"/>
            <a:ext cx="5092750" cy="76200"/>
          </a:xfrm>
          <a:prstGeom prst="rect">
            <a:avLst/>
          </a:prstGeom>
          <a:solidFill>
            <a:srgbClr val="2A9D74"/>
          </a:solidFill>
          <a:ln/>
        </p:spPr>
        <p:txBody>
          <a:bodyPr/>
          <a:p/>
        </p:txBody>
      </p:sp>
      <p:sp>
        <p:nvSpPr>
          <p:cNvPr id="14" name="Text 12"/>
          <p:cNvSpPr/>
          <p:nvPr/>
        </p:nvSpPr>
        <p:spPr>
          <a:xfrm>
            <a:off x="12147500" y="2545035"/>
            <a:ext cx="5602025"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1C1B19"/>
                </a:solidFill>
                <a:latin typeface="Arial" pitchFamily="34" charset="0"/>
                <a:ea typeface="Arial" pitchFamily="34" charset="-122"/>
                <a:cs typeface="Arial" pitchFamily="34" charset="-120"/>
              </a:rPr>
              <a:t>Take turns</a:t>
            </a:r>
            <a:endParaRPr lang="en-US" sz="3000" dirty="0"/>
          </a:p>
        </p:txBody>
      </p:sp>
      <p:sp>
        <p:nvSpPr>
          <p:cNvPr id="15" name="Text 13"/>
          <p:cNvSpPr/>
          <p:nvPr/>
        </p:nvSpPr>
        <p:spPr>
          <a:xfrm>
            <a:off x="12147500" y="3049860"/>
            <a:ext cx="560202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baseline · round robin</a:t>
            </a:r>
            <a:endParaRPr lang="en-US" sz="1800" dirty="0"/>
          </a:p>
        </p:txBody>
      </p:sp>
      <p:sp>
        <p:nvSpPr>
          <p:cNvPr id="16" name="Text 14"/>
          <p:cNvSpPr/>
          <p:nvPr/>
        </p:nvSpPr>
        <p:spPr>
          <a:xfrm>
            <a:off x="12147500" y="3583260"/>
            <a:ext cx="5245532" cy="131817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C1B19"/>
                </a:solidFill>
                <a:latin typeface="Arial" pitchFamily="34" charset="0"/>
                <a:ea typeface="Arial" pitchFamily="34" charset="-122"/>
                <a:cs typeface="Arial" pitchFamily="34" charset="-120"/>
              </a:rPr>
              <a:t>Cars take requests in strict rotation, wherever they are. It uses no information at all.</a:t>
            </a:r>
            <a:endParaRPr lang="en-US" sz="2400" dirty="0"/>
          </a:p>
        </p:txBody>
      </p:sp>
      <p:sp>
        <p:nvSpPr>
          <p:cNvPr id="17" name="Text 15"/>
          <p:cNvSpPr/>
          <p:nvPr/>
        </p:nvSpPr>
        <p:spPr>
          <a:xfrm>
            <a:off x="12147500" y="5091931"/>
            <a:ext cx="524553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Trade-off: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nobody is singled out for a long wait; everybody waits longer.</a:t>
            </a:r>
            <a:endParaRPr lang="en-US" sz="2100" dirty="0"/>
          </a:p>
        </p:txBody>
      </p:sp>
      <p:sp>
        <p:nvSpPr>
          <p:cNvPr id="18" name="Text 16"/>
          <p:cNvSpPr/>
          <p:nvPr/>
        </p:nvSpPr>
        <p:spPr>
          <a:xfrm>
            <a:off x="1047750" y="7172027"/>
            <a:ext cx="14716125"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Three policies sit on top of any rule: a </a:t>
            </a:r>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fairness weight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that makes long waits progressively more expensive to extend, </a:t>
            </a:r>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parking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idle cars at a chosen floor, and </a:t>
            </a:r>
            <a:pPr algn="l" indent="0" marL="0">
              <a:lnSpc>
                <a:spcPct val="120615"/>
              </a:lnSpc>
              <a:buNone/>
            </a:pPr>
            <a:r>
              <a:rPr lang="en-US" sz="2100" b="1" dirty="0">
                <a:solidFill>
                  <a:srgbClr val="1C1B19"/>
                </a:solidFill>
                <a:latin typeface="Arial" pitchFamily="34" charset="0"/>
                <a:ea typeface="Arial" pitchFamily="34" charset="-122"/>
                <a:cs typeface="Arial" pitchFamily="34" charset="-120"/>
              </a:rPr>
              <a:t>zoning </a:t>
            </a:r>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cars to a range of floors.</a:t>
            </a:r>
            <a:endParaRPr lang="en-US" sz="2100" dirty="0"/>
          </a:p>
        </p:txBody>
      </p:sp>
      <p:sp>
        <p:nvSpPr>
          <p:cNvPr id="19" name="Text 17"/>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20" name="Text 18"/>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06 / 16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How the numbers were assured</a:t>
            </a:r>
            <a:endParaRPr lang="en-US" sz="5400" dirty="0"/>
          </a:p>
        </p:txBody>
      </p:sp>
      <p:sp>
        <p:nvSpPr>
          <p:cNvPr id="3" name="Text 1"/>
          <p:cNvSpPr/>
          <p:nvPr/>
        </p:nvSpPr>
        <p:spPr>
          <a:xfrm>
            <a:off x="1047750" y="2202135"/>
            <a:ext cx="5844399" cy="1638300"/>
          </a:xfrm>
          <a:prstGeom prst="rect">
            <a:avLst/>
          </a:prstGeom>
          <a:noFill/>
          <a:ln/>
        </p:spPr>
        <p:txBody>
          <a:bodyPr wrap="square" lIns="25400" tIns="25400" rIns="25400" bIns="25400" rtlCol="0" anchor="t">
            <a:normAutofit/>
          </a:bodyPr>
          <a:lstStyle/>
          <a:p>
            <a:pPr algn="l" indent="0" marL="0">
              <a:lnSpc>
                <a:spcPct val="87047"/>
              </a:lnSpc>
              <a:buNone/>
            </a:pPr>
            <a:r>
              <a:rPr lang="en-US" sz="12600" b="1" spc="-504" kern="0" dirty="0">
                <a:solidFill>
                  <a:srgbClr val="1C1B19"/>
                </a:solidFill>
                <a:latin typeface="Arial" pitchFamily="34" charset="0"/>
                <a:ea typeface="Arial" pitchFamily="34" charset="-122"/>
                <a:cs typeface="Arial" pitchFamily="34" charset="-120"/>
              </a:rPr>
              <a:t>192</a:t>
            </a:r>
            <a:endParaRPr lang="en-US" sz="12600" dirty="0"/>
          </a:p>
        </p:txBody>
      </p:sp>
      <p:sp>
        <p:nvSpPr>
          <p:cNvPr id="4" name="Text 2"/>
          <p:cNvSpPr/>
          <p:nvPr/>
        </p:nvSpPr>
        <p:spPr>
          <a:xfrm>
            <a:off x="1047750" y="3916635"/>
            <a:ext cx="5844399" cy="400050"/>
          </a:xfrm>
          <a:prstGeom prst="rect">
            <a:avLst/>
          </a:prstGeom>
          <a:noFill/>
          <a:ln/>
        </p:spPr>
        <p:txBody>
          <a:bodyPr wrap="square" lIns="25400" tIns="25400" rIns="25400" bIns="25400" rtlCol="0" anchor="t">
            <a:normAutofit/>
          </a:bodyPr>
          <a:lstStyle/>
          <a:p>
            <a:pPr algn="l" indent="0" marL="0">
              <a:buNone/>
            </a:pPr>
            <a:r>
              <a:rPr lang="en-US" sz="2400" dirty="0">
                <a:solidFill>
                  <a:srgbClr val="4C4A44"/>
                </a:solidFill>
                <a:latin typeface="Arial" pitchFamily="34" charset="0"/>
                <a:ea typeface="Arial" pitchFamily="34" charset="-122"/>
                <a:cs typeface="Arial" pitchFamily="34" charset="-120"/>
              </a:rPr>
              <a:t>tests, six levels</a:t>
            </a:r>
            <a:endParaRPr lang="en-US" sz="2400" dirty="0"/>
          </a:p>
        </p:txBody>
      </p:sp>
      <p:sp>
        <p:nvSpPr>
          <p:cNvPr id="5" name="Text 3"/>
          <p:cNvSpPr/>
          <p:nvPr/>
        </p:nvSpPr>
        <p:spPr>
          <a:xfrm>
            <a:off x="1047750" y="4545285"/>
            <a:ext cx="4953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7A786F"/>
                </a:solidFill>
                <a:latin typeface="Courier New" pitchFamily="34" charset="0"/>
                <a:ea typeface="Courier New" pitchFamily="34" charset="-122"/>
                <a:cs typeface="Courier New" pitchFamily="34" charset="-120"/>
              </a:rPr>
              <a:t>1</a:t>
            </a:r>
            <a:endParaRPr lang="en-US" sz="2100" dirty="0"/>
          </a:p>
        </p:txBody>
      </p:sp>
      <p:sp>
        <p:nvSpPr>
          <p:cNvPr id="6" name="Text 4"/>
          <p:cNvSpPr/>
          <p:nvPr/>
        </p:nvSpPr>
        <p:spPr>
          <a:xfrm>
            <a:off x="1466850" y="4545285"/>
            <a:ext cx="5383389"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Unit — every observable assumption</a:t>
            </a:r>
            <a:endParaRPr lang="en-US" sz="2100" dirty="0"/>
          </a:p>
        </p:txBody>
      </p:sp>
      <p:sp>
        <p:nvSpPr>
          <p:cNvPr id="7" name="Text 5"/>
          <p:cNvSpPr/>
          <p:nvPr/>
        </p:nvSpPr>
        <p:spPr>
          <a:xfrm>
            <a:off x="1047750" y="5006280"/>
            <a:ext cx="4953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7A786F"/>
                </a:solidFill>
                <a:latin typeface="Courier New" pitchFamily="34" charset="0"/>
                <a:ea typeface="Courier New" pitchFamily="34" charset="-122"/>
                <a:cs typeface="Courier New" pitchFamily="34" charset="-120"/>
              </a:rPr>
              <a:t>2</a:t>
            </a:r>
            <a:endParaRPr lang="en-US" sz="2100" dirty="0"/>
          </a:p>
        </p:txBody>
      </p:sp>
      <p:sp>
        <p:nvSpPr>
          <p:cNvPr id="8" name="Text 6"/>
          <p:cNvSpPr/>
          <p:nvPr/>
        </p:nvSpPr>
        <p:spPr>
          <a:xfrm>
            <a:off x="1466850" y="5006280"/>
            <a:ext cx="5383389"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Structural — no peek-ahead</a:t>
            </a:r>
            <a:endParaRPr lang="en-US" sz="2100" dirty="0"/>
          </a:p>
        </p:txBody>
      </p:sp>
      <p:sp>
        <p:nvSpPr>
          <p:cNvPr id="9" name="Text 7"/>
          <p:cNvSpPr/>
          <p:nvPr/>
        </p:nvSpPr>
        <p:spPr>
          <a:xfrm>
            <a:off x="1047750" y="5467276"/>
            <a:ext cx="495300" cy="73149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7A786F"/>
                </a:solidFill>
                <a:latin typeface="Courier New" pitchFamily="34" charset="0"/>
                <a:ea typeface="Courier New" pitchFamily="34" charset="-122"/>
                <a:cs typeface="Courier New" pitchFamily="34" charset="-120"/>
              </a:rPr>
              <a:t>3</a:t>
            </a:r>
            <a:endParaRPr lang="en-US" sz="2100" dirty="0"/>
          </a:p>
        </p:txBody>
      </p:sp>
      <p:sp>
        <p:nvSpPr>
          <p:cNvPr id="10" name="Text 8"/>
          <p:cNvSpPr/>
          <p:nvPr/>
        </p:nvSpPr>
        <p:spPr>
          <a:xfrm>
            <a:off x="1466850" y="5467276"/>
            <a:ext cx="5040809" cy="731490"/>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Property-based invariants, random buildings</a:t>
            </a:r>
            <a:endParaRPr lang="en-US" sz="2100" dirty="0"/>
          </a:p>
        </p:txBody>
      </p:sp>
      <p:sp>
        <p:nvSpPr>
          <p:cNvPr id="11" name="Text 9"/>
          <p:cNvSpPr/>
          <p:nvPr/>
        </p:nvSpPr>
        <p:spPr>
          <a:xfrm>
            <a:off x="1047750" y="6274966"/>
            <a:ext cx="4953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7A786F"/>
                </a:solidFill>
                <a:latin typeface="Courier New" pitchFamily="34" charset="0"/>
                <a:ea typeface="Courier New" pitchFamily="34" charset="-122"/>
                <a:cs typeface="Courier New" pitchFamily="34" charset="-120"/>
              </a:rPr>
              <a:t>4</a:t>
            </a:r>
            <a:endParaRPr lang="en-US" sz="2100" dirty="0"/>
          </a:p>
        </p:txBody>
      </p:sp>
      <p:sp>
        <p:nvSpPr>
          <p:cNvPr id="12" name="Text 10"/>
          <p:cNvSpPr/>
          <p:nvPr/>
        </p:nvSpPr>
        <p:spPr>
          <a:xfrm>
            <a:off x="1466850" y="6274966"/>
            <a:ext cx="5383389"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Golden statistics — every committed result</a:t>
            </a:r>
            <a:endParaRPr lang="en-US" sz="2100" dirty="0"/>
          </a:p>
        </p:txBody>
      </p:sp>
      <p:sp>
        <p:nvSpPr>
          <p:cNvPr id="13" name="Text 11"/>
          <p:cNvSpPr/>
          <p:nvPr/>
        </p:nvSpPr>
        <p:spPr>
          <a:xfrm>
            <a:off x="1047750" y="6735961"/>
            <a:ext cx="4953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7A786F"/>
                </a:solidFill>
                <a:latin typeface="Courier New" pitchFamily="34" charset="0"/>
                <a:ea typeface="Courier New" pitchFamily="34" charset="-122"/>
                <a:cs typeface="Courier New" pitchFamily="34" charset="-120"/>
              </a:rPr>
              <a:t>5</a:t>
            </a:r>
            <a:endParaRPr lang="en-US" sz="2100" dirty="0"/>
          </a:p>
        </p:txBody>
      </p:sp>
      <p:sp>
        <p:nvSpPr>
          <p:cNvPr id="14" name="Text 12"/>
          <p:cNvSpPr/>
          <p:nvPr/>
        </p:nvSpPr>
        <p:spPr>
          <a:xfrm>
            <a:off x="1466850" y="6735961"/>
            <a:ext cx="5383389"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Scenario and CLI, end to end</a:t>
            </a:r>
            <a:endParaRPr lang="en-US" sz="2100" dirty="0"/>
          </a:p>
        </p:txBody>
      </p:sp>
      <p:sp>
        <p:nvSpPr>
          <p:cNvPr id="15" name="Text 13"/>
          <p:cNvSpPr/>
          <p:nvPr/>
        </p:nvSpPr>
        <p:spPr>
          <a:xfrm>
            <a:off x="1047750" y="7196956"/>
            <a:ext cx="495300" cy="731490"/>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7A786F"/>
                </a:solidFill>
                <a:latin typeface="Courier New" pitchFamily="34" charset="0"/>
                <a:ea typeface="Courier New" pitchFamily="34" charset="-122"/>
                <a:cs typeface="Courier New" pitchFamily="34" charset="-120"/>
              </a:rPr>
              <a:t>6</a:t>
            </a:r>
            <a:endParaRPr lang="en-US" sz="2100" dirty="0"/>
          </a:p>
        </p:txBody>
      </p:sp>
      <p:sp>
        <p:nvSpPr>
          <p:cNvPr id="16" name="Text 14"/>
          <p:cNvSpPr/>
          <p:nvPr/>
        </p:nvSpPr>
        <p:spPr>
          <a:xfrm>
            <a:off x="1466850" y="7196956"/>
            <a:ext cx="5040809" cy="731490"/>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JS / Python conformance — incl. per-car usage</a:t>
            </a:r>
            <a:endParaRPr lang="en-US" sz="2100" dirty="0"/>
          </a:p>
        </p:txBody>
      </p:sp>
      <p:sp>
        <p:nvSpPr>
          <p:cNvPr id="17" name="Text 15"/>
          <p:cNvSpPr/>
          <p:nvPr/>
        </p:nvSpPr>
        <p:spPr>
          <a:xfrm>
            <a:off x="6970440" y="2202135"/>
            <a:ext cx="5313075" cy="1638300"/>
          </a:xfrm>
          <a:prstGeom prst="rect">
            <a:avLst/>
          </a:prstGeom>
          <a:noFill/>
          <a:ln/>
        </p:spPr>
        <p:txBody>
          <a:bodyPr wrap="square" lIns="25400" tIns="25400" rIns="25400" bIns="25400" rtlCol="0" anchor="t">
            <a:normAutofit/>
          </a:bodyPr>
          <a:lstStyle/>
          <a:p>
            <a:pPr algn="l" indent="0" marL="0">
              <a:lnSpc>
                <a:spcPct val="87047"/>
              </a:lnSpc>
              <a:buNone/>
            </a:pPr>
            <a:r>
              <a:rPr lang="en-US" sz="12600" b="1" spc="-504" kern="0" dirty="0">
                <a:solidFill>
                  <a:srgbClr val="1C1B19"/>
                </a:solidFill>
                <a:latin typeface="Arial" pitchFamily="34" charset="0"/>
                <a:ea typeface="Arial" pitchFamily="34" charset="-122"/>
                <a:cs typeface="Arial" pitchFamily="34" charset="-120"/>
              </a:rPr>
              <a:t>50</a:t>
            </a:r>
            <a:pPr algn="l" indent="0" marL="0">
              <a:lnSpc>
                <a:spcPct val="87047"/>
              </a:lnSpc>
              <a:buNone/>
            </a:pPr>
            <a:r>
              <a:rPr lang="en-US" sz="5400" b="1" spc="-504" kern="0" dirty="0">
                <a:solidFill>
                  <a:srgbClr val="7A786F"/>
                </a:solidFill>
                <a:latin typeface="Arial" pitchFamily="34" charset="0"/>
                <a:ea typeface="Arial" pitchFamily="34" charset="-122"/>
                <a:cs typeface="Arial" pitchFamily="34" charset="-120"/>
              </a:rPr>
              <a:t>/50</a:t>
            </a:r>
            <a:endParaRPr lang="en-US" sz="12600" dirty="0"/>
          </a:p>
        </p:txBody>
      </p:sp>
      <p:sp>
        <p:nvSpPr>
          <p:cNvPr id="18" name="Text 16"/>
          <p:cNvSpPr/>
          <p:nvPr/>
        </p:nvSpPr>
        <p:spPr>
          <a:xfrm>
            <a:off x="6970440" y="3916635"/>
            <a:ext cx="5313075" cy="400050"/>
          </a:xfrm>
          <a:prstGeom prst="rect">
            <a:avLst/>
          </a:prstGeom>
          <a:noFill/>
          <a:ln/>
        </p:spPr>
        <p:txBody>
          <a:bodyPr wrap="square" lIns="25400" tIns="25400" rIns="25400" bIns="25400" rtlCol="0" anchor="t">
            <a:normAutofit/>
          </a:bodyPr>
          <a:lstStyle/>
          <a:p>
            <a:pPr algn="l" indent="0" marL="0">
              <a:buNone/>
            </a:pPr>
            <a:r>
              <a:rPr lang="en-US" sz="2400" dirty="0">
                <a:solidFill>
                  <a:srgbClr val="4C4A44"/>
                </a:solidFill>
                <a:latin typeface="Arial" pitchFamily="34" charset="0"/>
                <a:ea typeface="Arial" pitchFamily="34" charset="-122"/>
                <a:cs typeface="Arial" pitchFamily="34" charset="-120"/>
              </a:rPr>
              <a:t>scenario × rule combinations</a:t>
            </a:r>
            <a:endParaRPr lang="en-US" sz="2400" dirty="0"/>
          </a:p>
        </p:txBody>
      </p:sp>
      <p:sp>
        <p:nvSpPr>
          <p:cNvPr id="19" name="Text 17"/>
          <p:cNvSpPr/>
          <p:nvPr/>
        </p:nvSpPr>
        <p:spPr>
          <a:xfrm>
            <a:off x="6970440" y="4545285"/>
            <a:ext cx="4974970" cy="153144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The browser engine is a JavaScript port. Positions per tick, the full event list and every passenger’s lifecycle are asserted identical to Python’s.</a:t>
            </a:r>
            <a:endParaRPr lang="en-US" sz="2100" dirty="0"/>
          </a:p>
        </p:txBody>
      </p:sp>
      <p:sp>
        <p:nvSpPr>
          <p:cNvPr id="20" name="Text 18"/>
          <p:cNvSpPr/>
          <p:nvPr/>
        </p:nvSpPr>
        <p:spPr>
          <a:xfrm>
            <a:off x="12410108" y="2202135"/>
            <a:ext cx="5313157" cy="1638300"/>
          </a:xfrm>
          <a:prstGeom prst="rect">
            <a:avLst/>
          </a:prstGeom>
          <a:noFill/>
          <a:ln/>
        </p:spPr>
        <p:txBody>
          <a:bodyPr wrap="square" lIns="25400" tIns="25400" rIns="25400" bIns="25400" rtlCol="0" anchor="t">
            <a:normAutofit/>
          </a:bodyPr>
          <a:lstStyle/>
          <a:p>
            <a:pPr algn="l" indent="0" marL="0">
              <a:lnSpc>
                <a:spcPct val="87047"/>
              </a:lnSpc>
              <a:buNone/>
            </a:pPr>
            <a:r>
              <a:rPr lang="en-US" sz="12600" b="1" spc="-504" kern="0" dirty="0">
                <a:solidFill>
                  <a:srgbClr val="1C1B19"/>
                </a:solidFill>
                <a:latin typeface="Arial" pitchFamily="34" charset="0"/>
                <a:ea typeface="Arial" pitchFamily="34" charset="-122"/>
                <a:cs typeface="Arial" pitchFamily="34" charset="-120"/>
              </a:rPr>
              <a:t>41</a:t>
            </a:r>
            <a:endParaRPr lang="en-US" sz="12600" dirty="0"/>
          </a:p>
        </p:txBody>
      </p:sp>
      <p:sp>
        <p:nvSpPr>
          <p:cNvPr id="21" name="Text 19"/>
          <p:cNvSpPr/>
          <p:nvPr/>
        </p:nvSpPr>
        <p:spPr>
          <a:xfrm>
            <a:off x="12410108" y="3916635"/>
            <a:ext cx="5313157" cy="400050"/>
          </a:xfrm>
          <a:prstGeom prst="rect">
            <a:avLst/>
          </a:prstGeom>
          <a:noFill/>
          <a:ln/>
        </p:spPr>
        <p:txBody>
          <a:bodyPr wrap="square" lIns="25400" tIns="25400" rIns="25400" bIns="25400" rtlCol="0" anchor="t">
            <a:normAutofit/>
          </a:bodyPr>
          <a:lstStyle/>
          <a:p>
            <a:pPr algn="l" indent="0" marL="0">
              <a:buNone/>
            </a:pPr>
            <a:r>
              <a:rPr lang="en-US" sz="2400" dirty="0">
                <a:solidFill>
                  <a:srgbClr val="4C4A44"/>
                </a:solidFill>
                <a:latin typeface="Arial" pitchFamily="34" charset="0"/>
                <a:ea typeface="Arial" pitchFamily="34" charset="-122"/>
                <a:cs typeface="Arial" pitchFamily="34" charset="-120"/>
              </a:rPr>
              <a:t>findings, adversarial review</a:t>
            </a:r>
            <a:endParaRPr lang="en-US" sz="2400" dirty="0"/>
          </a:p>
        </p:txBody>
      </p:sp>
      <p:sp>
        <p:nvSpPr>
          <p:cNvPr id="22" name="Text 20"/>
          <p:cNvSpPr/>
          <p:nvPr/>
        </p:nvSpPr>
        <p:spPr>
          <a:xfrm>
            <a:off x="12410108" y="4545285"/>
            <a:ext cx="6858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C1B19"/>
                </a:solidFill>
                <a:latin typeface="Courier New" pitchFamily="34" charset="0"/>
                <a:ea typeface="Courier New" pitchFamily="34" charset="-122"/>
                <a:cs typeface="Courier New" pitchFamily="34" charset="-120"/>
              </a:rPr>
              <a:t>0</a:t>
            </a:r>
            <a:endParaRPr lang="en-US" sz="2100" dirty="0"/>
          </a:p>
        </p:txBody>
      </p:sp>
      <p:sp>
        <p:nvSpPr>
          <p:cNvPr id="23" name="Text 21"/>
          <p:cNvSpPr/>
          <p:nvPr/>
        </p:nvSpPr>
        <p:spPr>
          <a:xfrm>
            <a:off x="13019708" y="4545285"/>
            <a:ext cx="4642597"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blockers · 8 major</a:t>
            </a:r>
            <a:endParaRPr lang="en-US" sz="2100" dirty="0"/>
          </a:p>
        </p:txBody>
      </p:sp>
      <p:sp>
        <p:nvSpPr>
          <p:cNvPr id="24" name="Text 22"/>
          <p:cNvSpPr/>
          <p:nvPr/>
        </p:nvSpPr>
        <p:spPr>
          <a:xfrm>
            <a:off x="12410108" y="5006280"/>
            <a:ext cx="6858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C1B19"/>
                </a:solidFill>
                <a:latin typeface="Courier New" pitchFamily="34" charset="0"/>
                <a:ea typeface="Courier New" pitchFamily="34" charset="-122"/>
                <a:cs typeface="Courier New" pitchFamily="34" charset="-120"/>
              </a:rPr>
              <a:t>16</a:t>
            </a:r>
            <a:endParaRPr lang="en-US" sz="2100" dirty="0"/>
          </a:p>
        </p:txBody>
      </p:sp>
      <p:sp>
        <p:nvSpPr>
          <p:cNvPr id="25" name="Text 23"/>
          <p:cNvSpPr/>
          <p:nvPr/>
        </p:nvSpPr>
        <p:spPr>
          <a:xfrm>
            <a:off x="13019708" y="5006280"/>
            <a:ext cx="4642597"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changed code or tests</a:t>
            </a:r>
            <a:endParaRPr lang="en-US" sz="2100" dirty="0"/>
          </a:p>
        </p:txBody>
      </p:sp>
      <p:sp>
        <p:nvSpPr>
          <p:cNvPr id="26" name="Text 24"/>
          <p:cNvSpPr/>
          <p:nvPr/>
        </p:nvSpPr>
        <p:spPr>
          <a:xfrm>
            <a:off x="12410108" y="5467276"/>
            <a:ext cx="6858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C1B19"/>
                </a:solidFill>
                <a:latin typeface="Courier New" pitchFamily="34" charset="0"/>
                <a:ea typeface="Courier New" pitchFamily="34" charset="-122"/>
                <a:cs typeface="Courier New" pitchFamily="34" charset="-120"/>
              </a:rPr>
              <a:t>21</a:t>
            </a:r>
            <a:endParaRPr lang="en-US" sz="2100" dirty="0"/>
          </a:p>
        </p:txBody>
      </p:sp>
      <p:sp>
        <p:nvSpPr>
          <p:cNvPr id="27" name="Text 25"/>
          <p:cNvSpPr/>
          <p:nvPr/>
        </p:nvSpPr>
        <p:spPr>
          <a:xfrm>
            <a:off x="13019708" y="5467276"/>
            <a:ext cx="4642597"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changed documents</a:t>
            </a:r>
            <a:endParaRPr lang="en-US" sz="2100" dirty="0"/>
          </a:p>
        </p:txBody>
      </p:sp>
      <p:sp>
        <p:nvSpPr>
          <p:cNvPr id="28" name="Text 26"/>
          <p:cNvSpPr/>
          <p:nvPr/>
        </p:nvSpPr>
        <p:spPr>
          <a:xfrm>
            <a:off x="12410108" y="5928271"/>
            <a:ext cx="685800" cy="384795"/>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C1B19"/>
                </a:solidFill>
                <a:latin typeface="Courier New" pitchFamily="34" charset="0"/>
                <a:ea typeface="Courier New" pitchFamily="34" charset="-122"/>
                <a:cs typeface="Courier New" pitchFamily="34" charset="-120"/>
              </a:rPr>
              <a:t>4</a:t>
            </a:r>
            <a:endParaRPr lang="en-US" sz="2100" dirty="0"/>
          </a:p>
        </p:txBody>
      </p:sp>
      <p:sp>
        <p:nvSpPr>
          <p:cNvPr id="29" name="Text 27"/>
          <p:cNvSpPr/>
          <p:nvPr/>
        </p:nvSpPr>
        <p:spPr>
          <a:xfrm>
            <a:off x="13019708" y="5928271"/>
            <a:ext cx="4642597"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resolved otherwise</a:t>
            </a:r>
            <a:endParaRPr lang="en-US" sz="2100" dirty="0"/>
          </a:p>
        </p:txBody>
      </p:sp>
      <p:sp>
        <p:nvSpPr>
          <p:cNvPr id="30" name="Text 28"/>
          <p:cNvSpPr/>
          <p:nvPr/>
        </p:nvSpPr>
        <p:spPr>
          <a:xfrm>
            <a:off x="12410108" y="6389266"/>
            <a:ext cx="685800" cy="731490"/>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C1B19"/>
                </a:solidFill>
                <a:latin typeface="Courier New" pitchFamily="34" charset="0"/>
                <a:ea typeface="Courier New" pitchFamily="34" charset="-122"/>
                <a:cs typeface="Courier New" pitchFamily="34" charset="-120"/>
              </a:rPr>
              <a:t>20</a:t>
            </a:r>
            <a:endParaRPr lang="en-US" sz="2100" dirty="0"/>
          </a:p>
        </p:txBody>
      </p:sp>
      <p:sp>
        <p:nvSpPr>
          <p:cNvPr id="31" name="Text 29"/>
          <p:cNvSpPr/>
          <p:nvPr/>
        </p:nvSpPr>
        <p:spPr>
          <a:xfrm>
            <a:off x="13019708" y="6389266"/>
            <a:ext cx="4347159" cy="731490"/>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4C4A44"/>
                </a:solidFill>
                <a:latin typeface="Arial" pitchFamily="34" charset="0"/>
                <a:ea typeface="Arial" pitchFamily="34" charset="-122"/>
                <a:cs typeface="Arial" pitchFamily="34" charset="-120"/>
              </a:rPr>
              <a:t>fresh seeds per pattern — the headline held</a:t>
            </a:r>
            <a:endParaRPr lang="en-US" sz="2100" dirty="0"/>
          </a:p>
        </p:txBody>
      </p:sp>
      <p:sp>
        <p:nvSpPr>
          <p:cNvPr id="32" name="Text 30"/>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33" name="Text 31"/>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07 / 16</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1047750" y="914400"/>
            <a:ext cx="17811750"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9B998F"/>
                </a:solidFill>
                <a:latin typeface="Courier New" pitchFamily="34" charset="0"/>
                <a:ea typeface="Courier New" pitchFamily="34" charset="-122"/>
                <a:cs typeface="Courier New" pitchFamily="34" charset="-120"/>
              </a:rPr>
              <a:t>SWITCHING TO THE BROWSER</a:t>
            </a:r>
            <a:endParaRPr lang="en-US" sz="1800" dirty="0"/>
          </a:p>
        </p:txBody>
      </p:sp>
      <p:sp>
        <p:nvSpPr>
          <p:cNvPr id="3" name="Text 1"/>
          <p:cNvSpPr/>
          <p:nvPr/>
        </p:nvSpPr>
        <p:spPr>
          <a:xfrm>
            <a:off x="1047750" y="1371600"/>
            <a:ext cx="8082573"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F6F5F2"/>
                </a:solidFill>
                <a:latin typeface="Arial" pitchFamily="34" charset="0"/>
                <a:ea typeface="Arial" pitchFamily="34" charset="-122"/>
                <a:cs typeface="Arial" pitchFamily="34" charset="-120"/>
              </a:rPr>
              <a:t>The live simulator</a:t>
            </a:r>
            <a:endParaRPr lang="en-US" sz="5400" dirty="0"/>
          </a:p>
        </p:txBody>
      </p:sp>
      <p:sp>
        <p:nvSpPr>
          <p:cNvPr id="4" name="Text 2"/>
          <p:cNvSpPr/>
          <p:nvPr/>
        </p:nvSpPr>
        <p:spPr>
          <a:xfrm>
            <a:off x="1047750" y="2316435"/>
            <a:ext cx="7568227" cy="723900"/>
          </a:xfrm>
          <a:prstGeom prst="rect">
            <a:avLst/>
          </a:prstGeom>
          <a:noFill/>
          <a:ln/>
        </p:spPr>
        <p:txBody>
          <a:bodyPr wrap="square" lIns="25400" tIns="25400" rIns="25400" bIns="25400" rtlCol="0" anchor="t">
            <a:normAutofit/>
          </a:bodyPr>
          <a:lstStyle/>
          <a:p>
            <a:pPr algn="l" indent="0" marL="0">
              <a:lnSpc>
                <a:spcPct val="133333"/>
              </a:lnSpc>
              <a:buNone/>
            </a:pPr>
            <a:r>
              <a:rPr lang="en-US" sz="1800" dirty="0">
                <a:solidFill>
                  <a:srgbClr val="9B998F"/>
                </a:solidFill>
                <a:latin typeface="Courier New" pitchFamily="34" charset="0"/>
                <a:ea typeface="Courier New" pitchFamily="34" charset="-122"/>
                <a:cs typeface="Courier New" pitchFamily="34" charset="-120"/>
              </a:rPr>
              <a:t>samuelgregorovic.github.io/elevator-dispatch-sim/docs/viewer/</a:t>
            </a:r>
            <a:endParaRPr lang="en-US" sz="1800" dirty="0"/>
          </a:p>
        </p:txBody>
      </p:sp>
      <p:sp>
        <p:nvSpPr>
          <p:cNvPr id="5" name="Text 3"/>
          <p:cNvSpPr/>
          <p:nvPr/>
        </p:nvSpPr>
        <p:spPr>
          <a:xfrm>
            <a:off x="1047750" y="3421335"/>
            <a:ext cx="8082573"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9B998F"/>
                </a:solidFill>
                <a:latin typeface="Courier New" pitchFamily="34" charset="0"/>
                <a:ea typeface="Courier New" pitchFamily="34" charset="-122"/>
                <a:cs typeface="Courier New" pitchFamily="34" charset="-120"/>
              </a:rPr>
              <a:t>WHAT TO WATCH FOR</a:t>
            </a:r>
            <a:endParaRPr lang="en-US" sz="1800" dirty="0"/>
          </a:p>
        </p:txBody>
      </p:sp>
      <p:sp>
        <p:nvSpPr>
          <p:cNvPr id="6" name="Text 4"/>
          <p:cNvSpPr/>
          <p:nvPr/>
        </p:nvSpPr>
        <p:spPr>
          <a:xfrm>
            <a:off x="1047750" y="3878535"/>
            <a:ext cx="457200"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E09A00"/>
                </a:solidFill>
                <a:latin typeface="Arial" pitchFamily="34" charset="0"/>
                <a:ea typeface="Arial" pitchFamily="34" charset="-122"/>
                <a:cs typeface="Arial" pitchFamily="34" charset="-120"/>
              </a:rPr>
              <a:t>·</a:t>
            </a:r>
            <a:endParaRPr lang="en-US" sz="2400" dirty="0"/>
          </a:p>
        </p:txBody>
      </p:sp>
      <p:sp>
        <p:nvSpPr>
          <p:cNvPr id="7" name="Text 5"/>
          <p:cNvSpPr/>
          <p:nvPr/>
        </p:nvSpPr>
        <p:spPr>
          <a:xfrm>
            <a:off x="1543050" y="3878535"/>
            <a:ext cx="7058068"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Three rules, one building, the same 160 people — the </a:t>
            </a:r>
            <a:pPr algn="l" indent="0" marL="0">
              <a:lnSpc>
                <a:spcPct val="116757"/>
              </a:lnSpc>
              <a:buNone/>
            </a:pPr>
            <a:r>
              <a:rPr lang="en-US" sz="2400" b="1" dirty="0">
                <a:solidFill>
                  <a:srgbClr val="F6F5F2"/>
                </a:solidFill>
                <a:latin typeface="Arial" pitchFamily="34" charset="0"/>
                <a:ea typeface="Arial" pitchFamily="34" charset="-122"/>
                <a:cs typeface="Arial" pitchFamily="34" charset="-120"/>
              </a:rPr>
              <a:t>ranking </a:t>
            </a:r>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updates live.</a:t>
            </a:r>
            <a:endParaRPr lang="en-US" sz="2400" dirty="0"/>
          </a:p>
        </p:txBody>
      </p:sp>
      <p:sp>
        <p:nvSpPr>
          <p:cNvPr id="8" name="Text 6"/>
          <p:cNvSpPr/>
          <p:nvPr/>
        </p:nvSpPr>
        <p:spPr>
          <a:xfrm>
            <a:off x="1047750" y="4891906"/>
            <a:ext cx="457200"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E09A00"/>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1543050" y="4891906"/>
            <a:ext cx="7058068"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F6F5F2"/>
                </a:solidFill>
                <a:latin typeface="Arial" pitchFamily="34" charset="0"/>
                <a:ea typeface="Arial" pitchFamily="34" charset="-122"/>
                <a:cs typeface="Arial" pitchFamily="34" charset="-120"/>
              </a:rPr>
              <a:t>Amber dots </a:t>
            </a:r>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are people waiting. Watch where they pile up under each rule.</a:t>
            </a:r>
            <a:endParaRPr lang="en-US" sz="2400" dirty="0"/>
          </a:p>
        </p:txBody>
      </p:sp>
      <p:sp>
        <p:nvSpPr>
          <p:cNvPr id="10" name="Text 8"/>
          <p:cNvSpPr/>
          <p:nvPr/>
        </p:nvSpPr>
        <p:spPr>
          <a:xfrm>
            <a:off x="1047750" y="5905277"/>
            <a:ext cx="457200"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E09A00"/>
                </a:solidFill>
                <a:latin typeface="Arial" pitchFamily="34" charset="0"/>
                <a:ea typeface="Arial" pitchFamily="34" charset="-122"/>
                <a:cs typeface="Arial" pitchFamily="34" charset="-120"/>
              </a:rPr>
              <a:t>·</a:t>
            </a:r>
            <a:endParaRPr lang="en-US" sz="2400" dirty="0"/>
          </a:p>
        </p:txBody>
      </p:sp>
      <p:sp>
        <p:nvSpPr>
          <p:cNvPr id="11" name="Text 9"/>
          <p:cNvSpPr/>
          <p:nvPr/>
        </p:nvSpPr>
        <p:spPr>
          <a:xfrm>
            <a:off x="1543050" y="5905277"/>
            <a:ext cx="7058068"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The </a:t>
            </a:r>
            <a:pPr algn="l" indent="0" marL="0">
              <a:lnSpc>
                <a:spcPct val="116757"/>
              </a:lnSpc>
              <a:buNone/>
            </a:pPr>
            <a:r>
              <a:rPr lang="en-US" sz="2400" b="1" dirty="0">
                <a:solidFill>
                  <a:srgbClr val="F6F5F2"/>
                </a:solidFill>
                <a:latin typeface="Arial" pitchFamily="34" charset="0"/>
                <a:ea typeface="Arial" pitchFamily="34" charset="-122"/>
                <a:cs typeface="Arial" pitchFamily="34" charset="-120"/>
              </a:rPr>
              <a:t>usage strip </a:t>
            </a:r>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under each building: one bar per car, filled by busy share — see which cars sit out.</a:t>
            </a:r>
            <a:endParaRPr lang="en-US" sz="2400" dirty="0"/>
          </a:p>
        </p:txBody>
      </p:sp>
      <p:sp>
        <p:nvSpPr>
          <p:cNvPr id="12" name="Text 10"/>
          <p:cNvSpPr/>
          <p:nvPr/>
        </p:nvSpPr>
        <p:spPr>
          <a:xfrm>
            <a:off x="1047750" y="6918647"/>
            <a:ext cx="457200"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E09A00"/>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1543050" y="6918647"/>
            <a:ext cx="7058068"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Click a floor to </a:t>
            </a:r>
            <a:pPr algn="l" indent="0" marL="0">
              <a:lnSpc>
                <a:spcPct val="116757"/>
              </a:lnSpc>
              <a:buNone/>
            </a:pPr>
            <a:r>
              <a:rPr lang="en-US" sz="2400" b="1" dirty="0">
                <a:solidFill>
                  <a:srgbClr val="F6F5F2"/>
                </a:solidFill>
                <a:latin typeface="Arial" pitchFamily="34" charset="0"/>
                <a:ea typeface="Arial" pitchFamily="34" charset="-122"/>
                <a:cs typeface="Arial" pitchFamily="34" charset="-120"/>
              </a:rPr>
              <a:t>add a passenger</a:t>
            </a:r>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 tick </a:t>
            </a:r>
            <a:pPr algn="l" indent="0" marL="0">
              <a:lnSpc>
                <a:spcPct val="116757"/>
              </a:lnSpc>
              <a:buNone/>
            </a:pPr>
            <a:r>
              <a:rPr lang="en-US" sz="2400" b="1" dirty="0">
                <a:solidFill>
                  <a:srgbClr val="F6F5F2"/>
                </a:solidFill>
                <a:latin typeface="Arial" pitchFamily="34" charset="0"/>
                <a:ea typeface="Arial" pitchFamily="34" charset="-122"/>
                <a:cs typeface="Arial" pitchFamily="34" charset="-120"/>
              </a:rPr>
              <a:t>park at lobby </a:t>
            </a:r>
            <a:pPr algn="l" indent="0" marL="0">
              <a:lnSpc>
                <a:spcPct val="116757"/>
              </a:lnSpc>
              <a:buNone/>
            </a:pPr>
            <a:r>
              <a:rPr lang="en-US" sz="2400" dirty="0">
                <a:solidFill>
                  <a:srgbClr val="C9C7C0"/>
                </a:solidFill>
                <a:latin typeface="Arial" pitchFamily="34" charset="0"/>
                <a:ea typeface="Arial" pitchFamily="34" charset="-122"/>
                <a:cs typeface="Arial" pitchFamily="34" charset="-120"/>
              </a:rPr>
              <a:t>and restart.</a:t>
            </a:r>
            <a:endParaRPr lang="en-US" sz="2400" dirty="0"/>
          </a:p>
        </p:txBody>
      </p:sp>
      <p:pic>
        <p:nvPicPr>
          <p:cNvPr id="14" name="Image 0" descr="preencoded.png">    </p:cNvPr>
          <p:cNvPicPr>
            <a:picLocks noChangeAspect="1"/>
          </p:cNvPicPr>
          <p:nvPr/>
        </p:nvPicPr>
        <p:blipFill>
          <a:blip r:embed="rId1"/>
          <a:srcRect l="510" r="510" t="0" b="0"/>
          <a:stretch/>
        </p:blipFill>
        <p:spPr>
          <a:xfrm>
            <a:off x="8496300" y="2228850"/>
            <a:ext cx="8839200" cy="4648200"/>
          </a:xfrm>
          <a:prstGeom prst="rect">
            <a:avLst/>
          </a:prstGeom>
        </p:spPr>
      </p:pic>
      <p:sp>
        <p:nvSpPr>
          <p:cNvPr id="15" name="Text 12"/>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7756C"/>
                </a:solidFill>
                <a:latin typeface="Courier New" pitchFamily="34" charset="0"/>
                <a:ea typeface="Courier New" pitchFamily="34" charset="-122"/>
                <a:cs typeface="Courier New" pitchFamily="34" charset="-120"/>
              </a:rPr>
              <a:t>Elevator dispatch, measured</a:t>
            </a:r>
            <a:endParaRPr lang="en-US" sz="1800" dirty="0"/>
          </a:p>
        </p:txBody>
      </p:sp>
      <p:sp>
        <p:nvSpPr>
          <p:cNvPr id="16" name="Text 13"/>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7756C"/>
                </a:solidFill>
                <a:latin typeface="Courier New" pitchFamily="34" charset="0"/>
                <a:ea typeface="Courier New" pitchFamily="34" charset="-122"/>
                <a:cs typeface="Courier New" pitchFamily="34" charset="-120"/>
              </a:rPr>
              <a:t>08 / 16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THE QUESTION</a:t>
            </a:r>
            <a:endParaRPr lang="en-US" sz="1800" dirty="0"/>
          </a:p>
        </p:txBody>
      </p:sp>
      <p:sp>
        <p:nvSpPr>
          <p:cNvPr id="3" name="Text 1"/>
          <p:cNvSpPr/>
          <p:nvPr/>
        </p:nvSpPr>
        <p:spPr>
          <a:xfrm>
            <a:off x="1047750" y="1371600"/>
            <a:ext cx="15697200" cy="1264890"/>
          </a:xfrm>
          <a:prstGeom prst="rect">
            <a:avLst/>
          </a:prstGeom>
          <a:noFill/>
          <a:ln/>
        </p:spPr>
        <p:txBody>
          <a:bodyPr wrap="square" lIns="25400" tIns="25400" rIns="25400" bIns="25400" rtlCol="0" anchor="t">
            <a:normAutofit/>
          </a:bodyPr>
          <a:lstStyle/>
          <a:p>
            <a:pPr algn="l" indent="0" marL="0">
              <a:lnSpc>
                <a:spcPct val="99845"/>
              </a:lnSpc>
              <a:buNone/>
            </a:pPr>
            <a:r>
              <a:rPr lang="en-US" sz="4200" b="1" spc="-84" kern="0" dirty="0">
                <a:solidFill>
                  <a:srgbClr val="1C1B19"/>
                </a:solidFill>
                <a:latin typeface="Arial" pitchFamily="34" charset="0"/>
                <a:ea typeface="Arial" pitchFamily="34" charset="-122"/>
                <a:cs typeface="Arial" pitchFamily="34" charset="-120"/>
              </a:rPr>
              <a:t>How should a bank of elevators decide which car takes which passenger — and how much does the choice matter?</a:t>
            </a:r>
            <a:endParaRPr lang="en-US" sz="4200" dirty="0"/>
          </a:p>
        </p:txBody>
      </p:sp>
      <p:sp>
        <p:nvSpPr>
          <p:cNvPr id="4" name="Text 2"/>
          <p:cNvSpPr/>
          <p:nvPr/>
        </p:nvSpPr>
        <p:spPr>
          <a:xfrm>
            <a:off x="1047750" y="3131790"/>
            <a:ext cx="17811750"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THE ANSWER, MEASURED</a:t>
            </a:r>
            <a:endParaRPr lang="en-US" sz="1800" dirty="0"/>
          </a:p>
        </p:txBody>
      </p:sp>
      <p:sp>
        <p:nvSpPr>
          <p:cNvPr id="5" name="Shape 3"/>
          <p:cNvSpPr/>
          <p:nvPr/>
        </p:nvSpPr>
        <p:spPr>
          <a:xfrm>
            <a:off x="1047750" y="3627090"/>
            <a:ext cx="16192500" cy="9525"/>
          </a:xfrm>
          <a:prstGeom prst="rect">
            <a:avLst/>
          </a:prstGeom>
          <a:solidFill>
            <a:srgbClr val="E1DFD9"/>
          </a:solidFill>
          <a:ln/>
        </p:spPr>
        <p:txBody>
          <a:bodyPr/>
          <a:p/>
        </p:txBody>
      </p:sp>
      <p:sp>
        <p:nvSpPr>
          <p:cNvPr id="6" name="Text 4"/>
          <p:cNvSpPr/>
          <p:nvPr/>
        </p:nvSpPr>
        <p:spPr>
          <a:xfrm>
            <a:off x="1047750" y="3865215"/>
            <a:ext cx="8591550" cy="1638300"/>
          </a:xfrm>
          <a:prstGeom prst="rect">
            <a:avLst/>
          </a:prstGeom>
          <a:noFill/>
          <a:ln/>
        </p:spPr>
        <p:txBody>
          <a:bodyPr wrap="square" lIns="25400" tIns="25400" rIns="25400" bIns="25400" rtlCol="0" anchor="t">
            <a:normAutofit/>
          </a:bodyPr>
          <a:lstStyle/>
          <a:p>
            <a:pPr algn="l" indent="0" marL="0">
              <a:lnSpc>
                <a:spcPct val="87047"/>
              </a:lnSpc>
              <a:buNone/>
            </a:pPr>
            <a:r>
              <a:rPr lang="en-US" sz="12600" b="1" spc="-504" kern="0" dirty="0">
                <a:solidFill>
                  <a:srgbClr val="1C1B19"/>
                </a:solidFill>
                <a:latin typeface="Arial" pitchFamily="34" charset="0"/>
                <a:ea typeface="Arial" pitchFamily="34" charset="-122"/>
                <a:cs typeface="Arial" pitchFamily="34" charset="-120"/>
              </a:rPr>
              <a:t>1.2–2.6×</a:t>
            </a:r>
            <a:endParaRPr lang="en-US" sz="12600" dirty="0"/>
          </a:p>
        </p:txBody>
      </p:sp>
      <p:sp>
        <p:nvSpPr>
          <p:cNvPr id="7" name="Text 5"/>
          <p:cNvSpPr/>
          <p:nvPr/>
        </p:nvSpPr>
        <p:spPr>
          <a:xfrm>
            <a:off x="1047750" y="5655915"/>
            <a:ext cx="6278880" cy="122664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4C4A44"/>
                </a:solidFill>
                <a:latin typeface="Arial" pitchFamily="34" charset="0"/>
                <a:ea typeface="Arial" pitchFamily="34" charset="-122"/>
                <a:cs typeface="Arial" pitchFamily="34" charset="-120"/>
              </a:rPr>
              <a:t>shorter average wait with </a:t>
            </a:r>
            <a:pPr algn="l" indent="0" marL="0">
              <a:lnSpc>
                <a:spcPct val="112432"/>
              </a:lnSpc>
              <a:buNone/>
            </a:pPr>
            <a:r>
              <a:rPr lang="en-US" sz="2400" b="1" dirty="0">
                <a:solidFill>
                  <a:srgbClr val="2F6FD0"/>
                </a:solidFill>
                <a:latin typeface="Arial" pitchFamily="34" charset="0"/>
                <a:ea typeface="Arial" pitchFamily="34" charset="-122"/>
                <a:cs typeface="Arial" pitchFamily="34" charset="-120"/>
              </a:rPr>
              <a:t>smart dispatch </a:t>
            </a:r>
            <a:pPr algn="l" indent="0" marL="0">
              <a:lnSpc>
                <a:spcPct val="112432"/>
              </a:lnSpc>
              <a:buNone/>
            </a:pPr>
            <a:r>
              <a:rPr lang="en-US" sz="2400" dirty="0">
                <a:solidFill>
                  <a:srgbClr val="4C4A44"/>
                </a:solidFill>
                <a:latin typeface="Arial" pitchFamily="34" charset="0"/>
                <a:ea typeface="Arial" pitchFamily="34" charset="-122"/>
                <a:cs typeface="Arial" pitchFamily="34" charset="-120"/>
              </a:rPr>
              <a:t>than </a:t>
            </a:r>
            <a:pPr algn="l" indent="0" marL="0">
              <a:lnSpc>
                <a:spcPct val="112432"/>
              </a:lnSpc>
              <a:buNone/>
            </a:pPr>
            <a:r>
              <a:rPr lang="en-US" sz="2400" b="1" dirty="0">
                <a:solidFill>
                  <a:srgbClr val="D9762B"/>
                </a:solidFill>
                <a:latin typeface="Arial" pitchFamily="34" charset="0"/>
                <a:ea typeface="Arial" pitchFamily="34" charset="-122"/>
                <a:cs typeface="Arial" pitchFamily="34" charset="-120"/>
              </a:rPr>
              <a:t>nearest car </a:t>
            </a:r>
            <a:pPr algn="l" indent="0" marL="0">
              <a:lnSpc>
                <a:spcPct val="112432"/>
              </a:lnSpc>
              <a:buNone/>
            </a:pPr>
            <a:r>
              <a:rPr lang="en-US" sz="2400" dirty="0">
                <a:solidFill>
                  <a:srgbClr val="4C4A44"/>
                </a:solidFill>
                <a:latin typeface="Arial" pitchFamily="34" charset="0"/>
                <a:ea typeface="Arial" pitchFamily="34" charset="-122"/>
                <a:cs typeface="Arial" pitchFamily="34" charset="-120"/>
              </a:rPr>
              <a:t>, across twenty fresh seeds per pattern — 3.7× on the committed tower draw</a:t>
            </a:r>
            <a:endParaRPr lang="en-US" sz="2400" dirty="0"/>
          </a:p>
        </p:txBody>
      </p:sp>
      <p:sp>
        <p:nvSpPr>
          <p:cNvPr id="8" name="Text 6"/>
          <p:cNvSpPr/>
          <p:nvPr/>
        </p:nvSpPr>
        <p:spPr>
          <a:xfrm>
            <a:off x="9429750" y="3865215"/>
            <a:ext cx="8591550" cy="1638300"/>
          </a:xfrm>
          <a:prstGeom prst="rect">
            <a:avLst/>
          </a:prstGeom>
          <a:noFill/>
          <a:ln/>
        </p:spPr>
        <p:txBody>
          <a:bodyPr wrap="square" lIns="25400" tIns="25400" rIns="25400" bIns="25400" rtlCol="0" anchor="t">
            <a:normAutofit/>
          </a:bodyPr>
          <a:lstStyle/>
          <a:p>
            <a:pPr algn="l" indent="0" marL="0">
              <a:lnSpc>
                <a:spcPct val="87047"/>
              </a:lnSpc>
              <a:buNone/>
            </a:pPr>
            <a:r>
              <a:rPr lang="en-US" sz="12600" b="1" spc="-504" kern="0" dirty="0">
                <a:solidFill>
                  <a:srgbClr val="1C1B19"/>
                </a:solidFill>
                <a:latin typeface="Arial" pitchFamily="34" charset="0"/>
                <a:ea typeface="Arial" pitchFamily="34" charset="-122"/>
                <a:cs typeface="Arial" pitchFamily="34" charset="-120"/>
              </a:rPr>
              <a:t>2–3×</a:t>
            </a:r>
            <a:endParaRPr lang="en-US" sz="12600" dirty="0"/>
          </a:p>
        </p:txBody>
      </p:sp>
      <p:sp>
        <p:nvSpPr>
          <p:cNvPr id="9" name="Text 7"/>
          <p:cNvSpPr/>
          <p:nvPr/>
        </p:nvSpPr>
        <p:spPr>
          <a:xfrm>
            <a:off x="9429750" y="5655915"/>
            <a:ext cx="6278880" cy="122664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4C4A44"/>
                </a:solidFill>
                <a:latin typeface="Arial" pitchFamily="34" charset="0"/>
                <a:ea typeface="Arial" pitchFamily="34" charset="-122"/>
                <a:cs typeface="Arial" pitchFamily="34" charset="-120"/>
              </a:rPr>
              <a:t>shorter than </a:t>
            </a:r>
            <a:pPr algn="l" indent="0" marL="0">
              <a:lnSpc>
                <a:spcPct val="112432"/>
              </a:lnSpc>
              <a:buNone/>
            </a:pPr>
            <a:r>
              <a:rPr lang="en-US" sz="2400" b="1" dirty="0">
                <a:solidFill>
                  <a:srgbClr val="2A9D74"/>
                </a:solidFill>
                <a:latin typeface="Arial" pitchFamily="34" charset="0"/>
                <a:ea typeface="Arial" pitchFamily="34" charset="-122"/>
                <a:cs typeface="Arial" pitchFamily="34" charset="-120"/>
              </a:rPr>
              <a:t>take turns </a:t>
            </a:r>
            <a:pPr algn="l" indent="0" marL="0">
              <a:lnSpc>
                <a:spcPct val="112432"/>
              </a:lnSpc>
              <a:buNone/>
            </a:pPr>
            <a:r>
              <a:rPr lang="en-US" sz="2400" dirty="0">
                <a:solidFill>
                  <a:srgbClr val="4C4A44"/>
                </a:solidFill>
                <a:latin typeface="Arial" pitchFamily="34" charset="0"/>
                <a:ea typeface="Arial" pitchFamily="34" charset="-122"/>
                <a:cs typeface="Arial" pitchFamily="34" charset="-120"/>
              </a:rPr>
              <a:t>— lowest average wait in 119 of 120 runs across the six realistic patterns</a:t>
            </a:r>
            <a:endParaRPr lang="en-US" sz="2400" dirty="0"/>
          </a:p>
        </p:txBody>
      </p:sp>
      <p:sp>
        <p:nvSpPr>
          <p:cNvPr id="10" name="Text 8"/>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11" name="Text 9"/>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09 / 16</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0469806"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Average wait per rule, per pattern</a:t>
            </a:r>
            <a:endParaRPr lang="en-US" sz="5400" dirty="0"/>
          </a:p>
        </p:txBody>
      </p:sp>
      <p:sp>
        <p:nvSpPr>
          <p:cNvPr id="3" name="Text 1"/>
          <p:cNvSpPr/>
          <p:nvPr/>
        </p:nvSpPr>
        <p:spPr>
          <a:xfrm>
            <a:off x="14212416" y="1333500"/>
            <a:ext cx="3330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ticks · lowest in bold</a:t>
            </a:r>
            <a:endParaRPr lang="en-US" sz="1800" dirty="0"/>
          </a:p>
        </p:txBody>
      </p:sp>
      <p:sp>
        <p:nvSpPr>
          <p:cNvPr id="4" name="Shape 2"/>
          <p:cNvSpPr/>
          <p:nvPr/>
        </p:nvSpPr>
        <p:spPr>
          <a:xfrm>
            <a:off x="1047750" y="2483123"/>
            <a:ext cx="5120283" cy="9525"/>
          </a:xfrm>
          <a:prstGeom prst="rect">
            <a:avLst/>
          </a:prstGeom>
          <a:solidFill>
            <a:srgbClr val="1C1B19"/>
          </a:solidFill>
          <a:ln/>
        </p:spPr>
        <p:txBody>
          <a:bodyPr/>
          <a:p/>
        </p:txBody>
      </p:sp>
      <p:sp>
        <p:nvSpPr>
          <p:cNvPr id="5" name="Text 3"/>
          <p:cNvSpPr/>
          <p:nvPr/>
        </p:nvSpPr>
        <p:spPr>
          <a:xfrm>
            <a:off x="1047750" y="2087835"/>
            <a:ext cx="5273891" cy="300038"/>
          </a:xfrm>
          <a:prstGeom prst="rect">
            <a:avLst/>
          </a:prstGeom>
          <a:noFill/>
          <a:ln/>
        </p:spPr>
        <p:txBody>
          <a:bodyPr wrap="square" lIns="25400" tIns="25400" rIns="25400" bIns="25400" rtlCol="0" anchor="ctr">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Scenario</a:t>
            </a:r>
            <a:endParaRPr lang="en-US" sz="1800" dirty="0"/>
          </a:p>
        </p:txBody>
      </p:sp>
      <p:sp>
        <p:nvSpPr>
          <p:cNvPr id="6" name="Shape 4"/>
          <p:cNvSpPr/>
          <p:nvPr/>
        </p:nvSpPr>
        <p:spPr>
          <a:xfrm>
            <a:off x="6168033" y="2483123"/>
            <a:ext cx="1041871" cy="9525"/>
          </a:xfrm>
          <a:prstGeom prst="rect">
            <a:avLst/>
          </a:prstGeom>
          <a:solidFill>
            <a:srgbClr val="1C1B19"/>
          </a:solidFill>
          <a:ln/>
        </p:spPr>
        <p:txBody>
          <a:bodyPr/>
          <a:p/>
        </p:txBody>
      </p:sp>
      <p:sp>
        <p:nvSpPr>
          <p:cNvPr id="7" name="Text 5"/>
          <p:cNvSpPr/>
          <p:nvPr/>
        </p:nvSpPr>
        <p:spPr>
          <a:xfrm>
            <a:off x="6282333" y="2087835"/>
            <a:ext cx="927571" cy="300038"/>
          </a:xfrm>
          <a:prstGeom prst="rect">
            <a:avLst/>
          </a:prstGeom>
          <a:noFill/>
          <a:ln/>
        </p:spPr>
        <p:txBody>
          <a:bodyPr wrap="square" lIns="25400" tIns="25400" rIns="25400" bIns="25400" rtlCol="0" anchor="ctr">
            <a:normAutofit/>
          </a:bodyPr>
          <a:lstStyle/>
          <a:p>
            <a:pPr algn="r" indent="0" marL="0">
              <a:buNone/>
            </a:pPr>
            <a:r>
              <a:rPr lang="en-US" sz="1800" dirty="0">
                <a:solidFill>
                  <a:srgbClr val="2F6FD0"/>
                </a:solidFill>
                <a:latin typeface="Courier New" pitchFamily="34" charset="0"/>
                <a:ea typeface="Courier New" pitchFamily="34" charset="-122"/>
                <a:cs typeface="Courier New" pitchFamily="34" charset="-120"/>
              </a:rPr>
              <a:t>Smart</a:t>
            </a:r>
            <a:endParaRPr lang="en-US" sz="1800" dirty="0"/>
          </a:p>
        </p:txBody>
      </p:sp>
      <p:sp>
        <p:nvSpPr>
          <p:cNvPr id="8" name="Shape 6"/>
          <p:cNvSpPr/>
          <p:nvPr/>
        </p:nvSpPr>
        <p:spPr>
          <a:xfrm>
            <a:off x="7209904" y="2483123"/>
            <a:ext cx="1368326" cy="9525"/>
          </a:xfrm>
          <a:prstGeom prst="rect">
            <a:avLst/>
          </a:prstGeom>
          <a:solidFill>
            <a:srgbClr val="1C1B19"/>
          </a:solidFill>
          <a:ln/>
        </p:spPr>
        <p:txBody>
          <a:bodyPr/>
          <a:p/>
        </p:txBody>
      </p:sp>
      <p:sp>
        <p:nvSpPr>
          <p:cNvPr id="9" name="Text 7"/>
          <p:cNvSpPr/>
          <p:nvPr/>
        </p:nvSpPr>
        <p:spPr>
          <a:xfrm>
            <a:off x="7324204" y="2087835"/>
            <a:ext cx="1254026" cy="300038"/>
          </a:xfrm>
          <a:prstGeom prst="rect">
            <a:avLst/>
          </a:prstGeom>
          <a:noFill/>
          <a:ln/>
        </p:spPr>
        <p:txBody>
          <a:bodyPr wrap="square" lIns="25400" tIns="25400" rIns="25400" bIns="25400" rtlCol="0" anchor="ctr">
            <a:normAutofit/>
          </a:bodyPr>
          <a:lstStyle/>
          <a:p>
            <a:pPr algn="r" indent="0" marL="0">
              <a:buNone/>
            </a:pPr>
            <a:r>
              <a:rPr lang="en-US" sz="1800" dirty="0">
                <a:solidFill>
                  <a:srgbClr val="D9762B"/>
                </a:solidFill>
                <a:latin typeface="Courier New" pitchFamily="34" charset="0"/>
                <a:ea typeface="Courier New" pitchFamily="34" charset="-122"/>
                <a:cs typeface="Courier New" pitchFamily="34" charset="-120"/>
              </a:rPr>
              <a:t>Nearest</a:t>
            </a:r>
            <a:endParaRPr lang="en-US" sz="1800" dirty="0"/>
          </a:p>
        </p:txBody>
      </p:sp>
      <p:sp>
        <p:nvSpPr>
          <p:cNvPr id="10" name="Shape 8"/>
          <p:cNvSpPr/>
          <p:nvPr/>
        </p:nvSpPr>
        <p:spPr>
          <a:xfrm>
            <a:off x="8578230" y="2483123"/>
            <a:ext cx="1042020" cy="9525"/>
          </a:xfrm>
          <a:prstGeom prst="rect">
            <a:avLst/>
          </a:prstGeom>
          <a:solidFill>
            <a:srgbClr val="1C1B19"/>
          </a:solidFill>
          <a:ln/>
        </p:spPr>
        <p:txBody>
          <a:bodyPr/>
          <a:p/>
        </p:txBody>
      </p:sp>
      <p:sp>
        <p:nvSpPr>
          <p:cNvPr id="11" name="Text 9"/>
          <p:cNvSpPr/>
          <p:nvPr/>
        </p:nvSpPr>
        <p:spPr>
          <a:xfrm>
            <a:off x="8692530" y="2087835"/>
            <a:ext cx="927720" cy="300038"/>
          </a:xfrm>
          <a:prstGeom prst="rect">
            <a:avLst/>
          </a:prstGeom>
          <a:noFill/>
          <a:ln/>
        </p:spPr>
        <p:txBody>
          <a:bodyPr wrap="square" lIns="25400" tIns="25400" rIns="25400" bIns="25400" rtlCol="0" anchor="ctr">
            <a:normAutofit/>
          </a:bodyPr>
          <a:lstStyle/>
          <a:p>
            <a:pPr algn="r" indent="0" marL="0">
              <a:buNone/>
            </a:pPr>
            <a:r>
              <a:rPr lang="en-US" sz="1800" dirty="0">
                <a:solidFill>
                  <a:srgbClr val="2A9D74"/>
                </a:solidFill>
                <a:latin typeface="Courier New" pitchFamily="34" charset="0"/>
                <a:ea typeface="Courier New" pitchFamily="34" charset="-122"/>
                <a:cs typeface="Courier New" pitchFamily="34" charset="-120"/>
              </a:rPr>
              <a:t>Turns</a:t>
            </a:r>
            <a:endParaRPr lang="en-US" sz="1800" dirty="0"/>
          </a:p>
        </p:txBody>
      </p:sp>
      <p:sp>
        <p:nvSpPr>
          <p:cNvPr id="12" name="Shape 10"/>
          <p:cNvSpPr/>
          <p:nvPr/>
        </p:nvSpPr>
        <p:spPr>
          <a:xfrm>
            <a:off x="1047750" y="3111773"/>
            <a:ext cx="5120283" cy="9525"/>
          </a:xfrm>
          <a:prstGeom prst="rect">
            <a:avLst/>
          </a:prstGeom>
          <a:solidFill>
            <a:srgbClr val="E1DFD9"/>
          </a:solidFill>
          <a:ln/>
        </p:spPr>
        <p:txBody>
          <a:bodyPr/>
          <a:p/>
        </p:txBody>
      </p:sp>
      <p:sp>
        <p:nvSpPr>
          <p:cNvPr id="13" name="Text 11"/>
          <p:cNvSpPr/>
          <p:nvPr/>
        </p:nvSpPr>
        <p:spPr>
          <a:xfrm>
            <a:off x="1047750" y="2645048"/>
            <a:ext cx="5273891" cy="352425"/>
          </a:xfrm>
          <a:prstGeom prst="rect">
            <a:avLst/>
          </a:prstGeom>
          <a:noFill/>
          <a:ln/>
        </p:spPr>
        <p:txBody>
          <a:bodyPr wrap="square" lIns="25400" tIns="25400" rIns="25400" bIns="25400" rtlCol="0" anchor="ctr">
            <a:normAutofit/>
          </a:bodyPr>
          <a:lstStyle/>
          <a:p>
            <a:pPr algn="l" indent="0" marL="0">
              <a:buNone/>
            </a:pPr>
            <a:r>
              <a:rPr lang="en-US" sz="2100" dirty="0">
                <a:solidFill>
                  <a:srgbClr val="1C1B19"/>
                </a:solidFill>
                <a:latin typeface="Arial" pitchFamily="34" charset="0"/>
                <a:ea typeface="Arial" pitchFamily="34" charset="-122"/>
                <a:cs typeface="Arial" pitchFamily="34" charset="-120"/>
              </a:rPr>
              <a:t>Morning up-peak </a:t>
            </a:r>
            <a:pPr algn="l" indent="0" marL="0">
              <a:buNone/>
            </a:pPr>
            <a:r>
              <a:rPr lang="en-US" sz="2100" dirty="0">
                <a:solidFill>
                  <a:srgbClr val="7A786F"/>
                </a:solidFill>
                <a:latin typeface="Arial" pitchFamily="34" charset="0"/>
                <a:ea typeface="Arial" pitchFamily="34" charset="-122"/>
                <a:cs typeface="Arial" pitchFamily="34" charset="-120"/>
              </a:rPr>
              <a:t>· 20 floors, 4 cars</a:t>
            </a:r>
            <a:endParaRPr lang="en-US" sz="2100" dirty="0"/>
          </a:p>
        </p:txBody>
      </p:sp>
      <p:sp>
        <p:nvSpPr>
          <p:cNvPr id="14" name="Shape 12"/>
          <p:cNvSpPr/>
          <p:nvPr/>
        </p:nvSpPr>
        <p:spPr>
          <a:xfrm>
            <a:off x="6168033" y="3111773"/>
            <a:ext cx="1041871" cy="9525"/>
          </a:xfrm>
          <a:prstGeom prst="rect">
            <a:avLst/>
          </a:prstGeom>
          <a:solidFill>
            <a:srgbClr val="E1DFD9"/>
          </a:solidFill>
          <a:ln/>
        </p:spPr>
        <p:txBody>
          <a:bodyPr/>
          <a:p/>
        </p:txBody>
      </p:sp>
      <p:sp>
        <p:nvSpPr>
          <p:cNvPr id="15" name="Text 13"/>
          <p:cNvSpPr/>
          <p:nvPr/>
        </p:nvSpPr>
        <p:spPr>
          <a:xfrm>
            <a:off x="6282333" y="2645048"/>
            <a:ext cx="927571" cy="352425"/>
          </a:xfrm>
          <a:prstGeom prst="rect">
            <a:avLst/>
          </a:prstGeom>
          <a:noFill/>
          <a:ln/>
        </p:spPr>
        <p:txBody>
          <a:bodyPr wrap="square" lIns="25400" tIns="25400" rIns="25400" bIns="25400" rtlCol="0" anchor="ctr">
            <a:normAutofit/>
          </a:bodyPr>
          <a:lstStyle/>
          <a:p>
            <a:pPr algn="r" indent="0" marL="0">
              <a:buNone/>
            </a:pPr>
            <a:r>
              <a:rPr lang="en-US" sz="2100" b="1" dirty="0">
                <a:solidFill>
                  <a:srgbClr val="1C1B19"/>
                </a:solidFill>
                <a:latin typeface="Arial" pitchFamily="34" charset="0"/>
                <a:ea typeface="Arial" pitchFamily="34" charset="-122"/>
                <a:cs typeface="Arial" pitchFamily="34" charset="-120"/>
              </a:rPr>
              <a:t>7.1</a:t>
            </a:r>
            <a:endParaRPr lang="en-US" sz="2100" dirty="0"/>
          </a:p>
        </p:txBody>
      </p:sp>
      <p:sp>
        <p:nvSpPr>
          <p:cNvPr id="16" name="Shape 14"/>
          <p:cNvSpPr/>
          <p:nvPr/>
        </p:nvSpPr>
        <p:spPr>
          <a:xfrm>
            <a:off x="7209904" y="3111773"/>
            <a:ext cx="1368326" cy="9525"/>
          </a:xfrm>
          <a:prstGeom prst="rect">
            <a:avLst/>
          </a:prstGeom>
          <a:solidFill>
            <a:srgbClr val="E1DFD9"/>
          </a:solidFill>
          <a:ln/>
        </p:spPr>
        <p:txBody>
          <a:bodyPr/>
          <a:p/>
        </p:txBody>
      </p:sp>
      <p:sp>
        <p:nvSpPr>
          <p:cNvPr id="17" name="Text 15"/>
          <p:cNvSpPr/>
          <p:nvPr/>
        </p:nvSpPr>
        <p:spPr>
          <a:xfrm>
            <a:off x="7324204" y="2645048"/>
            <a:ext cx="1254026"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12.0</a:t>
            </a:r>
            <a:endParaRPr lang="en-US" sz="2100" dirty="0"/>
          </a:p>
        </p:txBody>
      </p:sp>
      <p:sp>
        <p:nvSpPr>
          <p:cNvPr id="18" name="Shape 16"/>
          <p:cNvSpPr/>
          <p:nvPr/>
        </p:nvSpPr>
        <p:spPr>
          <a:xfrm>
            <a:off x="8578230" y="3111773"/>
            <a:ext cx="1042020" cy="9525"/>
          </a:xfrm>
          <a:prstGeom prst="rect">
            <a:avLst/>
          </a:prstGeom>
          <a:solidFill>
            <a:srgbClr val="E1DFD9"/>
          </a:solidFill>
          <a:ln/>
        </p:spPr>
        <p:txBody>
          <a:bodyPr/>
          <a:p/>
        </p:txBody>
      </p:sp>
      <p:sp>
        <p:nvSpPr>
          <p:cNvPr id="19" name="Text 17"/>
          <p:cNvSpPr/>
          <p:nvPr/>
        </p:nvSpPr>
        <p:spPr>
          <a:xfrm>
            <a:off x="8692530" y="2645048"/>
            <a:ext cx="927720"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16.5</a:t>
            </a:r>
            <a:endParaRPr lang="en-US" sz="2100" dirty="0"/>
          </a:p>
        </p:txBody>
      </p:sp>
      <p:sp>
        <p:nvSpPr>
          <p:cNvPr id="20" name="Shape 18"/>
          <p:cNvSpPr/>
          <p:nvPr/>
        </p:nvSpPr>
        <p:spPr>
          <a:xfrm>
            <a:off x="1047750" y="3740423"/>
            <a:ext cx="5120283" cy="9525"/>
          </a:xfrm>
          <a:prstGeom prst="rect">
            <a:avLst/>
          </a:prstGeom>
          <a:solidFill>
            <a:srgbClr val="E1DFD9"/>
          </a:solidFill>
          <a:ln/>
        </p:spPr>
        <p:txBody>
          <a:bodyPr/>
          <a:p/>
        </p:txBody>
      </p:sp>
      <p:sp>
        <p:nvSpPr>
          <p:cNvPr id="21" name="Text 19"/>
          <p:cNvSpPr/>
          <p:nvPr/>
        </p:nvSpPr>
        <p:spPr>
          <a:xfrm>
            <a:off x="1047750" y="3273698"/>
            <a:ext cx="5273891" cy="352425"/>
          </a:xfrm>
          <a:prstGeom prst="rect">
            <a:avLst/>
          </a:prstGeom>
          <a:noFill/>
          <a:ln/>
        </p:spPr>
        <p:txBody>
          <a:bodyPr wrap="square" lIns="25400" tIns="25400" rIns="25400" bIns="25400" rtlCol="0" anchor="ctr">
            <a:normAutofit/>
          </a:bodyPr>
          <a:lstStyle/>
          <a:p>
            <a:pPr algn="l" indent="0" marL="0">
              <a:buNone/>
            </a:pPr>
            <a:r>
              <a:rPr lang="en-US" sz="2100" dirty="0">
                <a:solidFill>
                  <a:srgbClr val="1C1B19"/>
                </a:solidFill>
                <a:latin typeface="Arial" pitchFamily="34" charset="0"/>
                <a:ea typeface="Arial" pitchFamily="34" charset="-122"/>
                <a:cs typeface="Arial" pitchFamily="34" charset="-120"/>
              </a:rPr>
              <a:t>Lunch two-way </a:t>
            </a:r>
            <a:pPr algn="l" indent="0" marL="0">
              <a:buNone/>
            </a:pPr>
            <a:r>
              <a:rPr lang="en-US" sz="2100" dirty="0">
                <a:solidFill>
                  <a:srgbClr val="7A786F"/>
                </a:solidFill>
                <a:latin typeface="Arial" pitchFamily="34" charset="0"/>
                <a:ea typeface="Arial" pitchFamily="34" charset="-122"/>
                <a:cs typeface="Arial" pitchFamily="34" charset="-120"/>
              </a:rPr>
              <a:t>· 20 floors, 4 cars</a:t>
            </a:r>
            <a:endParaRPr lang="en-US" sz="2100" dirty="0"/>
          </a:p>
        </p:txBody>
      </p:sp>
      <p:sp>
        <p:nvSpPr>
          <p:cNvPr id="22" name="Shape 20"/>
          <p:cNvSpPr/>
          <p:nvPr/>
        </p:nvSpPr>
        <p:spPr>
          <a:xfrm>
            <a:off x="6168033" y="3740423"/>
            <a:ext cx="1041871" cy="9525"/>
          </a:xfrm>
          <a:prstGeom prst="rect">
            <a:avLst/>
          </a:prstGeom>
          <a:solidFill>
            <a:srgbClr val="E1DFD9"/>
          </a:solidFill>
          <a:ln/>
        </p:spPr>
        <p:txBody>
          <a:bodyPr/>
          <a:p/>
        </p:txBody>
      </p:sp>
      <p:sp>
        <p:nvSpPr>
          <p:cNvPr id="23" name="Text 21"/>
          <p:cNvSpPr/>
          <p:nvPr/>
        </p:nvSpPr>
        <p:spPr>
          <a:xfrm>
            <a:off x="6282333" y="3273698"/>
            <a:ext cx="927571" cy="352425"/>
          </a:xfrm>
          <a:prstGeom prst="rect">
            <a:avLst/>
          </a:prstGeom>
          <a:noFill/>
          <a:ln/>
        </p:spPr>
        <p:txBody>
          <a:bodyPr wrap="square" lIns="25400" tIns="25400" rIns="25400" bIns="25400" rtlCol="0" anchor="ctr">
            <a:normAutofit/>
          </a:bodyPr>
          <a:lstStyle/>
          <a:p>
            <a:pPr algn="r" indent="0" marL="0">
              <a:buNone/>
            </a:pPr>
            <a:r>
              <a:rPr lang="en-US" sz="2100" b="1" dirty="0">
                <a:solidFill>
                  <a:srgbClr val="1C1B19"/>
                </a:solidFill>
                <a:latin typeface="Arial" pitchFamily="34" charset="0"/>
                <a:ea typeface="Arial" pitchFamily="34" charset="-122"/>
                <a:cs typeface="Arial" pitchFamily="34" charset="-120"/>
              </a:rPr>
              <a:t>4.0</a:t>
            </a:r>
            <a:endParaRPr lang="en-US" sz="2100" dirty="0"/>
          </a:p>
        </p:txBody>
      </p:sp>
      <p:sp>
        <p:nvSpPr>
          <p:cNvPr id="24" name="Shape 22"/>
          <p:cNvSpPr/>
          <p:nvPr/>
        </p:nvSpPr>
        <p:spPr>
          <a:xfrm>
            <a:off x="7209904" y="3740423"/>
            <a:ext cx="1368326" cy="9525"/>
          </a:xfrm>
          <a:prstGeom prst="rect">
            <a:avLst/>
          </a:prstGeom>
          <a:solidFill>
            <a:srgbClr val="E1DFD9"/>
          </a:solidFill>
          <a:ln/>
        </p:spPr>
        <p:txBody>
          <a:bodyPr/>
          <a:p/>
        </p:txBody>
      </p:sp>
      <p:sp>
        <p:nvSpPr>
          <p:cNvPr id="25" name="Text 23"/>
          <p:cNvSpPr/>
          <p:nvPr/>
        </p:nvSpPr>
        <p:spPr>
          <a:xfrm>
            <a:off x="7324204" y="3273698"/>
            <a:ext cx="1254026"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6.9</a:t>
            </a:r>
            <a:endParaRPr lang="en-US" sz="2100" dirty="0"/>
          </a:p>
        </p:txBody>
      </p:sp>
      <p:sp>
        <p:nvSpPr>
          <p:cNvPr id="26" name="Shape 24"/>
          <p:cNvSpPr/>
          <p:nvPr/>
        </p:nvSpPr>
        <p:spPr>
          <a:xfrm>
            <a:off x="8578230" y="3740423"/>
            <a:ext cx="1042020" cy="9525"/>
          </a:xfrm>
          <a:prstGeom prst="rect">
            <a:avLst/>
          </a:prstGeom>
          <a:solidFill>
            <a:srgbClr val="E1DFD9"/>
          </a:solidFill>
          <a:ln/>
        </p:spPr>
        <p:txBody>
          <a:bodyPr/>
          <a:p/>
        </p:txBody>
      </p:sp>
      <p:sp>
        <p:nvSpPr>
          <p:cNvPr id="27" name="Text 25"/>
          <p:cNvSpPr/>
          <p:nvPr/>
        </p:nvSpPr>
        <p:spPr>
          <a:xfrm>
            <a:off x="8692530" y="3273698"/>
            <a:ext cx="927720"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13.2</a:t>
            </a:r>
            <a:endParaRPr lang="en-US" sz="2100" dirty="0"/>
          </a:p>
        </p:txBody>
      </p:sp>
      <p:sp>
        <p:nvSpPr>
          <p:cNvPr id="28" name="Shape 26"/>
          <p:cNvSpPr/>
          <p:nvPr/>
        </p:nvSpPr>
        <p:spPr>
          <a:xfrm>
            <a:off x="1047750" y="4369073"/>
            <a:ext cx="5120283" cy="9525"/>
          </a:xfrm>
          <a:prstGeom prst="rect">
            <a:avLst/>
          </a:prstGeom>
          <a:solidFill>
            <a:srgbClr val="E1DFD9"/>
          </a:solidFill>
          <a:ln/>
        </p:spPr>
        <p:txBody>
          <a:bodyPr/>
          <a:p/>
        </p:txBody>
      </p:sp>
      <p:sp>
        <p:nvSpPr>
          <p:cNvPr id="29" name="Text 27"/>
          <p:cNvSpPr/>
          <p:nvPr/>
        </p:nvSpPr>
        <p:spPr>
          <a:xfrm>
            <a:off x="1047750" y="3902348"/>
            <a:ext cx="5273891" cy="352425"/>
          </a:xfrm>
          <a:prstGeom prst="rect">
            <a:avLst/>
          </a:prstGeom>
          <a:noFill/>
          <a:ln/>
        </p:spPr>
        <p:txBody>
          <a:bodyPr wrap="square" lIns="25400" tIns="25400" rIns="25400" bIns="25400" rtlCol="0" anchor="ctr">
            <a:normAutofit/>
          </a:bodyPr>
          <a:lstStyle/>
          <a:p>
            <a:pPr algn="l" indent="0" marL="0">
              <a:buNone/>
            </a:pPr>
            <a:r>
              <a:rPr lang="en-US" sz="2100" dirty="0">
                <a:solidFill>
                  <a:srgbClr val="1C1B19"/>
                </a:solidFill>
                <a:latin typeface="Arial" pitchFamily="34" charset="0"/>
                <a:ea typeface="Arial" pitchFamily="34" charset="-122"/>
                <a:cs typeface="Arial" pitchFamily="34" charset="-120"/>
              </a:rPr>
              <a:t>Evening down-peak </a:t>
            </a:r>
            <a:pPr algn="l" indent="0" marL="0">
              <a:buNone/>
            </a:pPr>
            <a:r>
              <a:rPr lang="en-US" sz="2100" dirty="0">
                <a:solidFill>
                  <a:srgbClr val="7A786F"/>
                </a:solidFill>
                <a:latin typeface="Arial" pitchFamily="34" charset="0"/>
                <a:ea typeface="Arial" pitchFamily="34" charset="-122"/>
                <a:cs typeface="Arial" pitchFamily="34" charset="-120"/>
              </a:rPr>
              <a:t>· 20 floors, 4 cars</a:t>
            </a:r>
            <a:endParaRPr lang="en-US" sz="2100" dirty="0"/>
          </a:p>
        </p:txBody>
      </p:sp>
      <p:sp>
        <p:nvSpPr>
          <p:cNvPr id="30" name="Shape 28"/>
          <p:cNvSpPr/>
          <p:nvPr/>
        </p:nvSpPr>
        <p:spPr>
          <a:xfrm>
            <a:off x="6168033" y="4369073"/>
            <a:ext cx="1041871" cy="9525"/>
          </a:xfrm>
          <a:prstGeom prst="rect">
            <a:avLst/>
          </a:prstGeom>
          <a:solidFill>
            <a:srgbClr val="E1DFD9"/>
          </a:solidFill>
          <a:ln/>
        </p:spPr>
        <p:txBody>
          <a:bodyPr/>
          <a:p/>
        </p:txBody>
      </p:sp>
      <p:sp>
        <p:nvSpPr>
          <p:cNvPr id="31" name="Text 29"/>
          <p:cNvSpPr/>
          <p:nvPr/>
        </p:nvSpPr>
        <p:spPr>
          <a:xfrm>
            <a:off x="6282333" y="3902348"/>
            <a:ext cx="927571" cy="352425"/>
          </a:xfrm>
          <a:prstGeom prst="rect">
            <a:avLst/>
          </a:prstGeom>
          <a:noFill/>
          <a:ln/>
        </p:spPr>
        <p:txBody>
          <a:bodyPr wrap="square" lIns="25400" tIns="25400" rIns="25400" bIns="25400" rtlCol="0" anchor="ctr">
            <a:normAutofit/>
          </a:bodyPr>
          <a:lstStyle/>
          <a:p>
            <a:pPr algn="r" indent="0" marL="0">
              <a:buNone/>
            </a:pPr>
            <a:r>
              <a:rPr lang="en-US" sz="2100" b="1" dirty="0">
                <a:solidFill>
                  <a:srgbClr val="1C1B19"/>
                </a:solidFill>
                <a:latin typeface="Arial" pitchFamily="34" charset="0"/>
                <a:ea typeface="Arial" pitchFamily="34" charset="-122"/>
                <a:cs typeface="Arial" pitchFamily="34" charset="-120"/>
              </a:rPr>
              <a:t>7.6</a:t>
            </a:r>
            <a:endParaRPr lang="en-US" sz="2100" dirty="0"/>
          </a:p>
        </p:txBody>
      </p:sp>
      <p:sp>
        <p:nvSpPr>
          <p:cNvPr id="32" name="Shape 30"/>
          <p:cNvSpPr/>
          <p:nvPr/>
        </p:nvSpPr>
        <p:spPr>
          <a:xfrm>
            <a:off x="7209904" y="4369073"/>
            <a:ext cx="1368326" cy="9525"/>
          </a:xfrm>
          <a:prstGeom prst="rect">
            <a:avLst/>
          </a:prstGeom>
          <a:solidFill>
            <a:srgbClr val="E1DFD9"/>
          </a:solidFill>
          <a:ln/>
        </p:spPr>
        <p:txBody>
          <a:bodyPr/>
          <a:p/>
        </p:txBody>
      </p:sp>
      <p:sp>
        <p:nvSpPr>
          <p:cNvPr id="33" name="Text 31"/>
          <p:cNvSpPr/>
          <p:nvPr/>
        </p:nvSpPr>
        <p:spPr>
          <a:xfrm>
            <a:off x="7324204" y="3902348"/>
            <a:ext cx="1254026"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10.8</a:t>
            </a:r>
            <a:endParaRPr lang="en-US" sz="2100" dirty="0"/>
          </a:p>
        </p:txBody>
      </p:sp>
      <p:sp>
        <p:nvSpPr>
          <p:cNvPr id="34" name="Shape 32"/>
          <p:cNvSpPr/>
          <p:nvPr/>
        </p:nvSpPr>
        <p:spPr>
          <a:xfrm>
            <a:off x="8578230" y="4369073"/>
            <a:ext cx="1042020" cy="9525"/>
          </a:xfrm>
          <a:prstGeom prst="rect">
            <a:avLst/>
          </a:prstGeom>
          <a:solidFill>
            <a:srgbClr val="E1DFD9"/>
          </a:solidFill>
          <a:ln/>
        </p:spPr>
        <p:txBody>
          <a:bodyPr/>
          <a:p/>
        </p:txBody>
      </p:sp>
      <p:sp>
        <p:nvSpPr>
          <p:cNvPr id="35" name="Text 33"/>
          <p:cNvSpPr/>
          <p:nvPr/>
        </p:nvSpPr>
        <p:spPr>
          <a:xfrm>
            <a:off x="8692530" y="3902348"/>
            <a:ext cx="927720"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17.9</a:t>
            </a:r>
            <a:endParaRPr lang="en-US" sz="2100" dirty="0"/>
          </a:p>
        </p:txBody>
      </p:sp>
      <p:sp>
        <p:nvSpPr>
          <p:cNvPr id="36" name="Shape 34"/>
          <p:cNvSpPr/>
          <p:nvPr/>
        </p:nvSpPr>
        <p:spPr>
          <a:xfrm>
            <a:off x="1047750" y="4997723"/>
            <a:ext cx="5120283" cy="9525"/>
          </a:xfrm>
          <a:prstGeom prst="rect">
            <a:avLst/>
          </a:prstGeom>
          <a:solidFill>
            <a:srgbClr val="E1DFD9"/>
          </a:solidFill>
          <a:ln/>
        </p:spPr>
        <p:txBody>
          <a:bodyPr/>
          <a:p/>
        </p:txBody>
      </p:sp>
      <p:sp>
        <p:nvSpPr>
          <p:cNvPr id="37" name="Text 35"/>
          <p:cNvSpPr/>
          <p:nvPr/>
        </p:nvSpPr>
        <p:spPr>
          <a:xfrm>
            <a:off x="1047750" y="4530998"/>
            <a:ext cx="5273891" cy="352425"/>
          </a:xfrm>
          <a:prstGeom prst="rect">
            <a:avLst/>
          </a:prstGeom>
          <a:noFill/>
          <a:ln/>
        </p:spPr>
        <p:txBody>
          <a:bodyPr wrap="square" lIns="25400" tIns="25400" rIns="25400" bIns="25400" rtlCol="0" anchor="ctr">
            <a:normAutofit/>
          </a:bodyPr>
          <a:lstStyle/>
          <a:p>
            <a:pPr algn="l" indent="0" marL="0">
              <a:buNone/>
            </a:pPr>
            <a:r>
              <a:rPr lang="en-US" sz="2100" dirty="0">
                <a:solidFill>
                  <a:srgbClr val="1C1B19"/>
                </a:solidFill>
                <a:latin typeface="Arial" pitchFamily="34" charset="0"/>
                <a:ea typeface="Arial" pitchFamily="34" charset="-122"/>
                <a:cs typeface="Arial" pitchFamily="34" charset="-120"/>
              </a:rPr>
              <a:t>Quiet interfloor </a:t>
            </a:r>
            <a:pPr algn="l" indent="0" marL="0">
              <a:buNone/>
            </a:pPr>
            <a:r>
              <a:rPr lang="en-US" sz="2100" dirty="0">
                <a:solidFill>
                  <a:srgbClr val="7A786F"/>
                </a:solidFill>
                <a:latin typeface="Arial" pitchFamily="34" charset="0"/>
                <a:ea typeface="Arial" pitchFamily="34" charset="-122"/>
                <a:cs typeface="Arial" pitchFamily="34" charset="-120"/>
              </a:rPr>
              <a:t>· 20 floors, 4 cars</a:t>
            </a:r>
            <a:endParaRPr lang="en-US" sz="2100" dirty="0"/>
          </a:p>
        </p:txBody>
      </p:sp>
      <p:sp>
        <p:nvSpPr>
          <p:cNvPr id="38" name="Shape 36"/>
          <p:cNvSpPr/>
          <p:nvPr/>
        </p:nvSpPr>
        <p:spPr>
          <a:xfrm>
            <a:off x="6168033" y="4997723"/>
            <a:ext cx="1041871" cy="9525"/>
          </a:xfrm>
          <a:prstGeom prst="rect">
            <a:avLst/>
          </a:prstGeom>
          <a:solidFill>
            <a:srgbClr val="E1DFD9"/>
          </a:solidFill>
          <a:ln/>
        </p:spPr>
        <p:txBody>
          <a:bodyPr/>
          <a:p/>
        </p:txBody>
      </p:sp>
      <p:sp>
        <p:nvSpPr>
          <p:cNvPr id="39" name="Text 37"/>
          <p:cNvSpPr/>
          <p:nvPr/>
        </p:nvSpPr>
        <p:spPr>
          <a:xfrm>
            <a:off x="6282333" y="4530998"/>
            <a:ext cx="927571" cy="352425"/>
          </a:xfrm>
          <a:prstGeom prst="rect">
            <a:avLst/>
          </a:prstGeom>
          <a:noFill/>
          <a:ln/>
        </p:spPr>
        <p:txBody>
          <a:bodyPr wrap="square" lIns="25400" tIns="25400" rIns="25400" bIns="25400" rtlCol="0" anchor="ctr">
            <a:normAutofit/>
          </a:bodyPr>
          <a:lstStyle/>
          <a:p>
            <a:pPr algn="r" indent="0" marL="0">
              <a:buNone/>
            </a:pPr>
            <a:r>
              <a:rPr lang="en-US" sz="2100" b="1" dirty="0">
                <a:solidFill>
                  <a:srgbClr val="1C1B19"/>
                </a:solidFill>
                <a:latin typeface="Arial" pitchFamily="34" charset="0"/>
                <a:ea typeface="Arial" pitchFamily="34" charset="-122"/>
                <a:cs typeface="Arial" pitchFamily="34" charset="-120"/>
              </a:rPr>
              <a:t>3.9</a:t>
            </a:r>
            <a:endParaRPr lang="en-US" sz="2100" dirty="0"/>
          </a:p>
        </p:txBody>
      </p:sp>
      <p:sp>
        <p:nvSpPr>
          <p:cNvPr id="40" name="Shape 38"/>
          <p:cNvSpPr/>
          <p:nvPr/>
        </p:nvSpPr>
        <p:spPr>
          <a:xfrm>
            <a:off x="7209904" y="4997723"/>
            <a:ext cx="1368326" cy="9525"/>
          </a:xfrm>
          <a:prstGeom prst="rect">
            <a:avLst/>
          </a:prstGeom>
          <a:solidFill>
            <a:srgbClr val="E1DFD9"/>
          </a:solidFill>
          <a:ln/>
        </p:spPr>
        <p:txBody>
          <a:bodyPr/>
          <a:p/>
        </p:txBody>
      </p:sp>
      <p:sp>
        <p:nvSpPr>
          <p:cNvPr id="41" name="Text 39"/>
          <p:cNvSpPr/>
          <p:nvPr/>
        </p:nvSpPr>
        <p:spPr>
          <a:xfrm>
            <a:off x="7324204" y="4530998"/>
            <a:ext cx="1254026"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4.5</a:t>
            </a:r>
            <a:endParaRPr lang="en-US" sz="2100" dirty="0"/>
          </a:p>
        </p:txBody>
      </p:sp>
      <p:sp>
        <p:nvSpPr>
          <p:cNvPr id="42" name="Shape 40"/>
          <p:cNvSpPr/>
          <p:nvPr/>
        </p:nvSpPr>
        <p:spPr>
          <a:xfrm>
            <a:off x="8578230" y="4997723"/>
            <a:ext cx="1042020" cy="9525"/>
          </a:xfrm>
          <a:prstGeom prst="rect">
            <a:avLst/>
          </a:prstGeom>
          <a:solidFill>
            <a:srgbClr val="E1DFD9"/>
          </a:solidFill>
          <a:ln/>
        </p:spPr>
        <p:txBody>
          <a:bodyPr/>
          <a:p/>
        </p:txBody>
      </p:sp>
      <p:sp>
        <p:nvSpPr>
          <p:cNvPr id="43" name="Text 41"/>
          <p:cNvSpPr/>
          <p:nvPr/>
        </p:nvSpPr>
        <p:spPr>
          <a:xfrm>
            <a:off x="8692530" y="4530998"/>
            <a:ext cx="927720"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8.1</a:t>
            </a:r>
            <a:endParaRPr lang="en-US" sz="2100" dirty="0"/>
          </a:p>
        </p:txBody>
      </p:sp>
      <p:sp>
        <p:nvSpPr>
          <p:cNvPr id="44" name="Shape 42"/>
          <p:cNvSpPr/>
          <p:nvPr/>
        </p:nvSpPr>
        <p:spPr>
          <a:xfrm>
            <a:off x="1047750" y="5626373"/>
            <a:ext cx="5120283" cy="9525"/>
          </a:xfrm>
          <a:prstGeom prst="rect">
            <a:avLst/>
          </a:prstGeom>
          <a:solidFill>
            <a:srgbClr val="E1DFD9"/>
          </a:solidFill>
          <a:ln/>
        </p:spPr>
        <p:txBody>
          <a:bodyPr/>
          <a:p/>
        </p:txBody>
      </p:sp>
      <p:sp>
        <p:nvSpPr>
          <p:cNvPr id="45" name="Text 43"/>
          <p:cNvSpPr/>
          <p:nvPr/>
        </p:nvSpPr>
        <p:spPr>
          <a:xfrm>
            <a:off x="1047750" y="5159648"/>
            <a:ext cx="5273891" cy="352425"/>
          </a:xfrm>
          <a:prstGeom prst="rect">
            <a:avLst/>
          </a:prstGeom>
          <a:noFill/>
          <a:ln/>
        </p:spPr>
        <p:txBody>
          <a:bodyPr wrap="square" lIns="25400" tIns="25400" rIns="25400" bIns="25400" rtlCol="0" anchor="ctr">
            <a:normAutofit/>
          </a:bodyPr>
          <a:lstStyle/>
          <a:p>
            <a:pPr algn="l" indent="0" marL="0">
              <a:buNone/>
            </a:pPr>
            <a:r>
              <a:rPr lang="en-US" sz="2100" dirty="0">
                <a:solidFill>
                  <a:srgbClr val="1C1B19"/>
                </a:solidFill>
                <a:latin typeface="Arial" pitchFamily="34" charset="0"/>
                <a:ea typeface="Arial" pitchFamily="34" charset="-122"/>
                <a:cs typeface="Arial" pitchFamily="34" charset="-120"/>
              </a:rPr>
              <a:t>Tower </a:t>
            </a:r>
            <a:pPr algn="l" indent="0" marL="0">
              <a:buNone/>
            </a:pPr>
            <a:r>
              <a:rPr lang="en-US" sz="2100" dirty="0">
                <a:solidFill>
                  <a:srgbClr val="7A786F"/>
                </a:solidFill>
                <a:latin typeface="Arial" pitchFamily="34" charset="0"/>
                <a:ea typeface="Arial" pitchFamily="34" charset="-122"/>
                <a:cs typeface="Arial" pitchFamily="34" charset="-120"/>
              </a:rPr>
              <a:t>· 51 floors, 6 cars</a:t>
            </a:r>
            <a:endParaRPr lang="en-US" sz="2100" dirty="0"/>
          </a:p>
        </p:txBody>
      </p:sp>
      <p:sp>
        <p:nvSpPr>
          <p:cNvPr id="46" name="Shape 44"/>
          <p:cNvSpPr/>
          <p:nvPr/>
        </p:nvSpPr>
        <p:spPr>
          <a:xfrm>
            <a:off x="6168033" y="5626373"/>
            <a:ext cx="1041871" cy="9525"/>
          </a:xfrm>
          <a:prstGeom prst="rect">
            <a:avLst/>
          </a:prstGeom>
          <a:solidFill>
            <a:srgbClr val="E1DFD9"/>
          </a:solidFill>
          <a:ln/>
        </p:spPr>
        <p:txBody>
          <a:bodyPr/>
          <a:p/>
        </p:txBody>
      </p:sp>
      <p:sp>
        <p:nvSpPr>
          <p:cNvPr id="47" name="Text 45"/>
          <p:cNvSpPr/>
          <p:nvPr/>
        </p:nvSpPr>
        <p:spPr>
          <a:xfrm>
            <a:off x="6282333" y="5159648"/>
            <a:ext cx="927571" cy="352425"/>
          </a:xfrm>
          <a:prstGeom prst="rect">
            <a:avLst/>
          </a:prstGeom>
          <a:noFill/>
          <a:ln/>
        </p:spPr>
        <p:txBody>
          <a:bodyPr wrap="square" lIns="25400" tIns="25400" rIns="25400" bIns="25400" rtlCol="0" anchor="ctr">
            <a:normAutofit/>
          </a:bodyPr>
          <a:lstStyle/>
          <a:p>
            <a:pPr algn="r" indent="0" marL="0">
              <a:buNone/>
            </a:pPr>
            <a:r>
              <a:rPr lang="en-US" sz="2100" b="1" dirty="0">
                <a:solidFill>
                  <a:srgbClr val="1C1B19"/>
                </a:solidFill>
                <a:latin typeface="Arial" pitchFamily="34" charset="0"/>
                <a:ea typeface="Arial" pitchFamily="34" charset="-122"/>
                <a:cs typeface="Arial" pitchFamily="34" charset="-120"/>
              </a:rPr>
              <a:t>18.3</a:t>
            </a:r>
            <a:endParaRPr lang="en-US" sz="2100" dirty="0"/>
          </a:p>
        </p:txBody>
      </p:sp>
      <p:sp>
        <p:nvSpPr>
          <p:cNvPr id="48" name="Shape 46"/>
          <p:cNvSpPr/>
          <p:nvPr/>
        </p:nvSpPr>
        <p:spPr>
          <a:xfrm>
            <a:off x="7209904" y="5626373"/>
            <a:ext cx="1368326" cy="9525"/>
          </a:xfrm>
          <a:prstGeom prst="rect">
            <a:avLst/>
          </a:prstGeom>
          <a:solidFill>
            <a:srgbClr val="E1DFD9"/>
          </a:solidFill>
          <a:ln/>
        </p:spPr>
        <p:txBody>
          <a:bodyPr/>
          <a:p/>
        </p:txBody>
      </p:sp>
      <p:sp>
        <p:nvSpPr>
          <p:cNvPr id="49" name="Text 47"/>
          <p:cNvSpPr/>
          <p:nvPr/>
        </p:nvSpPr>
        <p:spPr>
          <a:xfrm>
            <a:off x="7324204" y="5159648"/>
            <a:ext cx="1254026"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67.1</a:t>
            </a:r>
            <a:endParaRPr lang="en-US" sz="2100" dirty="0"/>
          </a:p>
        </p:txBody>
      </p:sp>
      <p:sp>
        <p:nvSpPr>
          <p:cNvPr id="50" name="Shape 48"/>
          <p:cNvSpPr/>
          <p:nvPr/>
        </p:nvSpPr>
        <p:spPr>
          <a:xfrm>
            <a:off x="8578230" y="5626373"/>
            <a:ext cx="1042020" cy="9525"/>
          </a:xfrm>
          <a:prstGeom prst="rect">
            <a:avLst/>
          </a:prstGeom>
          <a:solidFill>
            <a:srgbClr val="E1DFD9"/>
          </a:solidFill>
          <a:ln/>
        </p:spPr>
        <p:txBody>
          <a:bodyPr/>
          <a:p/>
        </p:txBody>
      </p:sp>
      <p:sp>
        <p:nvSpPr>
          <p:cNvPr id="51" name="Text 49"/>
          <p:cNvSpPr/>
          <p:nvPr/>
        </p:nvSpPr>
        <p:spPr>
          <a:xfrm>
            <a:off x="8692530" y="5159648"/>
            <a:ext cx="927720"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51.4</a:t>
            </a:r>
            <a:endParaRPr lang="en-US" sz="2100" dirty="0"/>
          </a:p>
        </p:txBody>
      </p:sp>
      <p:sp>
        <p:nvSpPr>
          <p:cNvPr id="52" name="Shape 50"/>
          <p:cNvSpPr/>
          <p:nvPr/>
        </p:nvSpPr>
        <p:spPr>
          <a:xfrm>
            <a:off x="1047750" y="6255023"/>
            <a:ext cx="5120283" cy="9525"/>
          </a:xfrm>
          <a:prstGeom prst="rect">
            <a:avLst/>
          </a:prstGeom>
          <a:solidFill>
            <a:srgbClr val="E1DFD9"/>
          </a:solidFill>
          <a:ln/>
        </p:spPr>
        <p:txBody>
          <a:bodyPr/>
          <a:p/>
        </p:txBody>
      </p:sp>
      <p:sp>
        <p:nvSpPr>
          <p:cNvPr id="53" name="Text 51"/>
          <p:cNvSpPr/>
          <p:nvPr/>
        </p:nvSpPr>
        <p:spPr>
          <a:xfrm>
            <a:off x="1047750" y="5788298"/>
            <a:ext cx="5273891" cy="352425"/>
          </a:xfrm>
          <a:prstGeom prst="rect">
            <a:avLst/>
          </a:prstGeom>
          <a:noFill/>
          <a:ln/>
        </p:spPr>
        <p:txBody>
          <a:bodyPr wrap="square" lIns="25400" tIns="25400" rIns="25400" bIns="25400" rtlCol="0" anchor="ctr">
            <a:normAutofit/>
          </a:bodyPr>
          <a:lstStyle/>
          <a:p>
            <a:pPr algn="l" indent="0" marL="0">
              <a:buNone/>
            </a:pPr>
            <a:r>
              <a:rPr lang="en-US" sz="2100" dirty="0">
                <a:solidFill>
                  <a:srgbClr val="1C1B19"/>
                </a:solidFill>
                <a:latin typeface="Arial" pitchFamily="34" charset="0"/>
                <a:ea typeface="Arial" pitchFamily="34" charset="-122"/>
                <a:cs typeface="Arial" pitchFamily="34" charset="-120"/>
              </a:rPr>
              <a:t>Lobby burst </a:t>
            </a:r>
            <a:pPr algn="l" indent="0" marL="0">
              <a:buNone/>
            </a:pPr>
            <a:r>
              <a:rPr lang="en-US" sz="2100" dirty="0">
                <a:solidFill>
                  <a:srgbClr val="7A786F"/>
                </a:solidFill>
                <a:latin typeface="Arial" pitchFamily="34" charset="0"/>
                <a:ea typeface="Arial" pitchFamily="34" charset="-122"/>
                <a:cs typeface="Arial" pitchFamily="34" charset="-120"/>
              </a:rPr>
              <a:t>· 20 floors, 2 cars × 6</a:t>
            </a:r>
            <a:endParaRPr lang="en-US" sz="2100" dirty="0"/>
          </a:p>
        </p:txBody>
      </p:sp>
      <p:sp>
        <p:nvSpPr>
          <p:cNvPr id="54" name="Shape 52"/>
          <p:cNvSpPr/>
          <p:nvPr/>
        </p:nvSpPr>
        <p:spPr>
          <a:xfrm>
            <a:off x="6168033" y="6255023"/>
            <a:ext cx="1041871" cy="9525"/>
          </a:xfrm>
          <a:prstGeom prst="rect">
            <a:avLst/>
          </a:prstGeom>
          <a:solidFill>
            <a:srgbClr val="E1DFD9"/>
          </a:solidFill>
          <a:ln/>
        </p:spPr>
        <p:txBody>
          <a:bodyPr/>
          <a:p/>
        </p:txBody>
      </p:sp>
      <p:sp>
        <p:nvSpPr>
          <p:cNvPr id="55" name="Text 53"/>
          <p:cNvSpPr/>
          <p:nvPr/>
        </p:nvSpPr>
        <p:spPr>
          <a:xfrm>
            <a:off x="6282333" y="5788298"/>
            <a:ext cx="927571"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60.3</a:t>
            </a:r>
            <a:endParaRPr lang="en-US" sz="2100" dirty="0"/>
          </a:p>
        </p:txBody>
      </p:sp>
      <p:sp>
        <p:nvSpPr>
          <p:cNvPr id="56" name="Shape 54"/>
          <p:cNvSpPr/>
          <p:nvPr/>
        </p:nvSpPr>
        <p:spPr>
          <a:xfrm>
            <a:off x="7209904" y="6255023"/>
            <a:ext cx="1368326" cy="9525"/>
          </a:xfrm>
          <a:prstGeom prst="rect">
            <a:avLst/>
          </a:prstGeom>
          <a:solidFill>
            <a:srgbClr val="E1DFD9"/>
          </a:solidFill>
          <a:ln/>
        </p:spPr>
        <p:txBody>
          <a:bodyPr/>
          <a:p/>
        </p:txBody>
      </p:sp>
      <p:sp>
        <p:nvSpPr>
          <p:cNvPr id="57" name="Text 55"/>
          <p:cNvSpPr/>
          <p:nvPr/>
        </p:nvSpPr>
        <p:spPr>
          <a:xfrm>
            <a:off x="7324204" y="5788298"/>
            <a:ext cx="1254026" cy="352425"/>
          </a:xfrm>
          <a:prstGeom prst="rect">
            <a:avLst/>
          </a:prstGeom>
          <a:noFill/>
          <a:ln/>
        </p:spPr>
        <p:txBody>
          <a:bodyPr wrap="square" lIns="25400" tIns="25400" rIns="25400" bIns="25400" rtlCol="0" anchor="ctr">
            <a:normAutofit/>
          </a:bodyPr>
          <a:lstStyle/>
          <a:p>
            <a:pPr algn="r" indent="0" marL="0">
              <a:buNone/>
            </a:pPr>
            <a:r>
              <a:rPr lang="en-US" sz="2100" dirty="0">
                <a:solidFill>
                  <a:srgbClr val="1C1B19"/>
                </a:solidFill>
                <a:latin typeface="Arial" pitchFamily="34" charset="0"/>
                <a:ea typeface="Arial" pitchFamily="34" charset="-122"/>
                <a:cs typeface="Arial" pitchFamily="34" charset="-120"/>
              </a:rPr>
              <a:t>76.2</a:t>
            </a:r>
            <a:endParaRPr lang="en-US" sz="2100" dirty="0"/>
          </a:p>
        </p:txBody>
      </p:sp>
      <p:sp>
        <p:nvSpPr>
          <p:cNvPr id="58" name="Shape 56"/>
          <p:cNvSpPr/>
          <p:nvPr/>
        </p:nvSpPr>
        <p:spPr>
          <a:xfrm>
            <a:off x="8578230" y="6255023"/>
            <a:ext cx="1042020" cy="9525"/>
          </a:xfrm>
          <a:prstGeom prst="rect">
            <a:avLst/>
          </a:prstGeom>
          <a:solidFill>
            <a:srgbClr val="E1DFD9"/>
          </a:solidFill>
          <a:ln/>
        </p:spPr>
        <p:txBody>
          <a:bodyPr/>
          <a:p/>
        </p:txBody>
      </p:sp>
      <p:sp>
        <p:nvSpPr>
          <p:cNvPr id="59" name="Text 57"/>
          <p:cNvSpPr/>
          <p:nvPr/>
        </p:nvSpPr>
        <p:spPr>
          <a:xfrm>
            <a:off x="8692530" y="5788298"/>
            <a:ext cx="927720" cy="352425"/>
          </a:xfrm>
          <a:prstGeom prst="rect">
            <a:avLst/>
          </a:prstGeom>
          <a:noFill/>
          <a:ln/>
        </p:spPr>
        <p:txBody>
          <a:bodyPr wrap="square" lIns="25400" tIns="25400" rIns="25400" bIns="25400" rtlCol="0" anchor="ctr">
            <a:normAutofit/>
          </a:bodyPr>
          <a:lstStyle/>
          <a:p>
            <a:pPr algn="r" indent="0" marL="0">
              <a:buNone/>
            </a:pPr>
            <a:r>
              <a:rPr lang="en-US" sz="2100" b="1" dirty="0">
                <a:solidFill>
                  <a:srgbClr val="1C1B19"/>
                </a:solidFill>
                <a:latin typeface="Arial" pitchFamily="34" charset="0"/>
                <a:ea typeface="Arial" pitchFamily="34" charset="-122"/>
                <a:cs typeface="Arial" pitchFamily="34" charset="-120"/>
              </a:rPr>
              <a:t>60.1</a:t>
            </a:r>
            <a:endParaRPr lang="en-US" sz="2100" dirty="0"/>
          </a:p>
        </p:txBody>
      </p:sp>
      <p:sp>
        <p:nvSpPr>
          <p:cNvPr id="60" name="Text 58"/>
          <p:cNvSpPr/>
          <p:nvPr/>
        </p:nvSpPr>
        <p:spPr>
          <a:xfrm>
            <a:off x="10382250" y="2087835"/>
            <a:ext cx="7543800"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TWO CASES THAT GO THE OTHER WAY</a:t>
            </a:r>
            <a:endParaRPr lang="en-US" sz="1800" dirty="0"/>
          </a:p>
        </p:txBody>
      </p:sp>
      <p:sp>
        <p:nvSpPr>
          <p:cNvPr id="61" name="Text 59"/>
          <p:cNvSpPr/>
          <p:nvPr/>
        </p:nvSpPr>
        <p:spPr>
          <a:xfrm>
            <a:off x="10382250" y="2697435"/>
            <a:ext cx="7543800" cy="400050"/>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1C1B19"/>
                </a:solidFill>
                <a:latin typeface="Arial" pitchFamily="34" charset="0"/>
                <a:ea typeface="Arial" pitchFamily="34" charset="-122"/>
                <a:cs typeface="Arial" pitchFamily="34" charset="-120"/>
              </a:rPr>
              <a:t>Lobby burst: within noise</a:t>
            </a:r>
            <a:endParaRPr lang="en-US" sz="2400" dirty="0"/>
          </a:p>
        </p:txBody>
      </p:sp>
      <p:sp>
        <p:nvSpPr>
          <p:cNvPr id="62" name="Text 60"/>
          <p:cNvSpPr/>
          <p:nvPr/>
        </p:nvSpPr>
        <p:spPr>
          <a:xfrm>
            <a:off x="10382250" y="3173685"/>
            <a:ext cx="7063740" cy="1904777"/>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60.3 against 60.1 on the committed draw; across twenty seeds 55 ± 21, 61 ± 20 and 59 ± 19 — within noise, smart dispatch lowest in 12 of 20. Every request has the same origin and the system is saturated; the rule does not matter here.</a:t>
            </a:r>
            <a:endParaRPr lang="en-US" sz="2100" dirty="0"/>
          </a:p>
        </p:txBody>
      </p:sp>
      <p:sp>
        <p:nvSpPr>
          <p:cNvPr id="63" name="Text 61"/>
          <p:cNvSpPr/>
          <p:nvPr/>
        </p:nvSpPr>
        <p:spPr>
          <a:xfrm>
            <a:off x="10382250" y="5383262"/>
            <a:ext cx="7543800" cy="400050"/>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1C1B19"/>
                </a:solidFill>
                <a:latin typeface="Arial" pitchFamily="34" charset="0"/>
                <a:ea typeface="Arial" pitchFamily="34" charset="-122"/>
                <a:cs typeface="Arial" pitchFamily="34" charset="-120"/>
              </a:rPr>
              <a:t>The brief’s sample: nearest car wins</a:t>
            </a:r>
            <a:endParaRPr lang="en-US" sz="2400" dirty="0"/>
          </a:p>
        </p:txBody>
      </p:sp>
      <p:sp>
        <p:nvSpPr>
          <p:cNvPr id="64" name="Text 62"/>
          <p:cNvSpPr/>
          <p:nvPr/>
        </p:nvSpPr>
        <p:spPr>
          <a:xfrm>
            <a:off x="10382250" y="5859512"/>
            <a:ext cx="7063740" cy="1904777"/>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4C4A44"/>
                </a:solidFill>
                <a:latin typeface="Arial" pitchFamily="34" charset="0"/>
                <a:ea typeface="Arial" pitchFamily="34" charset="-122"/>
                <a:cs typeface="Arial" pitchFamily="34" charset="-120"/>
              </a:rPr>
              <a:t>6.3 against 15.0 on three passengers. Smart dispatch splits two lobby passengers across both cars to save a stop, leaving no idle car for the third request. A greedy rule with no view of the future can lose on tiny inputs — which is why the scenarios, not the sample, are the basis for judgement.</a:t>
            </a:r>
            <a:endParaRPr lang="en-US" sz="2100" dirty="0"/>
          </a:p>
        </p:txBody>
      </p:sp>
      <p:sp>
        <p:nvSpPr>
          <p:cNvPr id="65" name="Text 63"/>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66" name="Text 64"/>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10 / 16</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7800908"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Waiting time by scenario</a:t>
            </a:r>
            <a:endParaRPr lang="en-US" sz="5400" dirty="0"/>
          </a:p>
        </p:txBody>
      </p:sp>
      <p:sp>
        <p:nvSpPr>
          <p:cNvPr id="3" name="Text 1"/>
          <p:cNvSpPr/>
          <p:nvPr/>
        </p:nvSpPr>
        <p:spPr>
          <a:xfrm>
            <a:off x="12560871" y="1333500"/>
            <a:ext cx="51473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ticks · identical traffic per rule</a:t>
            </a:r>
            <a:endParaRPr lang="en-US" sz="1800" dirty="0"/>
          </a:p>
        </p:txBody>
      </p:sp>
      <p:sp>
        <p:nvSpPr>
          <p:cNvPr id="4" name="Shape 2"/>
          <p:cNvSpPr/>
          <p:nvPr/>
        </p:nvSpPr>
        <p:spPr>
          <a:xfrm>
            <a:off x="1047750" y="2049735"/>
            <a:ext cx="16192500" cy="5716339"/>
          </a:xfrm>
          <a:prstGeom prst="roundRect">
            <a:avLst>
              <a:gd name="adj" fmla="val 1666"/>
            </a:avLst>
          </a:prstGeom>
          <a:solidFill>
            <a:srgbClr val="FFFFFF"/>
          </a:solidFill>
          <a:ln w="9525">
            <a:solidFill>
              <a:srgbClr val="E1DFD9"/>
            </a:solidFill>
            <a:prstDash val="solid"/>
          </a:ln>
        </p:spPr>
        <p:txBody>
          <a:bodyPr/>
          <a:p/>
        </p:txBody>
      </p:sp>
      <p:pic>
        <p:nvPicPr>
          <p:cNvPr id="5" name="Image 0" descr="preencoded.png">    </p:cNvPr>
          <p:cNvPicPr>
            <a:picLocks noChangeAspect="1"/>
          </p:cNvPicPr>
          <p:nvPr/>
        </p:nvPicPr>
        <p:blipFill>
          <a:blip r:embed="rId1"/>
          <a:stretch>
            <a:fillRect/>
          </a:stretch>
        </p:blipFill>
        <p:spPr>
          <a:xfrm>
            <a:off x="1285875" y="2325960"/>
            <a:ext cx="15716250" cy="5163889"/>
          </a:xfrm>
          <a:prstGeom prst="rect">
            <a:avLst/>
          </a:prstGeom>
        </p:spPr>
      </p:pic>
      <p:sp>
        <p:nvSpPr>
          <p:cNvPr id="6" name="Shape 3"/>
          <p:cNvSpPr/>
          <p:nvPr/>
        </p:nvSpPr>
        <p:spPr>
          <a:xfrm>
            <a:off x="1047750" y="8113737"/>
            <a:ext cx="152400" cy="152400"/>
          </a:xfrm>
          <a:prstGeom prst="roundRect">
            <a:avLst>
              <a:gd name="adj" fmla="val 25000"/>
            </a:avLst>
          </a:prstGeom>
          <a:solidFill>
            <a:srgbClr val="2F6FD0"/>
          </a:solidFill>
          <a:ln/>
        </p:spPr>
        <p:txBody>
          <a:bodyPr/>
          <a:p/>
        </p:txBody>
      </p:sp>
      <p:sp>
        <p:nvSpPr>
          <p:cNvPr id="7" name="Text 4"/>
          <p:cNvSpPr/>
          <p:nvPr/>
        </p:nvSpPr>
        <p:spPr>
          <a:xfrm>
            <a:off x="1314450" y="8032775"/>
            <a:ext cx="1818233" cy="352425"/>
          </a:xfrm>
          <a:prstGeom prst="rect">
            <a:avLst/>
          </a:prstGeom>
          <a:noFill/>
          <a:ln/>
        </p:spPr>
        <p:txBody>
          <a:bodyPr wrap="square" lIns="0" tIns="0" rIns="0" bIns="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Smart dispatch</a:t>
            </a:r>
            <a:endParaRPr lang="en-US" sz="2100" dirty="0"/>
          </a:p>
        </p:txBody>
      </p:sp>
      <p:sp>
        <p:nvSpPr>
          <p:cNvPr id="8" name="Shape 5"/>
          <p:cNvSpPr/>
          <p:nvPr/>
        </p:nvSpPr>
        <p:spPr>
          <a:xfrm>
            <a:off x="3437483" y="8113737"/>
            <a:ext cx="152400" cy="152400"/>
          </a:xfrm>
          <a:prstGeom prst="roundRect">
            <a:avLst>
              <a:gd name="adj" fmla="val 25000"/>
            </a:avLst>
          </a:prstGeom>
          <a:solidFill>
            <a:srgbClr val="D9762B"/>
          </a:solidFill>
          <a:ln/>
        </p:spPr>
        <p:txBody>
          <a:bodyPr/>
          <a:p/>
        </p:txBody>
      </p:sp>
      <p:sp>
        <p:nvSpPr>
          <p:cNvPr id="9" name="Text 6"/>
          <p:cNvSpPr/>
          <p:nvPr/>
        </p:nvSpPr>
        <p:spPr>
          <a:xfrm>
            <a:off x="3704183" y="8032775"/>
            <a:ext cx="1394371" cy="352425"/>
          </a:xfrm>
          <a:prstGeom prst="rect">
            <a:avLst/>
          </a:prstGeom>
          <a:noFill/>
          <a:ln/>
        </p:spPr>
        <p:txBody>
          <a:bodyPr wrap="square" lIns="0" tIns="0" rIns="0" bIns="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Nearest car</a:t>
            </a:r>
            <a:endParaRPr lang="en-US" sz="2100" dirty="0"/>
          </a:p>
        </p:txBody>
      </p:sp>
      <p:sp>
        <p:nvSpPr>
          <p:cNvPr id="10" name="Shape 7"/>
          <p:cNvSpPr/>
          <p:nvPr/>
        </p:nvSpPr>
        <p:spPr>
          <a:xfrm>
            <a:off x="5403354" y="8113737"/>
            <a:ext cx="152400" cy="152400"/>
          </a:xfrm>
          <a:prstGeom prst="roundRect">
            <a:avLst>
              <a:gd name="adj" fmla="val 25000"/>
            </a:avLst>
          </a:prstGeom>
          <a:solidFill>
            <a:srgbClr val="2A9D74"/>
          </a:solidFill>
          <a:ln/>
        </p:spPr>
        <p:txBody>
          <a:bodyPr/>
          <a:p/>
        </p:txBody>
      </p:sp>
      <p:sp>
        <p:nvSpPr>
          <p:cNvPr id="11" name="Text 8"/>
          <p:cNvSpPr/>
          <p:nvPr/>
        </p:nvSpPr>
        <p:spPr>
          <a:xfrm>
            <a:off x="5670054" y="8032775"/>
            <a:ext cx="1248221" cy="352425"/>
          </a:xfrm>
          <a:prstGeom prst="rect">
            <a:avLst/>
          </a:prstGeom>
          <a:noFill/>
          <a:ln/>
        </p:spPr>
        <p:txBody>
          <a:bodyPr wrap="square" lIns="0" tIns="0" rIns="0" bIns="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Take turns</a:t>
            </a:r>
            <a:endParaRPr lang="en-US" sz="2100" dirty="0"/>
          </a:p>
        </p:txBody>
      </p:sp>
      <p:sp>
        <p:nvSpPr>
          <p:cNvPr id="12" name="Text 9"/>
          <p:cNvSpPr/>
          <p:nvPr/>
        </p:nvSpPr>
        <p:spPr>
          <a:xfrm>
            <a:off x="9034016" y="8032775"/>
            <a:ext cx="9026857" cy="352425"/>
          </a:xfrm>
          <a:prstGeom prst="rect">
            <a:avLst/>
          </a:prstGeom>
          <a:noFill/>
          <a:ln/>
        </p:spPr>
        <p:txBody>
          <a:bodyPr wrap="square" lIns="25400" tIns="25400" rIns="25400" bIns="25400" rtlCol="0" anchor="t">
            <a:normAutofit/>
          </a:bodyPr>
          <a:lstStyle/>
          <a:p>
            <a:pPr algn="l" indent="0" marL="0">
              <a:buNone/>
            </a:pPr>
            <a:r>
              <a:rPr lang="en-US" sz="2100" dirty="0">
                <a:solidFill>
                  <a:srgbClr val="4C4A44"/>
                </a:solidFill>
                <a:latin typeface="Arial" pitchFamily="34" charset="0"/>
                <a:ea typeface="Arial" pitchFamily="34" charset="-122"/>
                <a:cs typeface="Arial" pitchFamily="34" charset="-120"/>
              </a:rPr>
              <a:t>Lowest on every realistic pattern; the margin grows with height and load.</a:t>
            </a:r>
            <a:endParaRPr lang="en-US" sz="2100" dirty="0"/>
          </a:p>
        </p:txBody>
      </p:sp>
      <p:sp>
        <p:nvSpPr>
          <p:cNvPr id="13" name="Text 10"/>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14" name="Text 11"/>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11 / 16</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7081808"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How the cars are used</a:t>
            </a:r>
            <a:endParaRPr lang="en-US" sz="5400" dirty="0"/>
          </a:p>
        </p:txBody>
      </p:sp>
      <p:sp>
        <p:nvSpPr>
          <p:cNvPr id="3" name="Text 1"/>
          <p:cNvSpPr/>
          <p:nvPr/>
        </p:nvSpPr>
        <p:spPr>
          <a:xfrm>
            <a:off x="8844855" y="1333500"/>
            <a:ext cx="923493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busy = aboard or assigned · spread = busiest − least busy car</a:t>
            </a:r>
            <a:endParaRPr lang="en-US" sz="1800" dirty="0"/>
          </a:p>
        </p:txBody>
      </p:sp>
      <p:sp>
        <p:nvSpPr>
          <p:cNvPr id="4" name="Shape 2"/>
          <p:cNvSpPr/>
          <p:nvPr/>
        </p:nvSpPr>
        <p:spPr>
          <a:xfrm>
            <a:off x="1047750" y="1973535"/>
            <a:ext cx="16192500" cy="4468564"/>
          </a:xfrm>
          <a:prstGeom prst="roundRect">
            <a:avLst>
              <a:gd name="adj" fmla="val 2132"/>
            </a:avLst>
          </a:prstGeom>
          <a:solidFill>
            <a:srgbClr val="FFFFFF"/>
          </a:solidFill>
          <a:ln w="9525">
            <a:solidFill>
              <a:srgbClr val="E1DFD9"/>
            </a:solidFill>
            <a:prstDash val="solid"/>
          </a:ln>
        </p:spPr>
        <p:txBody>
          <a:bodyPr/>
          <a:p/>
        </p:txBody>
      </p:sp>
      <p:pic>
        <p:nvPicPr>
          <p:cNvPr id="5" name="Image 0" descr="preencoded.png">    </p:cNvPr>
          <p:cNvPicPr>
            <a:picLocks noChangeAspect="1"/>
          </p:cNvPicPr>
          <p:nvPr/>
        </p:nvPicPr>
        <p:blipFill>
          <a:blip r:embed="rId1"/>
          <a:stretch>
            <a:fillRect/>
          </a:stretch>
        </p:blipFill>
        <p:spPr>
          <a:xfrm>
            <a:off x="2952750" y="2173560"/>
            <a:ext cx="12382500" cy="4068514"/>
          </a:xfrm>
          <a:prstGeom prst="rect">
            <a:avLst/>
          </a:prstGeom>
        </p:spPr>
      </p:pic>
      <p:sp>
        <p:nvSpPr>
          <p:cNvPr id="6" name="Shape 3"/>
          <p:cNvSpPr/>
          <p:nvPr/>
        </p:nvSpPr>
        <p:spPr>
          <a:xfrm>
            <a:off x="1047750" y="6746900"/>
            <a:ext cx="5092675" cy="19050"/>
          </a:xfrm>
          <a:prstGeom prst="rect">
            <a:avLst/>
          </a:prstGeom>
          <a:solidFill>
            <a:srgbClr val="1C1B19"/>
          </a:solidFill>
          <a:ln/>
        </p:spPr>
        <p:txBody>
          <a:bodyPr/>
          <a:p/>
        </p:txBody>
      </p:sp>
      <p:sp>
        <p:nvSpPr>
          <p:cNvPr id="7" name="Text 4"/>
          <p:cNvSpPr/>
          <p:nvPr/>
        </p:nvSpPr>
        <p:spPr>
          <a:xfrm>
            <a:off x="1047750" y="6889775"/>
            <a:ext cx="1172096" cy="66675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2F6FD0"/>
                </a:solidFill>
                <a:latin typeface="Arial" pitchFamily="34" charset="0"/>
                <a:ea typeface="Arial" pitchFamily="34" charset="-122"/>
                <a:cs typeface="Arial" pitchFamily="34" charset="-120"/>
              </a:rPr>
              <a:t>62%</a:t>
            </a:r>
            <a:endParaRPr lang="en-US" sz="4200" dirty="0"/>
          </a:p>
        </p:txBody>
      </p:sp>
      <p:sp>
        <p:nvSpPr>
          <p:cNvPr id="8" name="Text 5"/>
          <p:cNvSpPr/>
          <p:nvPr/>
        </p:nvSpPr>
        <p:spPr>
          <a:xfrm>
            <a:off x="2237333" y="7146950"/>
            <a:ext cx="344686" cy="352425"/>
          </a:xfrm>
          <a:prstGeom prst="rect">
            <a:avLst/>
          </a:prstGeom>
          <a:noFill/>
          <a:ln/>
        </p:spPr>
        <p:txBody>
          <a:bodyPr wrap="square" lIns="25400" tIns="25400" rIns="25400" bIns="25400" rtlCol="0" anchor="t">
            <a:normAutofit/>
          </a:bodyPr>
          <a:lstStyle/>
          <a:p>
            <a:pPr algn="l" indent="0" marL="0">
              <a:lnSpc>
                <a:spcPct val="86154"/>
              </a:lnSpc>
              <a:buNone/>
            </a:pPr>
            <a:r>
              <a:rPr lang="en-US" sz="2100" dirty="0">
                <a:solidFill>
                  <a:srgbClr val="7A786F"/>
                </a:solidFill>
                <a:latin typeface="Arial" pitchFamily="34" charset="0"/>
                <a:ea typeface="Arial" pitchFamily="34" charset="-122"/>
                <a:cs typeface="Arial" pitchFamily="34" charset="-120"/>
              </a:rPr>
              <a:t>vs</a:t>
            </a:r>
            <a:endParaRPr lang="en-US" sz="2100" dirty="0"/>
          </a:p>
        </p:txBody>
      </p:sp>
      <p:sp>
        <p:nvSpPr>
          <p:cNvPr id="9" name="Text 6"/>
          <p:cNvSpPr/>
          <p:nvPr/>
        </p:nvSpPr>
        <p:spPr>
          <a:xfrm>
            <a:off x="2599506" y="6889775"/>
            <a:ext cx="1172096" cy="66675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D9762B"/>
                </a:solidFill>
                <a:latin typeface="Arial" pitchFamily="34" charset="0"/>
                <a:ea typeface="Arial" pitchFamily="34" charset="-122"/>
                <a:cs typeface="Arial" pitchFamily="34" charset="-120"/>
              </a:rPr>
              <a:t>89%</a:t>
            </a:r>
            <a:endParaRPr lang="en-US" sz="4200" dirty="0"/>
          </a:p>
        </p:txBody>
      </p:sp>
      <p:sp>
        <p:nvSpPr>
          <p:cNvPr id="10" name="Text 7"/>
          <p:cNvSpPr/>
          <p:nvPr/>
        </p:nvSpPr>
        <p:spPr>
          <a:xfrm>
            <a:off x="3789090" y="7146950"/>
            <a:ext cx="344686" cy="352425"/>
          </a:xfrm>
          <a:prstGeom prst="rect">
            <a:avLst/>
          </a:prstGeom>
          <a:noFill/>
          <a:ln/>
        </p:spPr>
        <p:txBody>
          <a:bodyPr wrap="square" lIns="25400" tIns="25400" rIns="25400" bIns="25400" rtlCol="0" anchor="t">
            <a:normAutofit/>
          </a:bodyPr>
          <a:lstStyle/>
          <a:p>
            <a:pPr algn="l" indent="0" marL="0">
              <a:lnSpc>
                <a:spcPct val="86154"/>
              </a:lnSpc>
              <a:buNone/>
            </a:pPr>
            <a:r>
              <a:rPr lang="en-US" sz="2100" dirty="0">
                <a:solidFill>
                  <a:srgbClr val="7A786F"/>
                </a:solidFill>
                <a:latin typeface="Arial" pitchFamily="34" charset="0"/>
                <a:ea typeface="Arial" pitchFamily="34" charset="-122"/>
                <a:cs typeface="Arial" pitchFamily="34" charset="-120"/>
              </a:rPr>
              <a:t>vs</a:t>
            </a:r>
            <a:endParaRPr lang="en-US" sz="2100" dirty="0"/>
          </a:p>
        </p:txBody>
      </p:sp>
      <p:sp>
        <p:nvSpPr>
          <p:cNvPr id="11" name="Text 8"/>
          <p:cNvSpPr/>
          <p:nvPr/>
        </p:nvSpPr>
        <p:spPr>
          <a:xfrm>
            <a:off x="4151263" y="6889775"/>
            <a:ext cx="1172096" cy="66675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2A9D74"/>
                </a:solidFill>
                <a:latin typeface="Arial" pitchFamily="34" charset="0"/>
                <a:ea typeface="Arial" pitchFamily="34" charset="-122"/>
                <a:cs typeface="Arial" pitchFamily="34" charset="-120"/>
              </a:rPr>
              <a:t>95%</a:t>
            </a:r>
            <a:endParaRPr lang="en-US" sz="4200" dirty="0"/>
          </a:p>
        </p:txBody>
      </p:sp>
      <p:sp>
        <p:nvSpPr>
          <p:cNvPr id="12" name="Text 9"/>
          <p:cNvSpPr/>
          <p:nvPr/>
        </p:nvSpPr>
        <p:spPr>
          <a:xfrm>
            <a:off x="1047750" y="7585100"/>
            <a:ext cx="5245455" cy="1118146"/>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C1B19"/>
                </a:solidFill>
                <a:latin typeface="Arial" pitchFamily="34" charset="0"/>
                <a:ea typeface="Arial" pitchFamily="34" charset="-122"/>
                <a:cs typeface="Arial" pitchFamily="34" charset="-120"/>
              </a:rPr>
              <a:t>Least car-time for the same job. </a:t>
            </a:r>
            <a:pPr algn="l" indent="0" marL="0">
              <a:lnSpc>
                <a:spcPct val="116308"/>
              </a:lnSpc>
              <a:buNone/>
            </a:pPr>
            <a:r>
              <a:rPr lang="en-US" sz="2100" dirty="0">
                <a:solidFill>
                  <a:srgbClr val="4C4A44"/>
                </a:solidFill>
                <a:latin typeface="Arial" pitchFamily="34" charset="0"/>
                <a:ea typeface="Arial" pitchFamily="34" charset="-122"/>
                <a:cs typeface="Arial" pitchFamily="34" charset="-120"/>
              </a:rPr>
              <a:t>Cars busy in the morning peak; fewer stops per trip is less travel per passenger.</a:t>
            </a:r>
            <a:endParaRPr lang="en-US" sz="2100" dirty="0"/>
          </a:p>
        </p:txBody>
      </p:sp>
      <p:sp>
        <p:nvSpPr>
          <p:cNvPr id="13" name="Shape 10"/>
          <p:cNvSpPr/>
          <p:nvPr/>
        </p:nvSpPr>
        <p:spPr>
          <a:xfrm>
            <a:off x="6597625" y="6746900"/>
            <a:ext cx="5092675" cy="19050"/>
          </a:xfrm>
          <a:prstGeom prst="rect">
            <a:avLst/>
          </a:prstGeom>
          <a:solidFill>
            <a:srgbClr val="1C1B19"/>
          </a:solidFill>
          <a:ln/>
        </p:spPr>
        <p:txBody>
          <a:bodyPr/>
          <a:p/>
        </p:txBody>
      </p:sp>
      <p:sp>
        <p:nvSpPr>
          <p:cNvPr id="14" name="Text 11"/>
          <p:cNvSpPr/>
          <p:nvPr/>
        </p:nvSpPr>
        <p:spPr>
          <a:xfrm>
            <a:off x="6597625" y="6937400"/>
            <a:ext cx="5601943" cy="57150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1C1B19"/>
                </a:solidFill>
                <a:latin typeface="Arial" pitchFamily="34" charset="0"/>
                <a:ea typeface="Arial" pitchFamily="34" charset="-122"/>
                <a:cs typeface="Arial" pitchFamily="34" charset="-120"/>
              </a:rPr>
              <a:t>36% </a:t>
            </a:r>
            <a:pPr algn="l" indent="0" marL="0">
              <a:lnSpc>
                <a:spcPct val="86822"/>
              </a:lnSpc>
              <a:buNone/>
            </a:pPr>
            <a:r>
              <a:rPr lang="en-US" sz="2100" spc="-126" kern="0" dirty="0">
                <a:solidFill>
                  <a:srgbClr val="7A786F"/>
                </a:solidFill>
                <a:latin typeface="Arial" pitchFamily="34" charset="0"/>
                <a:ea typeface="Arial" pitchFamily="34" charset="-122"/>
                <a:cs typeface="Arial" pitchFamily="34" charset="-120"/>
              </a:rPr>
              <a:t>fair share 25%</a:t>
            </a:r>
            <a:endParaRPr lang="en-US" sz="4200" dirty="0"/>
          </a:p>
        </p:txBody>
      </p:sp>
      <p:sp>
        <p:nvSpPr>
          <p:cNvPr id="15" name="Text 12"/>
          <p:cNvSpPr/>
          <p:nvPr/>
        </p:nvSpPr>
        <p:spPr>
          <a:xfrm>
            <a:off x="6597625" y="7585100"/>
            <a:ext cx="5245455" cy="1118146"/>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C1B19"/>
                </a:solidFill>
                <a:latin typeface="Arial" pitchFamily="34" charset="0"/>
                <a:ea typeface="Arial" pitchFamily="34" charset="-122"/>
                <a:cs typeface="Arial" pitchFamily="34" charset="-120"/>
              </a:rPr>
              <a:t>But the work is shared least evenly. </a:t>
            </a:r>
            <a:pPr algn="l" indent="0" marL="0">
              <a:lnSpc>
                <a:spcPct val="116308"/>
              </a:lnSpc>
              <a:buNone/>
            </a:pPr>
            <a:r>
              <a:rPr lang="en-US" sz="2100" dirty="0">
                <a:solidFill>
                  <a:srgbClr val="4C4A44"/>
                </a:solidFill>
                <a:latin typeface="Arial" pitchFamily="34" charset="0"/>
                <a:ea typeface="Arial" pitchFamily="34" charset="-122"/>
                <a:cs typeface="Arial" pitchFamily="34" charset="-120"/>
              </a:rPr>
              <a:t>One car in four carries 36% of the morning passengers.</a:t>
            </a:r>
            <a:endParaRPr lang="en-US" sz="2100" dirty="0"/>
          </a:p>
        </p:txBody>
      </p:sp>
      <p:sp>
        <p:nvSpPr>
          <p:cNvPr id="16" name="Shape 13"/>
          <p:cNvSpPr/>
          <p:nvPr/>
        </p:nvSpPr>
        <p:spPr>
          <a:xfrm>
            <a:off x="12147500" y="6746900"/>
            <a:ext cx="5092750" cy="19050"/>
          </a:xfrm>
          <a:prstGeom prst="rect">
            <a:avLst/>
          </a:prstGeom>
          <a:solidFill>
            <a:srgbClr val="1C1B19"/>
          </a:solidFill>
          <a:ln/>
        </p:spPr>
        <p:txBody>
          <a:bodyPr/>
          <a:p/>
        </p:txBody>
      </p:sp>
      <p:sp>
        <p:nvSpPr>
          <p:cNvPr id="17" name="Text 14"/>
          <p:cNvSpPr/>
          <p:nvPr/>
        </p:nvSpPr>
        <p:spPr>
          <a:xfrm>
            <a:off x="12147500" y="6937400"/>
            <a:ext cx="5602025" cy="57150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1C1B19"/>
                </a:solidFill>
                <a:latin typeface="Arial" pitchFamily="34" charset="0"/>
                <a:ea typeface="Arial" pitchFamily="34" charset="-122"/>
                <a:cs typeface="Arial" pitchFamily="34" charset="-120"/>
              </a:rPr>
              <a:t>30 → 18 </a:t>
            </a:r>
            <a:pPr algn="l" indent="0" marL="0">
              <a:lnSpc>
                <a:spcPct val="86822"/>
              </a:lnSpc>
              <a:buNone/>
            </a:pPr>
            <a:r>
              <a:rPr lang="en-US" sz="2100" spc="-126" kern="0" dirty="0">
                <a:solidFill>
                  <a:srgbClr val="7A786F"/>
                </a:solidFill>
                <a:latin typeface="Arial" pitchFamily="34" charset="0"/>
                <a:ea typeface="Arial" pitchFamily="34" charset="-122"/>
                <a:cs typeface="Arial" pitchFamily="34" charset="-120"/>
              </a:rPr>
              <a:t>· 21 → 5 · 33 → 10</a:t>
            </a:r>
            <a:endParaRPr lang="en-US" sz="4200" dirty="0"/>
          </a:p>
        </p:txBody>
      </p:sp>
      <p:sp>
        <p:nvSpPr>
          <p:cNvPr id="18" name="Text 15"/>
          <p:cNvSpPr/>
          <p:nvPr/>
        </p:nvSpPr>
        <p:spPr>
          <a:xfrm>
            <a:off x="12147500" y="7585100"/>
            <a:ext cx="5245532" cy="1478161"/>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C1B19"/>
                </a:solidFill>
                <a:latin typeface="Arial" pitchFamily="34" charset="0"/>
                <a:ea typeface="Arial" pitchFamily="34" charset="-122"/>
                <a:cs typeface="Arial" pitchFamily="34" charset="-120"/>
              </a:rPr>
              <a:t>The fairness weight evens the cars as a side effect. </a:t>
            </a:r>
            <a:pPr algn="l" indent="0" marL="0">
              <a:lnSpc>
                <a:spcPct val="116308"/>
              </a:lnSpc>
              <a:buNone/>
            </a:pPr>
            <a:r>
              <a:rPr lang="en-US" sz="2100" dirty="0">
                <a:solidFill>
                  <a:srgbClr val="4C4A44"/>
                </a:solidFill>
                <a:latin typeface="Arial" pitchFamily="34" charset="0"/>
                <a:ea typeface="Arial" pitchFamily="34" charset="-122"/>
                <a:cs typeface="Arial" pitchFamily="34" charset="-120"/>
              </a:rPr>
              <a:t>Spread in points, committed draws; narrower in 11–15 of 20 fresh seeds. One knob, two effects.</a:t>
            </a:r>
            <a:endParaRPr lang="en-US" sz="2100" dirty="0"/>
          </a:p>
        </p:txBody>
      </p:sp>
      <p:sp>
        <p:nvSpPr>
          <p:cNvPr id="19" name="Text 16"/>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20" name="Text 17"/>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12 / 16</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3525716"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Which rule, which policy, for which building</a:t>
            </a:r>
            <a:endParaRPr lang="en-US" sz="5400" dirty="0"/>
          </a:p>
        </p:txBody>
      </p:sp>
      <p:sp>
        <p:nvSpPr>
          <p:cNvPr id="3" name="Text 1"/>
          <p:cNvSpPr/>
          <p:nvPr/>
        </p:nvSpPr>
        <p:spPr>
          <a:xfrm>
            <a:off x="14625265" y="1333500"/>
            <a:ext cx="287648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average wait, ticks</a:t>
            </a:r>
            <a:endParaRPr lang="en-US" sz="1800" dirty="0"/>
          </a:p>
        </p:txBody>
      </p:sp>
      <p:sp>
        <p:nvSpPr>
          <p:cNvPr id="4" name="Shape 2"/>
          <p:cNvSpPr/>
          <p:nvPr/>
        </p:nvSpPr>
        <p:spPr>
          <a:xfrm>
            <a:off x="1047750" y="2292623"/>
            <a:ext cx="4857750" cy="9525"/>
          </a:xfrm>
          <a:prstGeom prst="rect">
            <a:avLst/>
          </a:prstGeom>
          <a:solidFill>
            <a:srgbClr val="1C1B19"/>
          </a:solidFill>
          <a:ln/>
        </p:spPr>
        <p:txBody>
          <a:bodyPr/>
          <a:p/>
        </p:txBody>
      </p:sp>
      <p:sp>
        <p:nvSpPr>
          <p:cNvPr id="5" name="Text 3"/>
          <p:cNvSpPr/>
          <p:nvPr/>
        </p:nvSpPr>
        <p:spPr>
          <a:xfrm>
            <a:off x="1047750" y="1897335"/>
            <a:ext cx="5003483" cy="319088"/>
          </a:xfrm>
          <a:prstGeom prst="rect">
            <a:avLst/>
          </a:prstGeom>
          <a:noFill/>
          <a:ln/>
        </p:spPr>
        <p:txBody>
          <a:bodyPr wrap="square" lIns="25400" tIns="25400" rIns="25400" bIns="25400" rtlCol="0" anchor="ctr">
            <a:normAutofit/>
          </a:bodyPr>
          <a:lstStyle/>
          <a:p>
            <a:pPr algn="l" indent="0" marL="0">
              <a:lnSpc>
                <a:spcPct val="111111"/>
              </a:lnSpc>
              <a:buNone/>
            </a:pPr>
            <a:r>
              <a:rPr lang="en-US" sz="1800" dirty="0">
                <a:solidFill>
                  <a:srgbClr val="7A786F"/>
                </a:solidFill>
                <a:latin typeface="Courier New" pitchFamily="34" charset="0"/>
                <a:ea typeface="Courier New" pitchFamily="34" charset="-122"/>
                <a:cs typeface="Courier New" pitchFamily="34" charset="-120"/>
              </a:rPr>
              <a:t>Building and traffic</a:t>
            </a:r>
            <a:endParaRPr lang="en-US" sz="1800" dirty="0"/>
          </a:p>
        </p:txBody>
      </p:sp>
      <p:sp>
        <p:nvSpPr>
          <p:cNvPr id="6" name="Shape 4"/>
          <p:cNvSpPr/>
          <p:nvPr/>
        </p:nvSpPr>
        <p:spPr>
          <a:xfrm>
            <a:off x="5905500" y="2292623"/>
            <a:ext cx="7448550" cy="9525"/>
          </a:xfrm>
          <a:prstGeom prst="rect">
            <a:avLst/>
          </a:prstGeom>
          <a:solidFill>
            <a:srgbClr val="1C1B19"/>
          </a:solidFill>
          <a:ln/>
        </p:spPr>
        <p:txBody>
          <a:bodyPr/>
          <a:p/>
        </p:txBody>
      </p:sp>
      <p:sp>
        <p:nvSpPr>
          <p:cNvPr id="7" name="Text 5"/>
          <p:cNvSpPr/>
          <p:nvPr/>
        </p:nvSpPr>
        <p:spPr>
          <a:xfrm>
            <a:off x="6134100" y="1897335"/>
            <a:ext cx="7214807" cy="319088"/>
          </a:xfrm>
          <a:prstGeom prst="rect">
            <a:avLst/>
          </a:prstGeom>
          <a:noFill/>
          <a:ln/>
        </p:spPr>
        <p:txBody>
          <a:bodyPr wrap="square" lIns="25400" tIns="25400" rIns="25400" bIns="25400" rtlCol="0" anchor="ctr">
            <a:normAutofit/>
          </a:bodyPr>
          <a:lstStyle/>
          <a:p>
            <a:pPr algn="l" indent="0" marL="0">
              <a:lnSpc>
                <a:spcPct val="111111"/>
              </a:lnSpc>
              <a:buNone/>
            </a:pPr>
            <a:r>
              <a:rPr lang="en-US" sz="1800" dirty="0">
                <a:solidFill>
                  <a:srgbClr val="7A786F"/>
                </a:solidFill>
                <a:latin typeface="Courier New" pitchFamily="34" charset="0"/>
                <a:ea typeface="Courier New" pitchFamily="34" charset="-122"/>
                <a:cs typeface="Courier New" pitchFamily="34" charset="-120"/>
              </a:rPr>
              <a:t>Choose</a:t>
            </a:r>
            <a:endParaRPr lang="en-US" sz="1800" dirty="0"/>
          </a:p>
        </p:txBody>
      </p:sp>
      <p:sp>
        <p:nvSpPr>
          <p:cNvPr id="8" name="Shape 6"/>
          <p:cNvSpPr/>
          <p:nvPr/>
        </p:nvSpPr>
        <p:spPr>
          <a:xfrm>
            <a:off x="13354050" y="2292623"/>
            <a:ext cx="3886200" cy="9525"/>
          </a:xfrm>
          <a:prstGeom prst="rect">
            <a:avLst/>
          </a:prstGeom>
          <a:solidFill>
            <a:srgbClr val="1C1B19"/>
          </a:solidFill>
          <a:ln/>
        </p:spPr>
        <p:txBody>
          <a:bodyPr/>
          <a:p/>
        </p:txBody>
      </p:sp>
      <p:sp>
        <p:nvSpPr>
          <p:cNvPr id="9" name="Text 7"/>
          <p:cNvSpPr/>
          <p:nvPr/>
        </p:nvSpPr>
        <p:spPr>
          <a:xfrm>
            <a:off x="13354050" y="1897335"/>
            <a:ext cx="4002786" cy="319088"/>
          </a:xfrm>
          <a:prstGeom prst="rect">
            <a:avLst/>
          </a:prstGeom>
          <a:noFill/>
          <a:ln/>
        </p:spPr>
        <p:txBody>
          <a:bodyPr wrap="square" lIns="25400" tIns="25400" rIns="25400" bIns="25400" rtlCol="0" anchor="ctr">
            <a:normAutofit/>
          </a:bodyPr>
          <a:lstStyle/>
          <a:p>
            <a:pPr algn="l" indent="0" marL="0">
              <a:lnSpc>
                <a:spcPct val="111111"/>
              </a:lnSpc>
              <a:buNone/>
            </a:pPr>
            <a:r>
              <a:rPr lang="en-US" sz="1800" dirty="0">
                <a:solidFill>
                  <a:srgbClr val="7A786F"/>
                </a:solidFill>
                <a:latin typeface="Courier New" pitchFamily="34" charset="0"/>
                <a:ea typeface="Courier New" pitchFamily="34" charset="-122"/>
                <a:cs typeface="Courier New" pitchFamily="34" charset="-120"/>
              </a:rPr>
              <a:t>Evidence</a:t>
            </a:r>
            <a:endParaRPr lang="en-US" sz="1800" dirty="0"/>
          </a:p>
        </p:txBody>
      </p:sp>
      <p:sp>
        <p:nvSpPr>
          <p:cNvPr id="10" name="Shape 8"/>
          <p:cNvSpPr/>
          <p:nvPr/>
        </p:nvSpPr>
        <p:spPr>
          <a:xfrm>
            <a:off x="1047750" y="3026048"/>
            <a:ext cx="4857750" cy="9525"/>
          </a:xfrm>
          <a:prstGeom prst="rect">
            <a:avLst/>
          </a:prstGeom>
          <a:solidFill>
            <a:srgbClr val="E1DFD9"/>
          </a:solidFill>
          <a:ln/>
        </p:spPr>
        <p:txBody>
          <a:bodyPr/>
          <a:p/>
        </p:txBody>
      </p:sp>
      <p:sp>
        <p:nvSpPr>
          <p:cNvPr id="11" name="Text 9"/>
          <p:cNvSpPr/>
          <p:nvPr/>
        </p:nvSpPr>
        <p:spPr>
          <a:xfrm>
            <a:off x="1047750" y="2378348"/>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Ordinary office, moderate traffic </a:t>
            </a:r>
            <a:pPr algn="l" indent="0" marL="0">
              <a:lnSpc>
                <a:spcPct val="109091"/>
              </a:lnSpc>
              <a:buNone/>
            </a:pPr>
            <a:r>
              <a:rPr lang="en-US" sz="1800" dirty="0">
                <a:solidFill>
                  <a:srgbClr val="7A786F"/>
                </a:solidFill>
                <a:latin typeface="Arial" pitchFamily="34" charset="0"/>
                <a:ea typeface="Arial" pitchFamily="34" charset="-122"/>
                <a:cs typeface="Arial" pitchFamily="34" charset="-120"/>
              </a:rPr>
              <a:t>· ≤20 floors</a:t>
            </a:r>
            <a:endParaRPr lang="en-US" sz="1800" dirty="0"/>
          </a:p>
        </p:txBody>
      </p:sp>
      <p:sp>
        <p:nvSpPr>
          <p:cNvPr id="12" name="Shape 10"/>
          <p:cNvSpPr/>
          <p:nvPr/>
        </p:nvSpPr>
        <p:spPr>
          <a:xfrm>
            <a:off x="5905500" y="3026048"/>
            <a:ext cx="7448550" cy="9525"/>
          </a:xfrm>
          <a:prstGeom prst="rect">
            <a:avLst/>
          </a:prstGeom>
          <a:solidFill>
            <a:srgbClr val="E1DFD9"/>
          </a:solidFill>
          <a:ln/>
        </p:spPr>
        <p:txBody>
          <a:bodyPr/>
          <a:p/>
        </p:txBody>
      </p:sp>
      <p:sp>
        <p:nvSpPr>
          <p:cNvPr id="13" name="Text 11"/>
          <p:cNvSpPr/>
          <p:nvPr/>
        </p:nvSpPr>
        <p:spPr>
          <a:xfrm>
            <a:off x="6134100" y="2378348"/>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2F6FD0"/>
                </a:solidFill>
                <a:latin typeface="Arial" pitchFamily="34" charset="0"/>
                <a:ea typeface="Arial" pitchFamily="34" charset="-122"/>
                <a:cs typeface="Arial" pitchFamily="34" charset="-120"/>
              </a:rPr>
              <a:t>Smart dispatch.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1.5–2× shorter average wait than nearest car on the three peaks across seeds; 29–42% on the committed draws.</a:t>
            </a:r>
            <a:endParaRPr lang="en-US" sz="1800" dirty="0"/>
          </a:p>
        </p:txBody>
      </p:sp>
      <p:sp>
        <p:nvSpPr>
          <p:cNvPr id="14" name="Shape 12"/>
          <p:cNvSpPr/>
          <p:nvPr/>
        </p:nvSpPr>
        <p:spPr>
          <a:xfrm>
            <a:off x="13354050" y="3026048"/>
            <a:ext cx="3886200" cy="9525"/>
          </a:xfrm>
          <a:prstGeom prst="rect">
            <a:avLst/>
          </a:prstGeom>
          <a:solidFill>
            <a:srgbClr val="E1DFD9"/>
          </a:solidFill>
          <a:ln/>
        </p:spPr>
        <p:txBody>
          <a:bodyPr/>
          <a:p/>
        </p:txBody>
      </p:sp>
      <p:sp>
        <p:nvSpPr>
          <p:cNvPr id="15" name="Text 13"/>
          <p:cNvSpPr/>
          <p:nvPr/>
        </p:nvSpPr>
        <p:spPr>
          <a:xfrm>
            <a:off x="13354050" y="2378348"/>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Strong · 20 of 20 seeds on each peak</a:t>
            </a:r>
            <a:endParaRPr lang="en-US" sz="1800" dirty="0"/>
          </a:p>
        </p:txBody>
      </p:sp>
      <p:sp>
        <p:nvSpPr>
          <p:cNvPr id="16" name="Shape 14"/>
          <p:cNvSpPr/>
          <p:nvPr/>
        </p:nvSpPr>
        <p:spPr>
          <a:xfrm>
            <a:off x="1047750" y="3759473"/>
            <a:ext cx="4857750" cy="9525"/>
          </a:xfrm>
          <a:prstGeom prst="rect">
            <a:avLst/>
          </a:prstGeom>
          <a:solidFill>
            <a:srgbClr val="E1DFD9"/>
          </a:solidFill>
          <a:ln/>
        </p:spPr>
        <p:txBody>
          <a:bodyPr/>
          <a:p/>
        </p:txBody>
      </p:sp>
      <p:sp>
        <p:nvSpPr>
          <p:cNvPr id="17" name="Text 15"/>
          <p:cNvSpPr/>
          <p:nvPr/>
        </p:nvSpPr>
        <p:spPr>
          <a:xfrm>
            <a:off x="1047750" y="3111773"/>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Quiet, interfloor traffic</a:t>
            </a:r>
            <a:endParaRPr lang="en-US" sz="1800" dirty="0"/>
          </a:p>
        </p:txBody>
      </p:sp>
      <p:sp>
        <p:nvSpPr>
          <p:cNvPr id="18" name="Shape 16"/>
          <p:cNvSpPr/>
          <p:nvPr/>
        </p:nvSpPr>
        <p:spPr>
          <a:xfrm>
            <a:off x="5905500" y="3759473"/>
            <a:ext cx="7448550" cy="9525"/>
          </a:xfrm>
          <a:prstGeom prst="rect">
            <a:avLst/>
          </a:prstGeom>
          <a:solidFill>
            <a:srgbClr val="E1DFD9"/>
          </a:solidFill>
          <a:ln/>
        </p:spPr>
        <p:txBody>
          <a:bodyPr/>
          <a:p/>
        </p:txBody>
      </p:sp>
      <p:sp>
        <p:nvSpPr>
          <p:cNvPr id="19" name="Text 17"/>
          <p:cNvSpPr/>
          <p:nvPr/>
        </p:nvSpPr>
        <p:spPr>
          <a:xfrm>
            <a:off x="6134100" y="3111773"/>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2F6FD0"/>
                </a:solidFill>
                <a:latin typeface="Arial" pitchFamily="34" charset="0"/>
                <a:ea typeface="Arial" pitchFamily="34" charset="-122"/>
                <a:cs typeface="Arial" pitchFamily="34" charset="-120"/>
              </a:rPr>
              <a:t>Smart dispatch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 but by 1.2× — a nearest-car controller is within 15% here.</a:t>
            </a:r>
            <a:endParaRPr lang="en-US" sz="1800" dirty="0"/>
          </a:p>
        </p:txBody>
      </p:sp>
      <p:sp>
        <p:nvSpPr>
          <p:cNvPr id="20" name="Shape 18"/>
          <p:cNvSpPr/>
          <p:nvPr/>
        </p:nvSpPr>
        <p:spPr>
          <a:xfrm>
            <a:off x="13354050" y="3759473"/>
            <a:ext cx="3886200" cy="9525"/>
          </a:xfrm>
          <a:prstGeom prst="rect">
            <a:avLst/>
          </a:prstGeom>
          <a:solidFill>
            <a:srgbClr val="E1DFD9"/>
          </a:solidFill>
          <a:ln/>
        </p:spPr>
        <p:txBody>
          <a:bodyPr/>
          <a:p/>
        </p:txBody>
      </p:sp>
      <p:sp>
        <p:nvSpPr>
          <p:cNvPr id="21" name="Text 19"/>
          <p:cNvSpPr/>
          <p:nvPr/>
        </p:nvSpPr>
        <p:spPr>
          <a:xfrm>
            <a:off x="13354050" y="3111773"/>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19 of 20 seeds</a:t>
            </a:r>
            <a:endParaRPr lang="en-US" sz="1800" dirty="0"/>
          </a:p>
        </p:txBody>
      </p:sp>
      <p:sp>
        <p:nvSpPr>
          <p:cNvPr id="22" name="Shape 20"/>
          <p:cNvSpPr/>
          <p:nvPr/>
        </p:nvSpPr>
        <p:spPr>
          <a:xfrm>
            <a:off x="1047750" y="4492898"/>
            <a:ext cx="4857750" cy="9525"/>
          </a:xfrm>
          <a:prstGeom prst="rect">
            <a:avLst/>
          </a:prstGeom>
          <a:solidFill>
            <a:srgbClr val="E1DFD9"/>
          </a:solidFill>
          <a:ln/>
        </p:spPr>
        <p:txBody>
          <a:bodyPr/>
          <a:p/>
        </p:txBody>
      </p:sp>
      <p:sp>
        <p:nvSpPr>
          <p:cNvPr id="23" name="Text 21"/>
          <p:cNvSpPr/>
          <p:nvPr/>
        </p:nvSpPr>
        <p:spPr>
          <a:xfrm>
            <a:off x="1047750" y="3845198"/>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Tall building </a:t>
            </a:r>
            <a:pPr algn="l" indent="0" marL="0">
              <a:lnSpc>
                <a:spcPct val="109091"/>
              </a:lnSpc>
              <a:buNone/>
            </a:pPr>
            <a:r>
              <a:rPr lang="en-US" sz="1800" dirty="0">
                <a:solidFill>
                  <a:srgbClr val="7A786F"/>
                </a:solidFill>
                <a:latin typeface="Arial" pitchFamily="34" charset="0"/>
                <a:ea typeface="Arial" pitchFamily="34" charset="-122"/>
                <a:cs typeface="Arial" pitchFamily="34" charset="-120"/>
              </a:rPr>
              <a:t>· ~50 floors</a:t>
            </a:r>
            <a:endParaRPr lang="en-US" sz="1800" dirty="0"/>
          </a:p>
        </p:txBody>
      </p:sp>
      <p:sp>
        <p:nvSpPr>
          <p:cNvPr id="24" name="Shape 22"/>
          <p:cNvSpPr/>
          <p:nvPr/>
        </p:nvSpPr>
        <p:spPr>
          <a:xfrm>
            <a:off x="5905500" y="4492898"/>
            <a:ext cx="7448550" cy="9525"/>
          </a:xfrm>
          <a:prstGeom prst="rect">
            <a:avLst/>
          </a:prstGeom>
          <a:solidFill>
            <a:srgbClr val="E1DFD9"/>
          </a:solidFill>
          <a:ln/>
        </p:spPr>
        <p:txBody>
          <a:bodyPr/>
          <a:p/>
        </p:txBody>
      </p:sp>
      <p:sp>
        <p:nvSpPr>
          <p:cNvPr id="25" name="Text 23"/>
          <p:cNvSpPr/>
          <p:nvPr/>
        </p:nvSpPr>
        <p:spPr>
          <a:xfrm>
            <a:off x="6134100" y="3845198"/>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2F6FD0"/>
                </a:solidFill>
                <a:latin typeface="Arial" pitchFamily="34" charset="0"/>
                <a:ea typeface="Arial" pitchFamily="34" charset="-122"/>
                <a:cs typeface="Arial" pitchFamily="34" charset="-120"/>
              </a:rPr>
              <a:t>Smart dispatch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 2.6× across seeds (3.7× committed draw); nearest car’s maximum 250 ± 85 against 65 ± 13.</a:t>
            </a:r>
            <a:endParaRPr lang="en-US" sz="1800" dirty="0"/>
          </a:p>
        </p:txBody>
      </p:sp>
      <p:sp>
        <p:nvSpPr>
          <p:cNvPr id="26" name="Shape 24"/>
          <p:cNvSpPr/>
          <p:nvPr/>
        </p:nvSpPr>
        <p:spPr>
          <a:xfrm>
            <a:off x="13354050" y="4492898"/>
            <a:ext cx="3886200" cy="9525"/>
          </a:xfrm>
          <a:prstGeom prst="rect">
            <a:avLst/>
          </a:prstGeom>
          <a:solidFill>
            <a:srgbClr val="E1DFD9"/>
          </a:solidFill>
          <a:ln/>
        </p:spPr>
        <p:txBody>
          <a:bodyPr/>
          <a:p/>
        </p:txBody>
      </p:sp>
      <p:sp>
        <p:nvSpPr>
          <p:cNvPr id="27" name="Text 25"/>
          <p:cNvSpPr/>
          <p:nvPr/>
        </p:nvSpPr>
        <p:spPr>
          <a:xfrm>
            <a:off x="13354050" y="3845198"/>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Strong · 20 of 20 seeds</a:t>
            </a:r>
            <a:endParaRPr lang="en-US" sz="1800" dirty="0"/>
          </a:p>
        </p:txBody>
      </p:sp>
      <p:sp>
        <p:nvSpPr>
          <p:cNvPr id="28" name="Shape 26"/>
          <p:cNvSpPr/>
          <p:nvPr/>
        </p:nvSpPr>
        <p:spPr>
          <a:xfrm>
            <a:off x="1047750" y="5512073"/>
            <a:ext cx="4857750" cy="9525"/>
          </a:xfrm>
          <a:prstGeom prst="rect">
            <a:avLst/>
          </a:prstGeom>
          <a:solidFill>
            <a:srgbClr val="E1DFD9"/>
          </a:solidFill>
          <a:ln/>
        </p:spPr>
        <p:txBody>
          <a:bodyPr/>
          <a:p/>
        </p:txBody>
      </p:sp>
      <p:sp>
        <p:nvSpPr>
          <p:cNvPr id="29" name="Text 27"/>
          <p:cNvSpPr/>
          <p:nvPr/>
        </p:nvSpPr>
        <p:spPr>
          <a:xfrm>
            <a:off x="1047750" y="4578623"/>
            <a:ext cx="5003483" cy="89535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Where the tail matters </a:t>
            </a:r>
            <a:pPr algn="l" indent="0" marL="0">
              <a:lnSpc>
                <a:spcPct val="109091"/>
              </a:lnSpc>
              <a:buNone/>
            </a:pPr>
            <a:r>
              <a:rPr lang="en-US" sz="1800" dirty="0">
                <a:solidFill>
                  <a:srgbClr val="7A786F"/>
                </a:solidFill>
                <a:latin typeface="Arial" pitchFamily="34" charset="0"/>
                <a:ea typeface="Arial" pitchFamily="34" charset="-122"/>
                <a:cs typeface="Arial" pitchFamily="34" charset="-120"/>
              </a:rPr>
              <a:t>· hospitals, hotels</a:t>
            </a:r>
            <a:endParaRPr lang="en-US" sz="1800" dirty="0"/>
          </a:p>
        </p:txBody>
      </p:sp>
      <p:sp>
        <p:nvSpPr>
          <p:cNvPr id="30" name="Shape 28"/>
          <p:cNvSpPr/>
          <p:nvPr/>
        </p:nvSpPr>
        <p:spPr>
          <a:xfrm>
            <a:off x="5905500" y="5512073"/>
            <a:ext cx="7448550" cy="9525"/>
          </a:xfrm>
          <a:prstGeom prst="rect">
            <a:avLst/>
          </a:prstGeom>
          <a:solidFill>
            <a:srgbClr val="E1DFD9"/>
          </a:solidFill>
          <a:ln/>
        </p:spPr>
        <p:txBody>
          <a:bodyPr/>
          <a:p/>
        </p:txBody>
      </p:sp>
      <p:sp>
        <p:nvSpPr>
          <p:cNvPr id="31" name="Text 29"/>
          <p:cNvSpPr/>
          <p:nvPr/>
        </p:nvSpPr>
        <p:spPr>
          <a:xfrm>
            <a:off x="6134100" y="4578623"/>
            <a:ext cx="7214807" cy="89535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The </a:t>
            </a:r>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fairness weight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works reliably only under saturation: burst max lower in 14 of 20. The tower’s 108 → 56 was one draw — max lower in 4 of 20, average up in 18.</a:t>
            </a:r>
            <a:endParaRPr lang="en-US" sz="1800" dirty="0"/>
          </a:p>
        </p:txBody>
      </p:sp>
      <p:sp>
        <p:nvSpPr>
          <p:cNvPr id="32" name="Shape 30"/>
          <p:cNvSpPr/>
          <p:nvPr/>
        </p:nvSpPr>
        <p:spPr>
          <a:xfrm>
            <a:off x="13354050" y="5512073"/>
            <a:ext cx="3886200" cy="9525"/>
          </a:xfrm>
          <a:prstGeom prst="rect">
            <a:avLst/>
          </a:prstGeom>
          <a:solidFill>
            <a:srgbClr val="E1DFD9"/>
          </a:solidFill>
          <a:ln/>
        </p:spPr>
        <p:txBody>
          <a:bodyPr/>
          <a:p/>
        </p:txBody>
      </p:sp>
      <p:sp>
        <p:nvSpPr>
          <p:cNvPr id="33" name="Text 31"/>
          <p:cNvSpPr/>
          <p:nvPr/>
        </p:nvSpPr>
        <p:spPr>
          <a:xfrm>
            <a:off x="13354050" y="4578623"/>
            <a:ext cx="4002786" cy="89535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Robust on the burst · not reproduced on the tower</a:t>
            </a:r>
            <a:endParaRPr lang="en-US" sz="1800" dirty="0"/>
          </a:p>
        </p:txBody>
      </p:sp>
      <p:sp>
        <p:nvSpPr>
          <p:cNvPr id="34" name="Shape 32"/>
          <p:cNvSpPr/>
          <p:nvPr/>
        </p:nvSpPr>
        <p:spPr>
          <a:xfrm>
            <a:off x="1047750" y="6245498"/>
            <a:ext cx="4857750" cy="9525"/>
          </a:xfrm>
          <a:prstGeom prst="rect">
            <a:avLst/>
          </a:prstGeom>
          <a:solidFill>
            <a:srgbClr val="E1DFD9"/>
          </a:solidFill>
          <a:ln/>
        </p:spPr>
        <p:txBody>
          <a:bodyPr/>
          <a:p/>
        </p:txBody>
      </p:sp>
      <p:sp>
        <p:nvSpPr>
          <p:cNvPr id="35" name="Text 33"/>
          <p:cNvSpPr/>
          <p:nvPr/>
        </p:nvSpPr>
        <p:spPr>
          <a:xfrm>
            <a:off x="1047750" y="5597798"/>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Morning up-peak, known lobby</a:t>
            </a:r>
            <a:endParaRPr lang="en-US" sz="1800" dirty="0"/>
          </a:p>
        </p:txBody>
      </p:sp>
      <p:sp>
        <p:nvSpPr>
          <p:cNvPr id="36" name="Shape 34"/>
          <p:cNvSpPr/>
          <p:nvPr/>
        </p:nvSpPr>
        <p:spPr>
          <a:xfrm>
            <a:off x="5905500" y="6245498"/>
            <a:ext cx="7448550" cy="9525"/>
          </a:xfrm>
          <a:prstGeom prst="rect">
            <a:avLst/>
          </a:prstGeom>
          <a:solidFill>
            <a:srgbClr val="E1DFD9"/>
          </a:solidFill>
          <a:ln/>
        </p:spPr>
        <p:txBody>
          <a:bodyPr/>
          <a:p/>
        </p:txBody>
      </p:sp>
      <p:sp>
        <p:nvSpPr>
          <p:cNvPr id="37" name="Text 35"/>
          <p:cNvSpPr/>
          <p:nvPr/>
        </p:nvSpPr>
        <p:spPr>
          <a:xfrm>
            <a:off x="6134100" y="5597798"/>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Park idle cars at the lobby.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7.1 → 4.3 average on the committed draw; −38.6 ± 11.6% across seeds. Should follow time of day.</a:t>
            </a:r>
            <a:endParaRPr lang="en-US" sz="1800" dirty="0"/>
          </a:p>
        </p:txBody>
      </p:sp>
      <p:sp>
        <p:nvSpPr>
          <p:cNvPr id="38" name="Shape 36"/>
          <p:cNvSpPr/>
          <p:nvPr/>
        </p:nvSpPr>
        <p:spPr>
          <a:xfrm>
            <a:off x="13354050" y="6245498"/>
            <a:ext cx="3886200" cy="9525"/>
          </a:xfrm>
          <a:prstGeom prst="rect">
            <a:avLst/>
          </a:prstGeom>
          <a:solidFill>
            <a:srgbClr val="E1DFD9"/>
          </a:solidFill>
          <a:ln/>
        </p:spPr>
        <p:txBody>
          <a:bodyPr/>
          <a:p/>
        </p:txBody>
      </p:sp>
      <p:sp>
        <p:nvSpPr>
          <p:cNvPr id="39" name="Text 37"/>
          <p:cNvSpPr/>
          <p:nvPr/>
        </p:nvSpPr>
        <p:spPr>
          <a:xfrm>
            <a:off x="13354050" y="5597798"/>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20 of 20 seeds</a:t>
            </a:r>
            <a:endParaRPr lang="en-US" sz="1800" dirty="0"/>
          </a:p>
        </p:txBody>
      </p:sp>
      <p:sp>
        <p:nvSpPr>
          <p:cNvPr id="40" name="Shape 38"/>
          <p:cNvSpPr/>
          <p:nvPr/>
        </p:nvSpPr>
        <p:spPr>
          <a:xfrm>
            <a:off x="1047750" y="6978923"/>
            <a:ext cx="4857750" cy="9525"/>
          </a:xfrm>
          <a:prstGeom prst="rect">
            <a:avLst/>
          </a:prstGeom>
          <a:solidFill>
            <a:srgbClr val="E1DFD9"/>
          </a:solidFill>
          <a:ln/>
        </p:spPr>
        <p:txBody>
          <a:bodyPr/>
          <a:p/>
        </p:txBody>
      </p:sp>
      <p:sp>
        <p:nvSpPr>
          <p:cNvPr id="41" name="Text 39"/>
          <p:cNvSpPr/>
          <p:nvPr/>
        </p:nvSpPr>
        <p:spPr>
          <a:xfrm>
            <a:off x="1047750" y="6331223"/>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Even wear across cars </a:t>
            </a:r>
            <a:pPr algn="l" indent="0" marL="0">
              <a:lnSpc>
                <a:spcPct val="109091"/>
              </a:lnSpc>
              <a:buNone/>
            </a:pPr>
            <a:r>
              <a:rPr lang="en-US" sz="1800" dirty="0">
                <a:solidFill>
                  <a:srgbClr val="7A786F"/>
                </a:solidFill>
                <a:latin typeface="Arial" pitchFamily="34" charset="0"/>
                <a:ea typeface="Arial" pitchFamily="34" charset="-122"/>
                <a:cs typeface="Arial" pitchFamily="34" charset="-120"/>
              </a:rPr>
              <a:t>· per-car maintenance</a:t>
            </a:r>
            <a:endParaRPr lang="en-US" sz="1800" dirty="0"/>
          </a:p>
        </p:txBody>
      </p:sp>
      <p:sp>
        <p:nvSpPr>
          <p:cNvPr id="42" name="Shape 40"/>
          <p:cNvSpPr/>
          <p:nvPr/>
        </p:nvSpPr>
        <p:spPr>
          <a:xfrm>
            <a:off x="5905500" y="6978923"/>
            <a:ext cx="7448550" cy="9525"/>
          </a:xfrm>
          <a:prstGeom prst="rect">
            <a:avLst/>
          </a:prstGeom>
          <a:solidFill>
            <a:srgbClr val="E1DFD9"/>
          </a:solidFill>
          <a:ln/>
        </p:spPr>
        <p:txBody>
          <a:bodyPr/>
          <a:p/>
        </p:txBody>
      </p:sp>
      <p:sp>
        <p:nvSpPr>
          <p:cNvPr id="43" name="Text 41"/>
          <p:cNvSpPr/>
          <p:nvPr/>
        </p:nvSpPr>
        <p:spPr>
          <a:xfrm>
            <a:off x="6134100" y="6331223"/>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Add the </a:t>
            </a:r>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fairness weight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 it narrows the spread between cars. Do not switch to take-turns: it evens cars by working all of them more.</a:t>
            </a:r>
            <a:endParaRPr lang="en-US" sz="1800" dirty="0"/>
          </a:p>
        </p:txBody>
      </p:sp>
      <p:sp>
        <p:nvSpPr>
          <p:cNvPr id="44" name="Shape 42"/>
          <p:cNvSpPr/>
          <p:nvPr/>
        </p:nvSpPr>
        <p:spPr>
          <a:xfrm>
            <a:off x="13354050" y="6978923"/>
            <a:ext cx="3886200" cy="9525"/>
          </a:xfrm>
          <a:prstGeom prst="rect">
            <a:avLst/>
          </a:prstGeom>
          <a:solidFill>
            <a:srgbClr val="E1DFD9"/>
          </a:solidFill>
          <a:ln/>
        </p:spPr>
        <p:txBody>
          <a:bodyPr/>
          <a:p/>
        </p:txBody>
      </p:sp>
      <p:sp>
        <p:nvSpPr>
          <p:cNvPr id="45" name="Text 43"/>
          <p:cNvSpPr/>
          <p:nvPr/>
        </p:nvSpPr>
        <p:spPr>
          <a:xfrm>
            <a:off x="13354050" y="6331223"/>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Majority of seeds · 11–15 of 20 · wear not modelled</a:t>
            </a:r>
            <a:endParaRPr lang="en-US" sz="1800" dirty="0"/>
          </a:p>
        </p:txBody>
      </p:sp>
      <p:sp>
        <p:nvSpPr>
          <p:cNvPr id="46" name="Shape 44"/>
          <p:cNvSpPr/>
          <p:nvPr/>
        </p:nvSpPr>
        <p:spPr>
          <a:xfrm>
            <a:off x="1047750" y="7712348"/>
            <a:ext cx="4857750" cy="9525"/>
          </a:xfrm>
          <a:prstGeom prst="rect">
            <a:avLst/>
          </a:prstGeom>
          <a:solidFill>
            <a:srgbClr val="E1DFD9"/>
          </a:solidFill>
          <a:ln/>
        </p:spPr>
        <p:txBody>
          <a:bodyPr/>
          <a:p/>
        </p:txBody>
      </p:sp>
      <p:sp>
        <p:nvSpPr>
          <p:cNvPr id="47" name="Text 45"/>
          <p:cNvSpPr/>
          <p:nvPr/>
        </p:nvSpPr>
        <p:spPr>
          <a:xfrm>
            <a:off x="1047750" y="7064648"/>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Saturation </a:t>
            </a:r>
            <a:pPr algn="l" indent="0" marL="0">
              <a:lnSpc>
                <a:spcPct val="109091"/>
              </a:lnSpc>
              <a:buNone/>
            </a:pPr>
            <a:r>
              <a:rPr lang="en-US" sz="1800" dirty="0">
                <a:solidFill>
                  <a:srgbClr val="7A786F"/>
                </a:solidFill>
                <a:latin typeface="Arial" pitchFamily="34" charset="0"/>
                <a:ea typeface="Arial" pitchFamily="34" charset="-122"/>
                <a:cs typeface="Arial" pitchFamily="34" charset="-120"/>
              </a:rPr>
              <a:t>· more people than cars can move</a:t>
            </a:r>
            <a:endParaRPr lang="en-US" sz="1800" dirty="0"/>
          </a:p>
        </p:txBody>
      </p:sp>
      <p:sp>
        <p:nvSpPr>
          <p:cNvPr id="48" name="Shape 46"/>
          <p:cNvSpPr/>
          <p:nvPr/>
        </p:nvSpPr>
        <p:spPr>
          <a:xfrm>
            <a:off x="5905500" y="7712348"/>
            <a:ext cx="7448550" cy="9525"/>
          </a:xfrm>
          <a:prstGeom prst="rect">
            <a:avLst/>
          </a:prstGeom>
          <a:solidFill>
            <a:srgbClr val="E1DFD9"/>
          </a:solidFill>
          <a:ln/>
        </p:spPr>
        <p:txBody>
          <a:bodyPr/>
          <a:p/>
        </p:txBody>
      </p:sp>
      <p:sp>
        <p:nvSpPr>
          <p:cNvPr id="49" name="Text 47"/>
          <p:cNvSpPr/>
          <p:nvPr/>
        </p:nvSpPr>
        <p:spPr>
          <a:xfrm>
            <a:off x="6134100" y="7064648"/>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No rule fixes a capacity problem — the three rules are within noise. The levers are cars and capacity.</a:t>
            </a:r>
            <a:endParaRPr lang="en-US" sz="1800" dirty="0"/>
          </a:p>
        </p:txBody>
      </p:sp>
      <p:sp>
        <p:nvSpPr>
          <p:cNvPr id="50" name="Shape 48"/>
          <p:cNvSpPr/>
          <p:nvPr/>
        </p:nvSpPr>
        <p:spPr>
          <a:xfrm>
            <a:off x="13354050" y="7712348"/>
            <a:ext cx="3886200" cy="9525"/>
          </a:xfrm>
          <a:prstGeom prst="rect">
            <a:avLst/>
          </a:prstGeom>
          <a:solidFill>
            <a:srgbClr val="E1DFD9"/>
          </a:solidFill>
          <a:ln/>
        </p:spPr>
        <p:txBody>
          <a:bodyPr/>
          <a:p/>
        </p:txBody>
      </p:sp>
      <p:sp>
        <p:nvSpPr>
          <p:cNvPr id="51" name="Text 49"/>
          <p:cNvSpPr/>
          <p:nvPr/>
        </p:nvSpPr>
        <p:spPr>
          <a:xfrm>
            <a:off x="13354050" y="7064648"/>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20 seeds · same answer: the rule does not matter</a:t>
            </a:r>
            <a:endParaRPr lang="en-US" sz="1800" dirty="0"/>
          </a:p>
        </p:txBody>
      </p:sp>
      <p:sp>
        <p:nvSpPr>
          <p:cNvPr id="52" name="Shape 50"/>
          <p:cNvSpPr/>
          <p:nvPr/>
        </p:nvSpPr>
        <p:spPr>
          <a:xfrm>
            <a:off x="1047750" y="8445773"/>
            <a:ext cx="4857750" cy="9525"/>
          </a:xfrm>
          <a:prstGeom prst="rect">
            <a:avLst/>
          </a:prstGeom>
          <a:solidFill>
            <a:srgbClr val="E1DFD9"/>
          </a:solidFill>
          <a:ln/>
        </p:spPr>
        <p:txBody>
          <a:bodyPr/>
          <a:p/>
        </p:txBody>
      </p:sp>
      <p:sp>
        <p:nvSpPr>
          <p:cNvPr id="53" name="Text 51"/>
          <p:cNvSpPr/>
          <p:nvPr/>
        </p:nvSpPr>
        <p:spPr>
          <a:xfrm>
            <a:off x="1047750" y="7798073"/>
            <a:ext cx="5003483"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Zoning and express cars</a:t>
            </a:r>
            <a:endParaRPr lang="en-US" sz="1800" dirty="0"/>
          </a:p>
        </p:txBody>
      </p:sp>
      <p:sp>
        <p:nvSpPr>
          <p:cNvPr id="54" name="Shape 52"/>
          <p:cNvSpPr/>
          <p:nvPr/>
        </p:nvSpPr>
        <p:spPr>
          <a:xfrm>
            <a:off x="5905500" y="8445773"/>
            <a:ext cx="7448550" cy="9525"/>
          </a:xfrm>
          <a:prstGeom prst="rect">
            <a:avLst/>
          </a:prstGeom>
          <a:solidFill>
            <a:srgbClr val="E1DFD9"/>
          </a:solidFill>
          <a:ln/>
        </p:spPr>
        <p:txBody>
          <a:bodyPr/>
          <a:p/>
        </p:txBody>
      </p:sp>
      <p:sp>
        <p:nvSpPr>
          <p:cNvPr id="55" name="Text 53"/>
          <p:cNvSpPr/>
          <p:nvPr/>
        </p:nvSpPr>
        <p:spPr>
          <a:xfrm>
            <a:off x="6134100" y="7798073"/>
            <a:ext cx="7214807"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A </a:t>
            </a:r>
            <a:pPr algn="l" indent="0" marL="0">
              <a:lnSpc>
                <a:spcPct val="109091"/>
              </a:lnSpc>
              <a:buNone/>
            </a:pPr>
            <a:r>
              <a:rPr lang="en-US" sz="1800" b="1" dirty="0">
                <a:solidFill>
                  <a:srgbClr val="1C1B19"/>
                </a:solidFill>
                <a:latin typeface="Arial" pitchFamily="34" charset="0"/>
                <a:ea typeface="Arial" pitchFamily="34" charset="-122"/>
                <a:cs typeface="Arial" pitchFamily="34" charset="-120"/>
              </a:rPr>
              <a:t>null result </a:t>
            </a:r>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at moderate load: 24.4 vs 24.8 across seeds, worse in 11 of 20. The committed 21.4 → 25.8 was one draw.</a:t>
            </a:r>
            <a:endParaRPr lang="en-US" sz="1800" dirty="0"/>
          </a:p>
        </p:txBody>
      </p:sp>
      <p:sp>
        <p:nvSpPr>
          <p:cNvPr id="56" name="Shape 54"/>
          <p:cNvSpPr/>
          <p:nvPr/>
        </p:nvSpPr>
        <p:spPr>
          <a:xfrm>
            <a:off x="13354050" y="8445773"/>
            <a:ext cx="3886200" cy="9525"/>
          </a:xfrm>
          <a:prstGeom prst="rect">
            <a:avLst/>
          </a:prstGeom>
          <a:solidFill>
            <a:srgbClr val="E1DFD9"/>
          </a:solidFill>
          <a:ln/>
        </p:spPr>
        <p:txBody>
          <a:bodyPr/>
          <a:p/>
        </p:txBody>
      </p:sp>
      <p:sp>
        <p:nvSpPr>
          <p:cNvPr id="57" name="Text 55"/>
          <p:cNvSpPr/>
          <p:nvPr/>
        </p:nvSpPr>
        <p:spPr>
          <a:xfrm>
            <a:off x="13354050" y="7798073"/>
            <a:ext cx="4002786" cy="609600"/>
          </a:xfrm>
          <a:prstGeom prst="rect">
            <a:avLst/>
          </a:prstGeom>
          <a:noFill/>
          <a:ln/>
        </p:spPr>
        <p:txBody>
          <a:bodyPr wrap="square" lIns="25400" tIns="25400" rIns="25400" bIns="25400" rtlCol="0" anchor="ctr">
            <a:normAutofit/>
          </a:bodyPr>
          <a:lstStyle/>
          <a:p>
            <a:pPr algn="l" indent="0" marL="0">
              <a:lnSpc>
                <a:spcPct val="109091"/>
              </a:lnSpc>
              <a:buNone/>
            </a:pPr>
            <a:r>
              <a:rPr lang="en-US" sz="1800" dirty="0">
                <a:solidFill>
                  <a:srgbClr val="4C4A44"/>
                </a:solidFill>
                <a:latin typeface="Arial" pitchFamily="34" charset="0"/>
                <a:ea typeface="Arial" pitchFamily="34" charset="-122"/>
                <a:cs typeface="Arial" pitchFamily="34" charset="-120"/>
              </a:rPr>
              <a:t>Null result, 20 seeds · positive case untested</a:t>
            </a:r>
            <a:endParaRPr lang="en-US" sz="1800" dirty="0"/>
          </a:p>
        </p:txBody>
      </p:sp>
      <p:sp>
        <p:nvSpPr>
          <p:cNvPr id="58" name="Text 56"/>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59" name="Text 57"/>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13 / 16</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Limits of the model</a:t>
            </a:r>
            <a:endParaRPr lang="en-US" sz="5400" dirty="0"/>
          </a:p>
        </p:txBody>
      </p:sp>
      <p:sp>
        <p:nvSpPr>
          <p:cNvPr id="3" name="Text 1"/>
          <p:cNvSpPr/>
          <p:nvPr/>
        </p:nvSpPr>
        <p:spPr>
          <a:xfrm>
            <a:off x="1047750" y="2202135"/>
            <a:ext cx="8382000"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NOT MODELLED</a:t>
            </a:r>
            <a:endParaRPr lang="en-US" sz="1800" dirty="0"/>
          </a:p>
        </p:txBody>
      </p:sp>
      <p:sp>
        <p:nvSpPr>
          <p:cNvPr id="4" name="Text 2"/>
          <p:cNvSpPr/>
          <p:nvPr/>
        </p:nvSpPr>
        <p:spPr>
          <a:xfrm>
            <a:off x="834390" y="2697435"/>
            <a:ext cx="7909560" cy="3192512"/>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Door and acceleration physics — a stop is one tick, whoever boards</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Reassignment after dispatch, as hybrid systems allow</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Sky-lobby transfers across zones</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Passenger no-shows and group entries</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Energy</a:t>
            </a:r>
            <a:endParaRPr lang="en-US" sz="2400" dirty="0"/>
          </a:p>
        </p:txBody>
      </p:sp>
      <p:sp>
        <p:nvSpPr>
          <p:cNvPr id="5" name="Text 3"/>
          <p:cNvSpPr/>
          <p:nvPr/>
        </p:nvSpPr>
        <p:spPr>
          <a:xfrm>
            <a:off x="9620250" y="2202135"/>
            <a:ext cx="8382000"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WHAT WOULD SHARPEN THE CONCLUSIONS</a:t>
            </a:r>
            <a:endParaRPr lang="en-US" sz="1800" dirty="0"/>
          </a:p>
        </p:txBody>
      </p:sp>
      <p:sp>
        <p:nvSpPr>
          <p:cNvPr id="6" name="Text 4"/>
          <p:cNvSpPr/>
          <p:nvPr/>
        </p:nvSpPr>
        <p:spPr>
          <a:xfrm>
            <a:off x="9406890" y="2697435"/>
            <a:ext cx="7909560" cy="3192512"/>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A sweep of arrival rate — where each rule breaks down</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A sweep of car count — the price of capacity</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Fairness weight swept on more than two scenarios</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The saturated counterpart to the zoning experiment</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Batch re-optimisation in place of greedy per-request choice</a:t>
            </a:r>
            <a:endParaRPr lang="en-US" sz="2400" dirty="0"/>
          </a:p>
        </p:txBody>
      </p:sp>
      <p:sp>
        <p:nvSpPr>
          <p:cNvPr id="7" name="Shape 5"/>
          <p:cNvSpPr/>
          <p:nvPr/>
        </p:nvSpPr>
        <p:spPr>
          <a:xfrm>
            <a:off x="1047750" y="6461447"/>
            <a:ext cx="14859000" cy="9525"/>
          </a:xfrm>
          <a:prstGeom prst="rect">
            <a:avLst/>
          </a:prstGeom>
          <a:solidFill>
            <a:srgbClr val="E1DFD9"/>
          </a:solidFill>
          <a:ln/>
        </p:spPr>
        <p:txBody>
          <a:bodyPr/>
          <a:p/>
        </p:txBody>
      </p:sp>
      <p:sp>
        <p:nvSpPr>
          <p:cNvPr id="8" name="Text 6"/>
          <p:cNvSpPr/>
          <p:nvPr/>
        </p:nvSpPr>
        <p:spPr>
          <a:xfrm>
            <a:off x="1047750" y="6775772"/>
            <a:ext cx="15304770" cy="891480"/>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C1B19"/>
                </a:solidFill>
                <a:latin typeface="Arial" pitchFamily="34" charset="0"/>
                <a:ea typeface="Arial" pitchFamily="34" charset="-122"/>
                <a:cs typeface="Arial" pitchFamily="34" charset="-120"/>
              </a:rPr>
              <a:t>The headline survived twenty fresh re-draws of every pattern. Measuring seed variance changed two secondary claims — the fairness weight on the tower, and zoning — which is what the remaining sweeps would do to the rest.</a:t>
            </a:r>
            <a:endParaRPr lang="en-US" sz="2400" dirty="0"/>
          </a:p>
        </p:txBody>
      </p:sp>
      <p:sp>
        <p:nvSpPr>
          <p:cNvPr id="9" name="Text 7"/>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10" name="Text 8"/>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14 / 16</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1047750" y="914400"/>
            <a:ext cx="17811750" cy="792435"/>
          </a:xfrm>
          <a:prstGeom prst="rect">
            <a:avLst/>
          </a:prstGeom>
          <a:noFill/>
          <a:ln/>
        </p:spPr>
        <p:txBody>
          <a:bodyPr wrap="square" lIns="25400" tIns="25400" rIns="25400" bIns="25400" rtlCol="0" anchor="t">
            <a:normAutofit/>
          </a:bodyPr>
          <a:lstStyle/>
          <a:p>
            <a:pPr algn="l" indent="0" marL="0">
              <a:lnSpc>
                <a:spcPct val="95422"/>
              </a:lnSpc>
              <a:buNone/>
            </a:pPr>
            <a:r>
              <a:rPr lang="en-US" sz="5400" b="1" spc="-108" kern="0" dirty="0">
                <a:solidFill>
                  <a:srgbClr val="1C1B19"/>
                </a:solidFill>
                <a:latin typeface="Arial" pitchFamily="34" charset="0"/>
                <a:ea typeface="Arial" pitchFamily="34" charset="-122"/>
                <a:cs typeface="Arial" pitchFamily="34" charset="-120"/>
              </a:rPr>
              <a:t>What I would do next</a:t>
            </a:r>
            <a:endParaRPr lang="en-US" sz="5400" dirty="0"/>
          </a:p>
        </p:txBody>
      </p:sp>
      <p:sp>
        <p:nvSpPr>
          <p:cNvPr id="3" name="Text 1"/>
          <p:cNvSpPr/>
          <p:nvPr/>
        </p:nvSpPr>
        <p:spPr>
          <a:xfrm>
            <a:off x="1047750" y="2202135"/>
            <a:ext cx="7797143"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BUILD, IN THIS ORDER</a:t>
            </a:r>
            <a:endParaRPr lang="en-US" sz="1800" dirty="0"/>
          </a:p>
        </p:txBody>
      </p:sp>
      <p:sp>
        <p:nvSpPr>
          <p:cNvPr id="4" name="Text 2"/>
          <p:cNvSpPr/>
          <p:nvPr/>
        </p:nvSpPr>
        <p:spPr>
          <a:xfrm>
            <a:off x="1047750" y="2697435"/>
            <a:ext cx="685800" cy="1272406"/>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1</a:t>
            </a:r>
            <a:endParaRPr lang="en-US" sz="2400" dirty="0"/>
          </a:p>
        </p:txBody>
      </p:sp>
      <p:sp>
        <p:nvSpPr>
          <p:cNvPr id="5" name="Text 3"/>
          <p:cNvSpPr/>
          <p:nvPr/>
        </p:nvSpPr>
        <p:spPr>
          <a:xfrm>
            <a:off x="1771650" y="2697435"/>
            <a:ext cx="6555344" cy="1272406"/>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Reassignment window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move a passenger until their car starts slowing, as hybrid systems do.</a:t>
            </a:r>
            <a:endParaRPr lang="en-US" sz="2400" dirty="0"/>
          </a:p>
        </p:txBody>
      </p:sp>
      <p:sp>
        <p:nvSpPr>
          <p:cNvPr id="6" name="Text 4"/>
          <p:cNvSpPr/>
          <p:nvPr/>
        </p:nvSpPr>
        <p:spPr>
          <a:xfrm>
            <a:off x="1047750" y="4179391"/>
            <a:ext cx="685800" cy="860971"/>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2</a:t>
            </a:r>
            <a:endParaRPr lang="en-US" sz="2400" dirty="0"/>
          </a:p>
        </p:txBody>
      </p:sp>
      <p:sp>
        <p:nvSpPr>
          <p:cNvPr id="7" name="Text 5"/>
          <p:cNvSpPr/>
          <p:nvPr/>
        </p:nvSpPr>
        <p:spPr>
          <a:xfrm>
            <a:off x="1771650" y="4179391"/>
            <a:ext cx="6555344"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Batch re-optimisation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revisit outstanding assignments every few ticks.</a:t>
            </a:r>
            <a:endParaRPr lang="en-US" sz="2400" dirty="0"/>
          </a:p>
        </p:txBody>
      </p:sp>
      <p:sp>
        <p:nvSpPr>
          <p:cNvPr id="8" name="Text 6"/>
          <p:cNvSpPr/>
          <p:nvPr/>
        </p:nvSpPr>
        <p:spPr>
          <a:xfrm>
            <a:off x="1047750" y="5249912"/>
            <a:ext cx="685800" cy="860971"/>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7A786F"/>
                </a:solidFill>
                <a:latin typeface="Courier New" pitchFamily="34" charset="0"/>
                <a:ea typeface="Courier New" pitchFamily="34" charset="-122"/>
                <a:cs typeface="Courier New" pitchFamily="34" charset="-120"/>
              </a:rPr>
              <a:t>3</a:t>
            </a:r>
            <a:endParaRPr lang="en-US" sz="2400" dirty="0"/>
          </a:p>
        </p:txBody>
      </p:sp>
      <p:sp>
        <p:nvSpPr>
          <p:cNvPr id="9" name="Text 7"/>
          <p:cNvSpPr/>
          <p:nvPr/>
        </p:nvSpPr>
        <p:spPr>
          <a:xfrm>
            <a:off x="1771650" y="5249912"/>
            <a:ext cx="6555344" cy="860971"/>
          </a:xfrm>
          <a:prstGeom prst="rect">
            <a:avLst/>
          </a:prstGeom>
          <a:noFill/>
          <a:ln/>
        </p:spPr>
        <p:txBody>
          <a:bodyPr wrap="square" lIns="25400" tIns="25400" rIns="25400" bIns="25400" rtlCol="0" anchor="t">
            <a:normAutofit/>
          </a:bodyPr>
          <a:lstStyle/>
          <a:p>
            <a:pPr algn="l" indent="0" marL="0">
              <a:lnSpc>
                <a:spcPct val="116757"/>
              </a:lnSpc>
              <a:buNone/>
            </a:pPr>
            <a:r>
              <a:rPr lang="en-US" sz="2400" b="1" dirty="0">
                <a:solidFill>
                  <a:srgbClr val="1C1B19"/>
                </a:solidFill>
                <a:latin typeface="Arial" pitchFamily="34" charset="0"/>
                <a:ea typeface="Arial" pitchFamily="34" charset="-122"/>
                <a:cs typeface="Arial" pitchFamily="34" charset="-120"/>
              </a:rPr>
              <a:t>Time-of-day policies </a:t>
            </a:r>
            <a:pPr algn="l" indent="0" marL="0">
              <a:lnSpc>
                <a:spcPct val="116757"/>
              </a:lnSpc>
              <a:buNone/>
            </a:pPr>
            <a:r>
              <a:rPr lang="en-US" sz="2400" dirty="0">
                <a:solidFill>
                  <a:srgbClr val="1C1B19"/>
                </a:solidFill>
                <a:latin typeface="Arial" pitchFamily="34" charset="0"/>
                <a:ea typeface="Arial" pitchFamily="34" charset="-122"/>
                <a:cs typeface="Arial" pitchFamily="34" charset="-120"/>
              </a:rPr>
              <a:t>— parking floor and fairness weight follow the traffic profile.</a:t>
            </a:r>
            <a:endParaRPr lang="en-US" sz="2400" dirty="0"/>
          </a:p>
        </p:txBody>
      </p:sp>
      <p:sp>
        <p:nvSpPr>
          <p:cNvPr id="10" name="Text 8"/>
          <p:cNvSpPr/>
          <p:nvPr/>
        </p:nvSpPr>
        <p:spPr>
          <a:xfrm>
            <a:off x="9088562" y="2202135"/>
            <a:ext cx="8966775"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7A786F"/>
                </a:solidFill>
                <a:latin typeface="Courier New" pitchFamily="34" charset="0"/>
                <a:ea typeface="Courier New" pitchFamily="34" charset="-122"/>
                <a:cs typeface="Courier New" pitchFamily="34" charset="-120"/>
              </a:rPr>
              <a:t>QUESTIONS FOR A REAL CUSTOMER FIRST</a:t>
            </a:r>
            <a:endParaRPr lang="en-US" sz="1800" dirty="0"/>
          </a:p>
        </p:txBody>
      </p:sp>
      <p:sp>
        <p:nvSpPr>
          <p:cNvPr id="11" name="Text 9"/>
          <p:cNvSpPr/>
          <p:nvPr/>
        </p:nvSpPr>
        <p:spPr>
          <a:xfrm>
            <a:off x="8875202" y="2697435"/>
            <a:ext cx="8441174" cy="3680147"/>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What does your traffic look like — arrival rate and mix, by hour?</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Which complaint are we fixing: the average wait, or the worst one?</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Is a zoned or sky-lobby bank on the table, or one free group?</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May the display change a passenger’s car after it is shown?</a:t>
            </a:r>
            <a:endParaRPr lang="en-US" sz="2400" dirty="0"/>
          </a:p>
          <a:p>
            <a:pPr algn="l" indent="0" marL="0">
              <a:lnSpc>
                <a:spcPct val="116757"/>
              </a:lnSpc>
              <a:buNone/>
            </a:pPr>
            <a:r>
              <a:rPr lang="en-US" sz="2400" dirty="0">
                <a:solidFill>
                  <a:srgbClr val="4C4A44"/>
                </a:solidFill>
                <a:latin typeface="Arial" pitchFamily="34" charset="0"/>
                <a:ea typeface="Arial" pitchFamily="34" charset="-122"/>
                <a:cs typeface="Arial" pitchFamily="34" charset="-120"/>
              </a:rPr>
              <a:t>Do people travel in groups, and how often do they not show up?</a:t>
            </a:r>
            <a:endParaRPr lang="en-US" sz="2400" dirty="0"/>
          </a:p>
        </p:txBody>
      </p:sp>
      <p:sp>
        <p:nvSpPr>
          <p:cNvPr id="12" name="Text 10"/>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Elevator dispatch, measured</a:t>
            </a:r>
            <a:endParaRPr lang="en-US" sz="1800" dirty="0"/>
          </a:p>
        </p:txBody>
      </p:sp>
      <p:sp>
        <p:nvSpPr>
          <p:cNvPr id="13" name="Text 11"/>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A786F"/>
                </a:solidFill>
                <a:latin typeface="Courier New" pitchFamily="34" charset="0"/>
                <a:ea typeface="Courier New" pitchFamily="34" charset="-122"/>
                <a:cs typeface="Courier New" pitchFamily="34" charset="-120"/>
              </a:rPr>
              <a:t>15 / 16</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B19"/>
        </a:solidFill>
      </p:bgPr>
    </p:bg>
    <p:spTree>
      <p:nvGrpSpPr>
        <p:cNvPr id="1" name=""/>
        <p:cNvGrpSpPr/>
        <p:nvPr/>
      </p:nvGrpSpPr>
      <p:grpSpPr>
        <a:xfrm>
          <a:off x="0" y="0"/>
          <a:ext cx="0" cy="0"/>
          <a:chOff x="0" y="0"/>
          <a:chExt cx="0" cy="0"/>
        </a:xfrm>
      </p:grpSpPr>
      <p:sp>
        <p:nvSpPr>
          <p:cNvPr id="2" name="Text 0"/>
          <p:cNvSpPr/>
          <p:nvPr/>
        </p:nvSpPr>
        <p:spPr>
          <a:xfrm>
            <a:off x="1047750" y="2753767"/>
            <a:ext cx="15304770" cy="2232571"/>
          </a:xfrm>
          <a:prstGeom prst="rect">
            <a:avLst/>
          </a:prstGeom>
          <a:noFill/>
          <a:ln/>
        </p:spPr>
        <p:txBody>
          <a:bodyPr wrap="square" lIns="25400" tIns="25400" rIns="25400" bIns="25400" rtlCol="0" anchor="t">
            <a:normAutofit/>
          </a:bodyPr>
          <a:lstStyle/>
          <a:p>
            <a:pPr algn="l" indent="0" marL="0">
              <a:lnSpc>
                <a:spcPct val="104490"/>
              </a:lnSpc>
              <a:buNone/>
            </a:pPr>
            <a:r>
              <a:rPr lang="en-US" sz="4800" b="1" spc="-96" kern="0" dirty="0">
                <a:solidFill>
                  <a:srgbClr val="F6F5F2"/>
                </a:solidFill>
                <a:latin typeface="Arial" pitchFamily="34" charset="0"/>
                <a:ea typeface="Arial" pitchFamily="34" charset="-122"/>
                <a:cs typeface="Arial" pitchFamily="34" charset="-120"/>
              </a:rPr>
              <a:t>A rule that accounts for queued stops and the delay it inflicts on others beats rules that do not — increasingly so as buildings get taller and busier.</a:t>
            </a:r>
            <a:endParaRPr lang="en-US" sz="4800" dirty="0"/>
          </a:p>
        </p:txBody>
      </p:sp>
      <p:sp>
        <p:nvSpPr>
          <p:cNvPr id="3" name="Shape 1"/>
          <p:cNvSpPr/>
          <p:nvPr/>
        </p:nvSpPr>
        <p:spPr>
          <a:xfrm>
            <a:off x="1047750" y="5786438"/>
            <a:ext cx="16192500" cy="9525"/>
          </a:xfrm>
          <a:prstGeom prst="rect">
            <a:avLst/>
          </a:prstGeom>
          <a:solidFill>
            <a:srgbClr val="34332F"/>
          </a:solidFill>
          <a:ln/>
        </p:spPr>
        <p:txBody>
          <a:bodyPr/>
          <a:p/>
        </p:txBody>
      </p:sp>
      <p:sp>
        <p:nvSpPr>
          <p:cNvPr id="4" name="Text 2"/>
          <p:cNvSpPr/>
          <p:nvPr/>
        </p:nvSpPr>
        <p:spPr>
          <a:xfrm>
            <a:off x="1047750" y="6176963"/>
            <a:ext cx="8486775"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9B998F"/>
                </a:solidFill>
                <a:latin typeface="Courier New" pitchFamily="34" charset="0"/>
                <a:ea typeface="Courier New" pitchFamily="34" charset="-122"/>
                <a:cs typeface="Courier New" pitchFamily="34" charset="-120"/>
              </a:rPr>
              <a:t>REPOSITORY</a:t>
            </a:r>
            <a:endParaRPr lang="en-US" sz="1800" dirty="0"/>
          </a:p>
        </p:txBody>
      </p:sp>
      <p:sp>
        <p:nvSpPr>
          <p:cNvPr id="5" name="Text 3"/>
          <p:cNvSpPr/>
          <p:nvPr/>
        </p:nvSpPr>
        <p:spPr>
          <a:xfrm>
            <a:off x="1047750" y="6557963"/>
            <a:ext cx="7946708" cy="78477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F6F5F2"/>
                </a:solidFill>
                <a:latin typeface="Courier New" pitchFamily="34" charset="0"/>
                <a:ea typeface="Courier New" pitchFamily="34" charset="-122"/>
                <a:cs typeface="Courier New" pitchFamily="34" charset="-120"/>
              </a:rPr>
              <a:t>github.com/samuelgregorovic/elevator-dispatch-sim</a:t>
            </a:r>
            <a:endParaRPr lang="en-US" sz="2100" dirty="0"/>
          </a:p>
        </p:txBody>
      </p:sp>
      <p:sp>
        <p:nvSpPr>
          <p:cNvPr id="6" name="Text 4"/>
          <p:cNvSpPr/>
          <p:nvPr/>
        </p:nvSpPr>
        <p:spPr>
          <a:xfrm>
            <a:off x="9525000" y="6176963"/>
            <a:ext cx="8486775"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9B998F"/>
                </a:solidFill>
                <a:latin typeface="Courier New" pitchFamily="34" charset="0"/>
                <a:ea typeface="Courier New" pitchFamily="34" charset="-122"/>
                <a:cs typeface="Courier New" pitchFamily="34" charset="-120"/>
              </a:rPr>
              <a:t>LIVE SIMULATOR</a:t>
            </a:r>
            <a:endParaRPr lang="en-US" sz="1800" dirty="0"/>
          </a:p>
        </p:txBody>
      </p:sp>
      <p:sp>
        <p:nvSpPr>
          <p:cNvPr id="7" name="Text 5"/>
          <p:cNvSpPr/>
          <p:nvPr/>
        </p:nvSpPr>
        <p:spPr>
          <a:xfrm>
            <a:off x="9525000" y="6557963"/>
            <a:ext cx="7946708" cy="78477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F6F5F2"/>
                </a:solidFill>
                <a:latin typeface="Courier New" pitchFamily="34" charset="0"/>
                <a:ea typeface="Courier New" pitchFamily="34" charset="-122"/>
                <a:cs typeface="Courier New" pitchFamily="34" charset="-120"/>
              </a:rPr>
              <a:t>samuelgregorovic.github.io/elevator-dispatch-sim/docs/viewer/</a:t>
            </a:r>
            <a:endParaRPr lang="en-US" sz="2100" dirty="0"/>
          </a:p>
        </p:txBody>
      </p:sp>
      <p:sp>
        <p:nvSpPr>
          <p:cNvPr id="8" name="Text 6"/>
          <p:cNvSpPr/>
          <p:nvPr/>
        </p:nvSpPr>
        <p:spPr>
          <a:xfrm>
            <a:off x="1047750" y="9601200"/>
            <a:ext cx="408761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7756C"/>
                </a:solidFill>
                <a:latin typeface="Courier New" pitchFamily="34" charset="0"/>
                <a:ea typeface="Courier New" pitchFamily="34" charset="-122"/>
                <a:cs typeface="Courier New" pitchFamily="34" charset="-120"/>
              </a:rPr>
              <a:t>Elevator dispatch, measured</a:t>
            </a:r>
            <a:endParaRPr lang="en-US" sz="1800" dirty="0"/>
          </a:p>
        </p:txBody>
      </p:sp>
      <p:sp>
        <p:nvSpPr>
          <p:cNvPr id="9" name="Text 7"/>
          <p:cNvSpPr/>
          <p:nvPr/>
        </p:nvSpPr>
        <p:spPr>
          <a:xfrm>
            <a:off x="16276811" y="9601200"/>
            <a:ext cx="10396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7756C"/>
                </a:solidFill>
                <a:latin typeface="Courier New" pitchFamily="34" charset="0"/>
                <a:ea typeface="Courier New" pitchFamily="34" charset="-122"/>
                <a:cs typeface="Courier New" pitchFamily="34" charset="-120"/>
              </a:rPr>
              <a:t>16 / 16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2026-09-15T12:36:32Z</dcterms:created>
  <dcterms:modified xsi:type="dcterms:W3CDTF">2026-09-15T12:36:32Z</dcterms:modified>
</cp:coreProperties>
</file>