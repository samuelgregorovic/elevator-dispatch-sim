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is a walkthrough of the elevator-dispatch simulator: what the question was, what I built, what the measurements say, and how the work was done. Fifteen minutes, then questions; halfway through I will switch to the live simulator for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simple to state: a bank of cars, passengers who tell the system where they are going, a controller that must pick a car for each one — how much does the rule matter? The answer, measured on identical traffic, is a lot. Smart dispatch waits are 1.15 to 3.6 times shorter than nearest car and 2 to 3.3 times shorter than taking turns, on every realistic pattern, and the gap widens as buildings get taller and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destination-controlled building you type your floor before you board and a display says: car C. That assignment is final. Good means three things at once: short waits, short total journeys, and nobody left standing for a very long time. It is not obvious because the controller cannot see the future, and because the fastest average tends to bundle people onto a car already going their way — efficient in aggregate, occasionally cruel to the individual who keeps being passed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Requests come in as a CSV, are validated, and a feed releases each one to the controller exactly at its time — never earlier. The tick loop asks a scheduler which car; three rules answer behind one interface. The loop moves the cars and writes the positions log, a trace and statistics. Around that: a seeded scenario generator, a compare command, charts, a browser simulator that runs a JavaScript port of the same engine, and 131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engineers — I will skip this if we are short on time. Time is discrete: one tick is one floor of travel, and a stop costs one tick; without a stop cost, fewer stops would have no effect and all three rules would look the same. Inside a tick the order is fixed: release and assign, unload then load, log, advance. Three things are enforced by structure rather than promised: the feed cannot release a future request, assignment is immutable, and cars follow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one interface. Smart dispatch projects each candidate car’s route with and without the new passenger, using the simulation’s own movement code, and charges the passenger’s own time to destination plus the delay inflicted on everyone already assigned — the estimated-time-to-destination method Peters Research describes and commercial controllers use. Nearest car sends the closest car going the right way and ignores how many stops that car already has. Take turns uses no information at all — the floor for the comparison, and by accident the most even-handed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committed chart: average wait on the left, 90th percentile on the right, every scenario, all three rules on identical traffic. Blue is lowest on every realistic pattern, and the gap grows as the building gets taller and busier: small on quiet interfloor traffic, very large on the 51-floor tower. Sceptic’s question: one traffic level per pattern — is that enough? Honest answer: it fixes the direction, not the breakpoints; a sweep of arrival rate is the first thing missing, and it is on the limits slide. Every bar is reproducible byte for byte from the seeded generator.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average wait in ticks. Smart dispatch wins the four office patterns and the tower. Two cases go the other way and I would rather show them than hide them. Under the lobby burst — 76 people, one origin, two small cars — smart dispatch and take turns tie, because when the system is saturated the only lever left is spreading load evenly, which round robin does by construction. And on the brief’s own three-passenger sample nearest car wins: smart dispatch splits two lobby passengers across both cars to save a stop, so no car is idle when the third request comes. Sceptic’s question: why not tune the sample away? Because a greedy per-request rule can lose on tiny inputs, and the fix — batch re-optimisation — is a real change, first on the future-work list, not a parameter tweak.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Waiting time says how the passengers fared; this says how the cars were used. A car is busy when it has someone aboard or someone assigned and still waiting. Three points. Smart dispatch does the same job with the least car-time — 62% busy in the morning peak against 89% and 95% — because fewer stops per trip is less travel per passenger; take turns keeps its cars busiest everywhere, which is waste, not throughput. But smart dispatch shares the work least evenly: one car in four carries 36% of the morning passengers where a fair share is 25%. And the fairness weight evens the cars as a side effect — 30 to 18 points in the morning, 21 to 5 at lunch, 33 to 10 on the tall lobby — one knob, two benefits. Sceptic’s question: busy for a car that is travelling to a pickup — is that use or waste? It is work caused by the assignment, so it counts; that is the definition in A20, and a car driving to its parking floor is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simulator — the same engine, ported to JavaScript and verified identical to Python on all forty scenario-by-rule combinations. I will run the morning rush: 160 people, 4 cars, 20 floors, 8 per car. Watch the ranking at the top of each building change as people are delivered; watch nearest car pile passengers onto whichever car is closest to the lobby while take turns sends a far car; watch the usage strip under each building — one bar per car — to see smart dispatch leave cars idle while take turns keeps all of them busy; then I will tick park at lobby and click a floor to add a passenger — everyone I add goes to all three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from the demo: the practical output. Each row says what to do and how much data stands behind it. Ordinary offices: smart dispatch, four patterns agree. Tall buildings: this is where the rule matters most — nearest car costs 3.6 times on average wait and a maximum of 230 ticks against 108. Where the tail matters, add the fairness weight: on the tower it cut the maximum from 108 to 56 for about a quarter on the average. Up-peak with a known lobby: park idle cars there, 7.1 to 4.3. Where even wear across cars matters, add the fairness weight rather than switching to take turns. And do not zone to cut waits at moderate load — it made them worse. Sceptic’s question: ticks are not seconds, so what do the absolutes mean? Nothing directly: a tick is one floor of travel and one stop; trust the ratios and the direction, not the absolute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model does not do. No door or acceleration physics — a stop is one tick regardless of who boards. No reassignment after dispatch, no sky-lobby transfers, no no-shows or groups, no energy. One traffic level per pattern, the fairness weight swept on two scenarios only, and the zoning experiment lacks its saturated counterpart. None of these would reverse the headline — a rule that accounts for queued stops beats rules that do not — but every one of them would sharpen where parking, fairness and zoning start and stop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trust a simulation? 131 tests at six levels — unit tests for every observable assumption, a structural no-peek-ahead test, property-based invariants over random buildings, golden statistics, end-to-end CLI checks, and a conformance matrix that runs the JavaScript port on all forty scenario-by-rule combinations and asserts identical positions and events. Then an adversarial review of the whole repository: twenty-two findings, no blockers, two major; thirteen changed code or tests, seven changed documents, two were acknowledged. Sceptic’s question: two engines agreeing only proves they share the same bugs. Correct — conformance proves equality, not correctness; correctness comes from the unit and property tests and from a 400-seed fuzz, which broke no invariant.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the point, not the tool. Two shots: an interactive shot in which I wrote the framing, the assistant asked four questions, and the answers became a plan and working rules; then an autonomous shot in which the assistant executed the plan end to end, committing as it went, and reported deviations. I set intent, scope and quality bar and made every judgement call; the assistant drafted, built, tested and challenged. Tests and adversarial review corrected the design three times — the tick order, a LOOK livelock, the dwell semantics. Time, honestly: about one hour of my own time framing, planning and reviewing, then autonomous execution, plus follow-up steering for later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in order of expected effect: a reassignment window, which is what hybrid systems do and the change most likely to help under bursty load; batch re-optimisation every few ticks, which addresses the greedy loss on the sample; and policies that follow the time of day. Before building any of it I would ask a customer five things — because the answers decide which of these matters, and whether a tick-based model is even the right tool for their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 have shown is in the repository — every number regenerates from the commands in the README, and the simulator runs the same engine in your browser. One line to take away: a rule that accounts for queued stops and the delay it inflicts on others beats rules that do not, increasingly so as buildings get taller and busier.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p:bgPr>
    </p:bg>
    <p:spTree>
      <p:nvGrpSpPr>
        <p:cNvPr id="1" name=""/>
        <p:cNvGrpSpPr/>
        <p:nvPr/>
      </p:nvGrpSpPr>
      <p:grpSpPr>
        <a:xfrm>
          <a:off x="0" y="0"/>
          <a:ext cx="0" cy="0"/>
          <a:chOff x="0" y="0"/>
          <a:chExt cx="0" cy="0"/>
        </a:xfrm>
      </p:grpSpPr>
      <p:sp>
        <p:nvSpPr>
          <p:cNvPr id="2" name="Shape 0"/>
          <p:cNvSpPr/>
          <p:nvPr/>
        </p:nvSpPr>
        <p:spPr>
          <a:xfrm>
            <a:off x="1047750" y="5573092"/>
            <a:ext cx="419100" cy="114300"/>
          </a:xfrm>
          <a:prstGeom prst="rect">
            <a:avLst/>
          </a:prstGeom>
          <a:solidFill>
            <a:srgbClr val="2F6FD0"/>
          </a:solidFill>
          <a:ln/>
        </p:spPr>
        <p:txBody>
          <a:bodyPr/>
          <a:p/>
        </p:txBody>
      </p:sp>
      <p:sp>
        <p:nvSpPr>
          <p:cNvPr id="3" name="Shape 1"/>
          <p:cNvSpPr/>
          <p:nvPr/>
        </p:nvSpPr>
        <p:spPr>
          <a:xfrm>
            <a:off x="1600200" y="5573092"/>
            <a:ext cx="419100" cy="114300"/>
          </a:xfrm>
          <a:prstGeom prst="rect">
            <a:avLst/>
          </a:prstGeom>
          <a:solidFill>
            <a:srgbClr val="D9762B"/>
          </a:solidFill>
          <a:ln/>
        </p:spPr>
        <p:txBody>
          <a:bodyPr/>
          <a:p/>
        </p:txBody>
      </p:sp>
      <p:sp>
        <p:nvSpPr>
          <p:cNvPr id="4" name="Shape 2"/>
          <p:cNvSpPr/>
          <p:nvPr/>
        </p:nvSpPr>
        <p:spPr>
          <a:xfrm>
            <a:off x="2152650" y="5573092"/>
            <a:ext cx="419100" cy="114300"/>
          </a:xfrm>
          <a:prstGeom prst="rect">
            <a:avLst/>
          </a:prstGeom>
          <a:solidFill>
            <a:srgbClr val="2A9D74"/>
          </a:solidFill>
          <a:ln/>
        </p:spPr>
        <p:txBody>
          <a:bodyPr/>
          <a:p/>
        </p:txBody>
      </p:sp>
      <p:sp>
        <p:nvSpPr>
          <p:cNvPr id="5" name="Text 3"/>
          <p:cNvSpPr/>
          <p:nvPr/>
        </p:nvSpPr>
        <p:spPr>
          <a:xfrm>
            <a:off x="1047750" y="6068392"/>
            <a:ext cx="15716250" cy="1203945"/>
          </a:xfrm>
          <a:prstGeom prst="rect">
            <a:avLst/>
          </a:prstGeom>
          <a:noFill/>
          <a:ln/>
        </p:spPr>
        <p:txBody>
          <a:bodyPr wrap="square" lIns="25400" tIns="25400" rIns="25400" bIns="25400" rtlCol="0" anchor="t">
            <a:normAutofit/>
          </a:bodyPr>
          <a:lstStyle/>
          <a:p>
            <a:pPr algn="l" indent="0" marL="0">
              <a:lnSpc>
                <a:spcPct val="88696"/>
              </a:lnSpc>
              <a:buNone/>
            </a:pPr>
            <a:r>
              <a:rPr lang="en-US" sz="9000" b="1" spc="-225" kern="0" dirty="0">
                <a:solidFill>
                  <a:srgbClr val="F6F5F2"/>
                </a:solidFill>
                <a:latin typeface="Arial" pitchFamily="34" charset="0"/>
                <a:ea typeface="Arial" pitchFamily="34" charset="-122"/>
                <a:cs typeface="Arial" pitchFamily="34" charset="-120"/>
              </a:rPr>
              <a:t>Which car should you get?</a:t>
            </a:r>
            <a:endParaRPr lang="en-US" sz="9000" dirty="0"/>
          </a:p>
        </p:txBody>
      </p:sp>
      <p:sp>
        <p:nvSpPr>
          <p:cNvPr id="6" name="Text 4"/>
          <p:cNvSpPr/>
          <p:nvPr/>
        </p:nvSpPr>
        <p:spPr>
          <a:xfrm>
            <a:off x="1047750" y="7577138"/>
            <a:ext cx="14668500" cy="533400"/>
          </a:xfrm>
          <a:prstGeom prst="rect">
            <a:avLst/>
          </a:prstGeom>
          <a:noFill/>
          <a:ln/>
        </p:spPr>
        <p:txBody>
          <a:bodyPr wrap="square" lIns="25400" tIns="25400" rIns="25400" bIns="25400" rtlCol="0" anchor="t">
            <a:normAutofit/>
          </a:bodyPr>
          <a:lstStyle/>
          <a:p>
            <a:pPr algn="l" indent="0" marL="0">
              <a:lnSpc>
                <a:spcPct val="113043"/>
              </a:lnSpc>
              <a:buNone/>
            </a:pPr>
            <a:r>
              <a:rPr lang="en-US" sz="3000" spc="-12" kern="0" dirty="0">
                <a:solidFill>
                  <a:srgbClr val="C9C7C0"/>
                </a:solidFill>
                <a:latin typeface="Arial" pitchFamily="34" charset="0"/>
                <a:ea typeface="Arial" pitchFamily="34" charset="-122"/>
                <a:cs typeface="Arial" pitchFamily="34" charset="-120"/>
              </a:rPr>
              <a:t>Dispatch rules for destination-controlled elevators, measured</a:t>
            </a:r>
            <a:endParaRPr lang="en-US" sz="3000" dirty="0"/>
          </a:p>
        </p:txBody>
      </p:sp>
      <p:sp>
        <p:nvSpPr>
          <p:cNvPr id="7" name="Text 5"/>
          <p:cNvSpPr/>
          <p:nvPr/>
        </p:nvSpPr>
        <p:spPr>
          <a:xfrm>
            <a:off x="1047750" y="8834438"/>
            <a:ext cx="17811750" cy="347663"/>
          </a:xfrm>
          <a:prstGeom prst="rect">
            <a:avLst/>
          </a:prstGeom>
          <a:noFill/>
          <a:ln/>
        </p:spPr>
        <p:txBody>
          <a:bodyPr wrap="square" lIns="25400" tIns="25400" rIns="25400" bIns="25400" rtlCol="0" anchor="t">
            <a:normAutofit/>
          </a:bodyPr>
          <a:lstStyle/>
          <a:p>
            <a:pPr algn="l" indent="0" marL="0">
              <a:buNone/>
            </a:pPr>
            <a:r>
              <a:rPr lang="en-US" sz="2100" spc="-12" kern="0" dirty="0">
                <a:solidFill>
                  <a:srgbClr val="9B998F"/>
                </a:solidFill>
                <a:latin typeface="Courier New" pitchFamily="34" charset="0"/>
                <a:ea typeface="Courier New" pitchFamily="34" charset="-122"/>
                <a:cs typeface="Courier New" pitchFamily="34" charset="-120"/>
              </a:rPr>
              <a:t>elevator-dispatch-sim · one engineer, one AI assistant, one brief</a:t>
            </a:r>
            <a:endParaRPr lang="en-US" sz="2100" dirty="0"/>
          </a:p>
        </p:txBody>
      </p:sp>
      <p:sp>
        <p:nvSpPr>
          <p:cNvPr id="8" name="Text 6"/>
          <p:cNvSpPr/>
          <p:nvPr/>
        </p:nvSpPr>
        <p:spPr>
          <a:xfrm>
            <a:off x="1047750" y="9601200"/>
            <a:ext cx="4042350"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87452" y="9601200"/>
            <a:ext cx="1028998"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01 / 16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47750" y="1371600"/>
            <a:ext cx="15697200" cy="1264890"/>
          </a:xfrm>
          <a:prstGeom prst="rect">
            <a:avLst/>
          </a:prstGeom>
          <a:noFill/>
          <a:ln/>
        </p:spPr>
        <p:txBody>
          <a:bodyPr wrap="square" lIns="25400" tIns="25400" rIns="25400" bIns="25400" rtlCol="0" anchor="t">
            <a:normAutofit/>
          </a:bodyPr>
          <a:lstStyle/>
          <a:p>
            <a:pPr algn="l" indent="0" marL="0">
              <a:lnSpc>
                <a:spcPct val="99845"/>
              </a:lnSpc>
              <a:buNone/>
            </a:pPr>
            <a:r>
              <a:rPr lang="en-US" sz="4200" b="1" spc="-84" kern="0" dirty="0">
                <a:solidFill>
                  <a:srgbClr val="1C1B19"/>
                </a:solidFill>
                <a:latin typeface="Arial" pitchFamily="34" charset="0"/>
                <a:ea typeface="Arial" pitchFamily="34" charset="-122"/>
                <a:cs typeface="Arial" pitchFamily="34" charset="-120"/>
              </a:rPr>
              <a:t>How should a bank of elevators decide which car takes which passenger — and how much does the choice matter?</a:t>
            </a:r>
            <a:endParaRPr lang="en-US" sz="4200" dirty="0"/>
          </a:p>
        </p:txBody>
      </p:sp>
      <p:sp>
        <p:nvSpPr>
          <p:cNvPr id="4" name="Text 2"/>
          <p:cNvSpPr/>
          <p:nvPr/>
        </p:nvSpPr>
        <p:spPr>
          <a:xfrm>
            <a:off x="1047750" y="313179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ANSWER, MEASURED</a:t>
            </a:r>
            <a:endParaRPr lang="en-US" sz="1800" dirty="0"/>
          </a:p>
        </p:txBody>
      </p:sp>
      <p:sp>
        <p:nvSpPr>
          <p:cNvPr id="5" name="Shape 3"/>
          <p:cNvSpPr/>
          <p:nvPr/>
        </p:nvSpPr>
        <p:spPr>
          <a:xfrm>
            <a:off x="1047750" y="3627090"/>
            <a:ext cx="16192500" cy="9525"/>
          </a:xfrm>
          <a:prstGeom prst="rect">
            <a:avLst/>
          </a:prstGeom>
          <a:solidFill>
            <a:srgbClr val="E1DFD9"/>
          </a:solidFill>
          <a:ln/>
        </p:spPr>
        <p:txBody>
          <a:bodyPr/>
          <a:p/>
        </p:txBody>
      </p:sp>
      <p:sp>
        <p:nvSpPr>
          <p:cNvPr id="6" name="Text 4"/>
          <p:cNvSpPr/>
          <p:nvPr/>
        </p:nvSpPr>
        <p:spPr>
          <a:xfrm>
            <a:off x="1047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1.15–3.6×</a:t>
            </a:r>
            <a:endParaRPr lang="en-US" sz="12600" dirty="0"/>
          </a:p>
        </p:txBody>
      </p:sp>
      <p:sp>
        <p:nvSpPr>
          <p:cNvPr id="7" name="Text 5"/>
          <p:cNvSpPr/>
          <p:nvPr/>
        </p:nvSpPr>
        <p:spPr>
          <a:xfrm>
            <a:off x="1047750" y="5655915"/>
            <a:ext cx="627888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average wait with </a:t>
            </a:r>
            <a:pPr algn="l" indent="0" marL="0">
              <a:lnSpc>
                <a:spcPct val="112432"/>
              </a:lnSpc>
              <a:buNone/>
            </a:pPr>
            <a:r>
              <a:rPr lang="en-US" sz="2400" b="1" dirty="0">
                <a:solidFill>
                  <a:srgbClr val="2F6FD0"/>
                </a:solidFill>
                <a:latin typeface="Arial" pitchFamily="34" charset="0"/>
                <a:ea typeface="Arial" pitchFamily="34" charset="-122"/>
                <a:cs typeface="Arial" pitchFamily="34" charset="-120"/>
              </a:rPr>
              <a:t>smart dispatch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than </a:t>
            </a:r>
            <a:pPr algn="l" indent="0" marL="0">
              <a:lnSpc>
                <a:spcPct val="112432"/>
              </a:lnSpc>
              <a:buNone/>
            </a:pPr>
            <a:r>
              <a:rPr lang="en-US" sz="2400" b="1" dirty="0">
                <a:solidFill>
                  <a:srgbClr val="D9762B"/>
                </a:solidFill>
                <a:latin typeface="Arial" pitchFamily="34" charset="0"/>
                <a:ea typeface="Arial" pitchFamily="34" charset="-122"/>
                <a:cs typeface="Arial" pitchFamily="34" charset="-120"/>
              </a:rPr>
              <a:t>nearest car</a:t>
            </a:r>
            <a:endParaRPr lang="en-US" sz="2400" dirty="0"/>
          </a:p>
        </p:txBody>
      </p:sp>
      <p:sp>
        <p:nvSpPr>
          <p:cNvPr id="8" name="Text 6"/>
          <p:cNvSpPr/>
          <p:nvPr/>
        </p:nvSpPr>
        <p:spPr>
          <a:xfrm>
            <a:off x="9429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2–3.3×</a:t>
            </a:r>
            <a:endParaRPr lang="en-US" sz="12600" dirty="0"/>
          </a:p>
        </p:txBody>
      </p:sp>
      <p:sp>
        <p:nvSpPr>
          <p:cNvPr id="9" name="Text 7"/>
          <p:cNvSpPr/>
          <p:nvPr/>
        </p:nvSpPr>
        <p:spPr>
          <a:xfrm>
            <a:off x="9429750" y="5655915"/>
            <a:ext cx="627888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than </a:t>
            </a:r>
            <a:pPr algn="l" indent="0" marL="0">
              <a:lnSpc>
                <a:spcPct val="112432"/>
              </a:lnSpc>
              <a:buNone/>
            </a:pPr>
            <a:r>
              <a:rPr lang="en-US" sz="2400" b="1" dirty="0">
                <a:solidFill>
                  <a:srgbClr val="2A9D74"/>
                </a:solidFill>
                <a:latin typeface="Arial" pitchFamily="34" charset="0"/>
                <a:ea typeface="Arial" pitchFamily="34" charset="-122"/>
                <a:cs typeface="Arial" pitchFamily="34" charset="-120"/>
              </a:rPr>
              <a:t>take turns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on every realistic traffic pattern tested</a:t>
            </a:r>
            <a:endParaRPr lang="en-US" sz="2400" dirty="0"/>
          </a:p>
        </p:txBody>
      </p:sp>
      <p:sp>
        <p:nvSpPr>
          <p:cNvPr id="10" name="Text 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1" name="Text 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 / 16</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problem in plain language</a:t>
            </a:r>
            <a:endParaRPr lang="en-US" sz="5400" dirty="0"/>
          </a:p>
        </p:txBody>
      </p:sp>
      <p:sp>
        <p:nvSpPr>
          <p:cNvPr id="3" name="Shape 1"/>
          <p:cNvSpPr/>
          <p:nvPr/>
        </p:nvSpPr>
        <p:spPr>
          <a:xfrm>
            <a:off x="1047750" y="2202135"/>
            <a:ext cx="5041850" cy="19050"/>
          </a:xfrm>
          <a:prstGeom prst="rect">
            <a:avLst/>
          </a:prstGeom>
          <a:solidFill>
            <a:srgbClr val="1C1B19"/>
          </a:solidFill>
          <a:ln/>
        </p:spPr>
        <p:txBody>
          <a:bodyPr/>
          <a:p/>
        </p:txBody>
      </p:sp>
      <p:sp>
        <p:nvSpPr>
          <p:cNvPr id="4" name="Text 2"/>
          <p:cNvSpPr/>
          <p:nvPr/>
        </p:nvSpPr>
        <p:spPr>
          <a:xfrm>
            <a:off x="1047750"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Destination dispatch</a:t>
            </a:r>
            <a:endParaRPr lang="en-US" sz="3000" dirty="0"/>
          </a:p>
        </p:txBody>
      </p:sp>
      <p:sp>
        <p:nvSpPr>
          <p:cNvPr id="5" name="Text 3"/>
          <p:cNvSpPr/>
          <p:nvPr/>
        </p:nvSpPr>
        <p:spPr>
          <a:xfrm>
            <a:off x="1047750" y="3164160"/>
            <a:ext cx="5193106"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You enter your destination before you board. The controller picks one car, at that moment, and the choice is final.</a:t>
            </a:r>
            <a:endParaRPr lang="en-US" sz="2400" dirty="0"/>
          </a:p>
        </p:txBody>
      </p:sp>
      <p:sp>
        <p:nvSpPr>
          <p:cNvPr id="6" name="Shape 4"/>
          <p:cNvSpPr/>
          <p:nvPr/>
        </p:nvSpPr>
        <p:spPr>
          <a:xfrm>
            <a:off x="6623000" y="2202135"/>
            <a:ext cx="5041925" cy="19050"/>
          </a:xfrm>
          <a:prstGeom prst="rect">
            <a:avLst/>
          </a:prstGeom>
          <a:solidFill>
            <a:srgbClr val="1C1B19"/>
          </a:solidFill>
          <a:ln/>
        </p:spPr>
        <p:txBody>
          <a:bodyPr/>
          <a:p/>
        </p:txBody>
      </p:sp>
      <p:sp>
        <p:nvSpPr>
          <p:cNvPr id="7" name="Text 5"/>
          <p:cNvSpPr/>
          <p:nvPr/>
        </p:nvSpPr>
        <p:spPr>
          <a:xfrm>
            <a:off x="6623000" y="2487885"/>
            <a:ext cx="5546117"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What good means</a:t>
            </a:r>
            <a:endParaRPr lang="en-US" sz="3000" dirty="0"/>
          </a:p>
        </p:txBody>
      </p:sp>
      <p:sp>
        <p:nvSpPr>
          <p:cNvPr id="8" name="Text 6"/>
          <p:cNvSpPr/>
          <p:nvPr/>
        </p:nvSpPr>
        <p:spPr>
          <a:xfrm>
            <a:off x="6623000" y="3164160"/>
            <a:ext cx="5193183"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wait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boarding. 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total time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arrival. And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fairness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no one waits far longer than everyone else.</a:t>
            </a:r>
            <a:endParaRPr lang="en-US" sz="2400" dirty="0"/>
          </a:p>
        </p:txBody>
      </p:sp>
      <p:sp>
        <p:nvSpPr>
          <p:cNvPr id="9" name="Shape 7"/>
          <p:cNvSpPr/>
          <p:nvPr/>
        </p:nvSpPr>
        <p:spPr>
          <a:xfrm>
            <a:off x="12198325" y="2202135"/>
            <a:ext cx="5041850" cy="19050"/>
          </a:xfrm>
          <a:prstGeom prst="rect">
            <a:avLst/>
          </a:prstGeom>
          <a:solidFill>
            <a:srgbClr val="1C1B19"/>
          </a:solidFill>
          <a:ln/>
        </p:spPr>
        <p:txBody>
          <a:bodyPr/>
          <a:p/>
        </p:txBody>
      </p:sp>
      <p:sp>
        <p:nvSpPr>
          <p:cNvPr id="10" name="Text 8"/>
          <p:cNvSpPr/>
          <p:nvPr/>
        </p:nvSpPr>
        <p:spPr>
          <a:xfrm>
            <a:off x="12198325"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Why it is not obvious</a:t>
            </a:r>
            <a:endParaRPr lang="en-US" sz="3000" dirty="0"/>
          </a:p>
        </p:txBody>
      </p:sp>
      <p:sp>
        <p:nvSpPr>
          <p:cNvPr id="11" name="Text 9"/>
          <p:cNvSpPr/>
          <p:nvPr/>
        </p:nvSpPr>
        <p:spPr>
          <a:xfrm>
            <a:off x="12198325" y="3164160"/>
            <a:ext cx="5193106" cy="259824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The controller cannot see the future. And the goals pull apart: the best average bundles people onto a busy car, which is efficient on the whole and hard on whoever keeps being passed over.</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 / 16</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was built</a:t>
            </a:r>
            <a:endParaRPr lang="en-US" sz="5400" dirty="0"/>
          </a:p>
        </p:txBody>
      </p:sp>
      <p:sp>
        <p:nvSpPr>
          <p:cNvPr id="3" name="Shape 1"/>
          <p:cNvSpPr/>
          <p:nvPr/>
        </p:nvSpPr>
        <p:spPr>
          <a:xfrm>
            <a:off x="1047750" y="2565946"/>
            <a:ext cx="2419127" cy="2457450"/>
          </a:xfrm>
          <a:prstGeom prst="roundRect">
            <a:avLst>
              <a:gd name="adj" fmla="val 3937"/>
            </a:avLst>
          </a:prstGeom>
          <a:solidFill>
            <a:srgbClr val="FFFFFF"/>
          </a:solidFill>
          <a:ln w="9525">
            <a:solidFill>
              <a:srgbClr val="E1DFD9"/>
            </a:solidFill>
            <a:prstDash val="solid"/>
          </a:ln>
        </p:spPr>
        <p:txBody>
          <a:bodyPr/>
          <a:p/>
        </p:txBody>
      </p:sp>
      <p:sp>
        <p:nvSpPr>
          <p:cNvPr id="4" name="Text 2"/>
          <p:cNvSpPr/>
          <p:nvPr/>
        </p:nvSpPr>
        <p:spPr>
          <a:xfrm>
            <a:off x="1304925" y="3332708"/>
            <a:ext cx="209525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Requests</a:t>
            </a:r>
            <a:endParaRPr lang="en-US" sz="2100" dirty="0"/>
          </a:p>
        </p:txBody>
      </p:sp>
      <p:sp>
        <p:nvSpPr>
          <p:cNvPr id="5" name="Text 3"/>
          <p:cNvSpPr/>
          <p:nvPr/>
        </p:nvSpPr>
        <p:spPr>
          <a:xfrm>
            <a:off x="1304925" y="3723233"/>
            <a:ext cx="1980977"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CSV · validate</a:t>
            </a:r>
            <a:endParaRPr lang="en-US" sz="1800" dirty="0"/>
          </a:p>
        </p:txBody>
      </p:sp>
      <p:sp>
        <p:nvSpPr>
          <p:cNvPr id="6" name="Text 4"/>
          <p:cNvSpPr/>
          <p:nvPr/>
        </p:nvSpPr>
        <p:spPr>
          <a:xfrm>
            <a:off x="3638327"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7" name="Shape 5"/>
          <p:cNvSpPr/>
          <p:nvPr/>
        </p:nvSpPr>
        <p:spPr>
          <a:xfrm>
            <a:off x="4158407"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8" name="Text 6"/>
          <p:cNvSpPr/>
          <p:nvPr/>
        </p:nvSpPr>
        <p:spPr>
          <a:xfrm>
            <a:off x="4415582" y="315366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Feed</a:t>
            </a:r>
            <a:endParaRPr lang="en-US" sz="2100" dirty="0"/>
          </a:p>
        </p:txBody>
      </p:sp>
      <p:sp>
        <p:nvSpPr>
          <p:cNvPr id="9" name="Text 7"/>
          <p:cNvSpPr/>
          <p:nvPr/>
        </p:nvSpPr>
        <p:spPr>
          <a:xfrm>
            <a:off x="4415582" y="3544193"/>
            <a:ext cx="1981051" cy="929506"/>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releases a request only when its time has come</a:t>
            </a:r>
            <a:endParaRPr lang="en-US" sz="1800" dirty="0"/>
          </a:p>
        </p:txBody>
      </p:sp>
      <p:sp>
        <p:nvSpPr>
          <p:cNvPr id="10" name="Text 8"/>
          <p:cNvSpPr/>
          <p:nvPr/>
        </p:nvSpPr>
        <p:spPr>
          <a:xfrm>
            <a:off x="674905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11" name="Shape 9"/>
          <p:cNvSpPr/>
          <p:nvPr/>
        </p:nvSpPr>
        <p:spPr>
          <a:xfrm>
            <a:off x="7269138" y="2354535"/>
            <a:ext cx="3265810" cy="2880271"/>
          </a:xfrm>
          <a:prstGeom prst="roundRect">
            <a:avLst>
              <a:gd name="adj" fmla="val 3307"/>
            </a:avLst>
          </a:prstGeom>
          <a:solidFill>
            <a:srgbClr val="FFFFFF"/>
          </a:solidFill>
          <a:ln w="9525">
            <a:solidFill>
              <a:srgbClr val="E1DFD9"/>
            </a:solidFill>
            <a:prstDash val="solid"/>
          </a:ln>
        </p:spPr>
        <p:txBody>
          <a:bodyPr/>
          <a:p/>
        </p:txBody>
      </p:sp>
      <p:sp>
        <p:nvSpPr>
          <p:cNvPr id="12" name="Text 10"/>
          <p:cNvSpPr/>
          <p:nvPr/>
        </p:nvSpPr>
        <p:spPr>
          <a:xfrm>
            <a:off x="7526313" y="2630760"/>
            <a:ext cx="302660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Tick loop</a:t>
            </a:r>
            <a:endParaRPr lang="en-US" sz="2100" dirty="0"/>
          </a:p>
        </p:txBody>
      </p:sp>
      <p:sp>
        <p:nvSpPr>
          <p:cNvPr id="13" name="Text 11"/>
          <p:cNvSpPr/>
          <p:nvPr/>
        </p:nvSpPr>
        <p:spPr>
          <a:xfrm>
            <a:off x="7526313" y="3021285"/>
            <a:ext cx="2834004" cy="632371"/>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LOOK movement · capacity · dwell</a:t>
            </a:r>
            <a:endParaRPr lang="en-US" sz="1800" dirty="0"/>
          </a:p>
        </p:txBody>
      </p:sp>
      <p:sp>
        <p:nvSpPr>
          <p:cNvPr id="14" name="Shape 12"/>
          <p:cNvSpPr/>
          <p:nvPr/>
        </p:nvSpPr>
        <p:spPr>
          <a:xfrm>
            <a:off x="7526313" y="3787006"/>
            <a:ext cx="2751460" cy="9525"/>
          </a:xfrm>
          <a:prstGeom prst="rect">
            <a:avLst/>
          </a:prstGeom>
          <a:solidFill>
            <a:srgbClr val="EEEDE8"/>
          </a:solidFill>
          <a:ln/>
        </p:spPr>
        <p:txBody>
          <a:bodyPr/>
          <a:p/>
        </p:txBody>
      </p:sp>
      <p:sp>
        <p:nvSpPr>
          <p:cNvPr id="15" name="Shape 13"/>
          <p:cNvSpPr/>
          <p:nvPr/>
        </p:nvSpPr>
        <p:spPr>
          <a:xfrm>
            <a:off x="7526313" y="4044181"/>
            <a:ext cx="114300" cy="114300"/>
          </a:xfrm>
          <a:prstGeom prst="roundRect">
            <a:avLst>
              <a:gd name="adj" fmla="val 25000"/>
            </a:avLst>
          </a:prstGeom>
          <a:solidFill>
            <a:srgbClr val="2F6FD0"/>
          </a:solidFill>
          <a:ln/>
        </p:spPr>
        <p:txBody>
          <a:bodyPr/>
          <a:p/>
        </p:txBody>
      </p:sp>
      <p:sp>
        <p:nvSpPr>
          <p:cNvPr id="16" name="Text 14"/>
          <p:cNvSpPr/>
          <p:nvPr/>
        </p:nvSpPr>
        <p:spPr>
          <a:xfrm>
            <a:off x="7735863" y="3929881"/>
            <a:ext cx="1641530"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Smart dispatch</a:t>
            </a:r>
            <a:endParaRPr lang="en-US" sz="1800" dirty="0"/>
          </a:p>
        </p:txBody>
      </p:sp>
      <p:sp>
        <p:nvSpPr>
          <p:cNvPr id="17" name="Shape 15"/>
          <p:cNvSpPr/>
          <p:nvPr/>
        </p:nvSpPr>
        <p:spPr>
          <a:xfrm>
            <a:off x="7526313" y="4387081"/>
            <a:ext cx="114300" cy="114300"/>
          </a:xfrm>
          <a:prstGeom prst="roundRect">
            <a:avLst>
              <a:gd name="adj" fmla="val 25000"/>
            </a:avLst>
          </a:prstGeom>
          <a:solidFill>
            <a:srgbClr val="D9762B"/>
          </a:solidFill>
          <a:ln/>
        </p:spPr>
        <p:txBody>
          <a:bodyPr/>
          <a:p/>
        </p:txBody>
      </p:sp>
      <p:sp>
        <p:nvSpPr>
          <p:cNvPr id="18" name="Text 16"/>
          <p:cNvSpPr/>
          <p:nvPr/>
        </p:nvSpPr>
        <p:spPr>
          <a:xfrm>
            <a:off x="7735863" y="4272781"/>
            <a:ext cx="1206847"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Nearest car</a:t>
            </a:r>
            <a:endParaRPr lang="en-US" sz="1800" dirty="0"/>
          </a:p>
        </p:txBody>
      </p:sp>
      <p:sp>
        <p:nvSpPr>
          <p:cNvPr id="19" name="Shape 17"/>
          <p:cNvSpPr/>
          <p:nvPr/>
        </p:nvSpPr>
        <p:spPr>
          <a:xfrm>
            <a:off x="7526313" y="4729981"/>
            <a:ext cx="114300" cy="114300"/>
          </a:xfrm>
          <a:prstGeom prst="roundRect">
            <a:avLst>
              <a:gd name="adj" fmla="val 25000"/>
            </a:avLst>
          </a:prstGeom>
          <a:solidFill>
            <a:srgbClr val="2A9D74"/>
          </a:solidFill>
          <a:ln/>
        </p:spPr>
        <p:txBody>
          <a:bodyPr/>
          <a:p/>
        </p:txBody>
      </p:sp>
      <p:sp>
        <p:nvSpPr>
          <p:cNvPr id="20" name="Text 18"/>
          <p:cNvSpPr/>
          <p:nvPr/>
        </p:nvSpPr>
        <p:spPr>
          <a:xfrm>
            <a:off x="7735863" y="4615681"/>
            <a:ext cx="1082873"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Take turns</a:t>
            </a:r>
            <a:endParaRPr lang="en-US" sz="1800" dirty="0"/>
          </a:p>
        </p:txBody>
      </p:sp>
      <p:sp>
        <p:nvSpPr>
          <p:cNvPr id="21" name="Text 19"/>
          <p:cNvSpPr/>
          <p:nvPr/>
        </p:nvSpPr>
        <p:spPr>
          <a:xfrm>
            <a:off x="1070639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2" name="Shape 20"/>
          <p:cNvSpPr/>
          <p:nvPr/>
        </p:nvSpPr>
        <p:spPr>
          <a:xfrm>
            <a:off x="11226478"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23" name="Text 21"/>
          <p:cNvSpPr/>
          <p:nvPr/>
        </p:nvSpPr>
        <p:spPr>
          <a:xfrm>
            <a:off x="11483653" y="308505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Outputs</a:t>
            </a:r>
            <a:endParaRPr lang="en-US" sz="2100" dirty="0"/>
          </a:p>
        </p:txBody>
      </p:sp>
      <p:sp>
        <p:nvSpPr>
          <p:cNvPr id="24" name="Text 22"/>
          <p:cNvSpPr/>
          <p:nvPr/>
        </p:nvSpPr>
        <p:spPr>
          <a:xfrm>
            <a:off x="11483653" y="3475583"/>
            <a:ext cx="1981051" cy="10668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7A786F"/>
                </a:solidFill>
                <a:latin typeface="Courier New" pitchFamily="34" charset="0"/>
                <a:ea typeface="Courier New" pitchFamily="34" charset="-122"/>
                <a:cs typeface="Courier New" pitchFamily="34" charset="-120"/>
              </a:rPr>
              <a:t>positions.csv trace.json summary</a:t>
            </a:r>
            <a:endParaRPr lang="en-US" sz="1800" dirty="0"/>
          </a:p>
        </p:txBody>
      </p:sp>
      <p:sp>
        <p:nvSpPr>
          <p:cNvPr id="25" name="Text 23"/>
          <p:cNvSpPr/>
          <p:nvPr/>
        </p:nvSpPr>
        <p:spPr>
          <a:xfrm>
            <a:off x="13817129"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6" name="Shape 24"/>
          <p:cNvSpPr/>
          <p:nvPr/>
        </p:nvSpPr>
        <p:spPr>
          <a:xfrm>
            <a:off x="14337209" y="2565946"/>
            <a:ext cx="2903041" cy="2457450"/>
          </a:xfrm>
          <a:prstGeom prst="roundRect">
            <a:avLst>
              <a:gd name="adj" fmla="val 3876"/>
            </a:avLst>
          </a:prstGeom>
          <a:solidFill>
            <a:srgbClr val="FFFFFF"/>
          </a:solidFill>
          <a:ln w="9525">
            <a:solidFill>
              <a:srgbClr val="E1DFD9"/>
            </a:solidFill>
            <a:prstDash val="solid"/>
          </a:ln>
        </p:spPr>
        <p:txBody>
          <a:bodyPr/>
          <a:p/>
        </p:txBody>
      </p:sp>
      <p:sp>
        <p:nvSpPr>
          <p:cNvPr id="27" name="Text 25"/>
          <p:cNvSpPr/>
          <p:nvPr/>
        </p:nvSpPr>
        <p:spPr>
          <a:xfrm>
            <a:off x="14594384" y="3279428"/>
            <a:ext cx="2627561"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Evidence</a:t>
            </a:r>
            <a:endParaRPr lang="en-US" sz="2100" dirty="0"/>
          </a:p>
        </p:txBody>
      </p:sp>
      <p:sp>
        <p:nvSpPr>
          <p:cNvPr id="28" name="Text 26"/>
          <p:cNvSpPr/>
          <p:nvPr/>
        </p:nvSpPr>
        <p:spPr>
          <a:xfrm>
            <a:off x="14594384" y="3669953"/>
            <a:ext cx="2464891"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7A786F"/>
                </a:solidFill>
                <a:latin typeface="Arial" pitchFamily="34" charset="0"/>
                <a:ea typeface="Arial" pitchFamily="34" charset="-122"/>
                <a:cs typeface="Arial" pitchFamily="34" charset="-120"/>
              </a:rPr>
              <a:t>compare table · charts · browser simulator</a:t>
            </a:r>
            <a:endParaRPr lang="en-US" sz="1800" dirty="0"/>
          </a:p>
        </p:txBody>
      </p:sp>
      <p:sp>
        <p:nvSpPr>
          <p:cNvPr id="29" name="Shape 27"/>
          <p:cNvSpPr/>
          <p:nvPr/>
        </p:nvSpPr>
        <p:spPr>
          <a:xfrm>
            <a:off x="1047750" y="5844406"/>
            <a:ext cx="16192500" cy="9525"/>
          </a:xfrm>
          <a:prstGeom prst="rect">
            <a:avLst/>
          </a:prstGeom>
          <a:solidFill>
            <a:srgbClr val="E1DFD9"/>
          </a:solidFill>
          <a:ln/>
        </p:spPr>
        <p:txBody>
          <a:bodyPr/>
          <a:p/>
        </p:txBody>
      </p:sp>
      <p:sp>
        <p:nvSpPr>
          <p:cNvPr id="30" name="Text 28"/>
          <p:cNvSpPr/>
          <p:nvPr/>
        </p:nvSpPr>
        <p:spPr>
          <a:xfrm>
            <a:off x="104775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3</a:t>
            </a:r>
            <a:endParaRPr lang="en-US" sz="4800" dirty="0"/>
          </a:p>
        </p:txBody>
      </p:sp>
      <p:sp>
        <p:nvSpPr>
          <p:cNvPr id="31" name="Text 29"/>
          <p:cNvSpPr/>
          <p:nvPr/>
        </p:nvSpPr>
        <p:spPr>
          <a:xfrm>
            <a:off x="104775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rules behind one interface</a:t>
            </a:r>
            <a:endParaRPr lang="en-US" sz="2100" dirty="0"/>
          </a:p>
        </p:txBody>
      </p:sp>
      <p:sp>
        <p:nvSpPr>
          <p:cNvPr id="32" name="Text 30"/>
          <p:cNvSpPr/>
          <p:nvPr/>
        </p:nvSpPr>
        <p:spPr>
          <a:xfrm>
            <a:off x="519112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10</a:t>
            </a:r>
            <a:endParaRPr lang="en-US" sz="4800" dirty="0"/>
          </a:p>
        </p:txBody>
      </p:sp>
      <p:sp>
        <p:nvSpPr>
          <p:cNvPr id="33" name="Text 31"/>
          <p:cNvSpPr/>
          <p:nvPr/>
        </p:nvSpPr>
        <p:spPr>
          <a:xfrm>
            <a:off x="5191125" y="6844531"/>
            <a:ext cx="3875246" cy="666750"/>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seeded scenarios, byte-reproducible</a:t>
            </a:r>
            <a:endParaRPr lang="en-US" sz="2100" dirty="0"/>
          </a:p>
        </p:txBody>
      </p:sp>
      <p:sp>
        <p:nvSpPr>
          <p:cNvPr id="34" name="Text 32"/>
          <p:cNvSpPr/>
          <p:nvPr/>
        </p:nvSpPr>
        <p:spPr>
          <a:xfrm>
            <a:off x="933450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131</a:t>
            </a:r>
            <a:endParaRPr lang="en-US" sz="4800" dirty="0"/>
          </a:p>
        </p:txBody>
      </p:sp>
      <p:sp>
        <p:nvSpPr>
          <p:cNvPr id="35" name="Text 33"/>
          <p:cNvSpPr/>
          <p:nvPr/>
        </p:nvSpPr>
        <p:spPr>
          <a:xfrm>
            <a:off x="933450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tests, six levels</a:t>
            </a:r>
            <a:endParaRPr lang="en-US" sz="2100" dirty="0"/>
          </a:p>
        </p:txBody>
      </p:sp>
      <p:sp>
        <p:nvSpPr>
          <p:cNvPr id="36" name="Text 34"/>
          <p:cNvSpPr/>
          <p:nvPr/>
        </p:nvSpPr>
        <p:spPr>
          <a:xfrm>
            <a:off x="1347787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0</a:t>
            </a:r>
            <a:endParaRPr lang="en-US" sz="4800" dirty="0"/>
          </a:p>
        </p:txBody>
      </p:sp>
      <p:sp>
        <p:nvSpPr>
          <p:cNvPr id="37" name="Text 35"/>
          <p:cNvSpPr/>
          <p:nvPr/>
        </p:nvSpPr>
        <p:spPr>
          <a:xfrm>
            <a:off x="13477875"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runtime dependencies</a:t>
            </a:r>
            <a:endParaRPr lang="en-US" sz="2100" dirty="0"/>
          </a:p>
        </p:txBody>
      </p:sp>
      <p:sp>
        <p:nvSpPr>
          <p:cNvPr id="38" name="Text 3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9" name="Text 3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 / 16</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6912449"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model works</a:t>
            </a:r>
            <a:endParaRPr lang="en-US" sz="5400" dirty="0"/>
          </a:p>
        </p:txBody>
      </p:sp>
      <p:sp>
        <p:nvSpPr>
          <p:cNvPr id="3" name="Text 1"/>
          <p:cNvSpPr/>
          <p:nvPr/>
        </p:nvSpPr>
        <p:spPr>
          <a:xfrm>
            <a:off x="7598494" y="1333500"/>
            <a:ext cx="439040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for the engineers · skippable</a:t>
            </a:r>
            <a:endParaRPr lang="en-US" sz="1800" dirty="0"/>
          </a:p>
        </p:txBody>
      </p:sp>
      <p:sp>
        <p:nvSpPr>
          <p:cNvPr id="4" name="Text 2"/>
          <p:cNvSpPr/>
          <p:nvPr/>
        </p:nvSpPr>
        <p:spPr>
          <a:xfrm>
            <a:off x="1047750" y="2202135"/>
            <a:ext cx="8781127"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ONE TICK, IN FIXED ORDER</a:t>
            </a:r>
            <a:endParaRPr lang="en-US" sz="1800" dirty="0"/>
          </a:p>
        </p:txBody>
      </p:sp>
      <p:sp>
        <p:nvSpPr>
          <p:cNvPr id="5" name="Text 3"/>
          <p:cNvSpPr/>
          <p:nvPr/>
        </p:nvSpPr>
        <p:spPr>
          <a:xfrm>
            <a:off x="1047750" y="2697435"/>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6" name="Text 4"/>
          <p:cNvSpPr/>
          <p:nvPr/>
        </p:nvSpPr>
        <p:spPr>
          <a:xfrm>
            <a:off x="1809750" y="2697435"/>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Release and assign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requests due now reach the scheduler; it returns a car index.</a:t>
            </a:r>
            <a:endParaRPr lang="en-US" sz="2400" dirty="0"/>
          </a:p>
        </p:txBody>
      </p:sp>
      <p:sp>
        <p:nvSpPr>
          <p:cNvPr id="7" name="Text 5"/>
          <p:cNvSpPr/>
          <p:nvPr/>
        </p:nvSpPr>
        <p:spPr>
          <a:xfrm>
            <a:off x="1047750" y="3729856"/>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8" name="Text 6"/>
          <p:cNvSpPr/>
          <p:nvPr/>
        </p:nvSpPr>
        <p:spPr>
          <a:xfrm>
            <a:off x="1809750" y="3729856"/>
            <a:ext cx="7437468"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Unload, then load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at the current floor, in request order, while capacity allows, only in the departure direction.</a:t>
            </a:r>
            <a:endParaRPr lang="en-US" sz="2400" dirty="0"/>
          </a:p>
        </p:txBody>
      </p:sp>
      <p:sp>
        <p:nvSpPr>
          <p:cNvPr id="9" name="Text 7"/>
          <p:cNvSpPr/>
          <p:nvPr/>
        </p:nvSpPr>
        <p:spPr>
          <a:xfrm>
            <a:off x="1047750" y="5173712"/>
            <a:ext cx="685800" cy="449535"/>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10" name="Text 8"/>
          <p:cNvSpPr/>
          <p:nvPr/>
        </p:nvSpPr>
        <p:spPr>
          <a:xfrm>
            <a:off x="1809750" y="5173712"/>
            <a:ext cx="7942927" cy="449535"/>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Log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one row of positions per tick, from tick 0.</a:t>
            </a:r>
            <a:endParaRPr lang="en-US" sz="2400" dirty="0"/>
          </a:p>
        </p:txBody>
      </p:sp>
      <p:sp>
        <p:nvSpPr>
          <p:cNvPr id="11" name="Text 9"/>
          <p:cNvSpPr/>
          <p:nvPr/>
        </p:nvSpPr>
        <p:spPr>
          <a:xfrm>
            <a:off x="1047750" y="5794697"/>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4</a:t>
            </a:r>
            <a:endParaRPr lang="en-US" sz="2400" dirty="0"/>
          </a:p>
        </p:txBody>
      </p:sp>
      <p:sp>
        <p:nvSpPr>
          <p:cNvPr id="12" name="Text 10"/>
          <p:cNvSpPr/>
          <p:nvPr/>
        </p:nvSpPr>
        <p:spPr>
          <a:xfrm>
            <a:off x="1809750" y="5794697"/>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Advance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each car moves one floor toward its next stop, dwells, or stays idle.</a:t>
            </a:r>
            <a:endParaRPr lang="en-US" sz="2400" dirty="0"/>
          </a:p>
        </p:txBody>
      </p:sp>
      <p:sp>
        <p:nvSpPr>
          <p:cNvPr id="13" name="Text 11"/>
          <p:cNvSpPr/>
          <p:nvPr/>
        </p:nvSpPr>
        <p:spPr>
          <a:xfrm>
            <a:off x="9983093" y="2202135"/>
            <a:ext cx="79828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ENFORCED BY STRUCTURE, PINNED BY TESTS</a:t>
            </a:r>
            <a:endParaRPr lang="en-US" sz="1800" dirty="0"/>
          </a:p>
        </p:txBody>
      </p:sp>
      <p:sp>
        <p:nvSpPr>
          <p:cNvPr id="14" name="Text 12"/>
          <p:cNvSpPr/>
          <p:nvPr/>
        </p:nvSpPr>
        <p:spPr>
          <a:xfrm>
            <a:off x="9983093" y="2697435"/>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No peek-ahead.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feed releases a request only when time ≤ now; a spy scheduler proves it.</a:t>
            </a:r>
            <a:endParaRPr lang="en-US" sz="2400" dirty="0"/>
          </a:p>
        </p:txBody>
      </p:sp>
      <p:sp>
        <p:nvSpPr>
          <p:cNvPr id="15" name="Text 13"/>
          <p:cNvSpPr/>
          <p:nvPr/>
        </p:nvSpPr>
        <p:spPr>
          <a:xfrm>
            <a:off x="9983093" y="3729856"/>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Assignment is final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as in real destination systems — so capacity is the scheduler’s problem.</a:t>
            </a:r>
            <a:endParaRPr lang="en-US" sz="2400" dirty="0"/>
          </a:p>
        </p:txBody>
      </p:sp>
      <p:sp>
        <p:nvSpPr>
          <p:cNvPr id="16" name="Text 14"/>
          <p:cNvSpPr/>
          <p:nvPr/>
        </p:nvSpPr>
        <p:spPr>
          <a:xfrm>
            <a:off x="9983093" y="4762277"/>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LOOK movement.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Keep direction while a stop lies ahead; never carry anyone away from their destination.</a:t>
            </a:r>
            <a:endParaRPr lang="en-US" sz="2400" dirty="0"/>
          </a:p>
        </p:txBody>
      </p:sp>
      <p:sp>
        <p:nvSpPr>
          <p:cNvPr id="17" name="Text 15"/>
          <p:cNvSpPr/>
          <p:nvPr/>
        </p:nvSpPr>
        <p:spPr>
          <a:xfrm>
            <a:off x="9983093" y="5794697"/>
            <a:ext cx="7474872" cy="87049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 stop costs one tick.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brief’s literal model is recovered with </a:t>
            </a:r>
            <a:pPr algn="l" indent="0" marL="0">
              <a:lnSpc>
                <a:spcPct val="116757"/>
              </a:lnSpc>
              <a:buNone/>
            </a:pPr>
            <a:r>
              <a:rPr lang="en-US" sz="2400" dirty="0">
                <a:solidFill>
                  <a:srgbClr val="4C4A44"/>
                </a:solidFill>
                <a:latin typeface="Courier New" pitchFamily="34" charset="0"/>
                <a:ea typeface="Courier New" pitchFamily="34" charset="-122"/>
                <a:cs typeface="Courier New" pitchFamily="34" charset="-120"/>
              </a:rPr>
              <a:t>--dwell 0</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t>
            </a:r>
            <a:endParaRPr lang="en-US" sz="2400" dirty="0"/>
          </a:p>
        </p:txBody>
      </p:sp>
      <p:sp>
        <p:nvSpPr>
          <p:cNvPr id="18"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 / 16</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three dispatch rules</a:t>
            </a:r>
            <a:endParaRPr lang="en-US" sz="5400" dirty="0"/>
          </a:p>
        </p:txBody>
      </p:sp>
      <p:sp>
        <p:nvSpPr>
          <p:cNvPr id="3" name="Shape 1"/>
          <p:cNvSpPr/>
          <p:nvPr/>
        </p:nvSpPr>
        <p:spPr>
          <a:xfrm>
            <a:off x="1047750" y="2202135"/>
            <a:ext cx="5092675" cy="76200"/>
          </a:xfrm>
          <a:prstGeom prst="rect">
            <a:avLst/>
          </a:prstGeom>
          <a:solidFill>
            <a:srgbClr val="2F6FD0"/>
          </a:solidFill>
          <a:ln/>
        </p:spPr>
        <p:txBody>
          <a:bodyPr/>
          <a:p/>
        </p:txBody>
      </p:sp>
      <p:sp>
        <p:nvSpPr>
          <p:cNvPr id="4" name="Text 2"/>
          <p:cNvSpPr/>
          <p:nvPr/>
        </p:nvSpPr>
        <p:spPr>
          <a:xfrm>
            <a:off x="1047750"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Smart dispatch</a:t>
            </a:r>
            <a:endParaRPr lang="en-US" sz="3000" dirty="0"/>
          </a:p>
        </p:txBody>
      </p:sp>
      <p:sp>
        <p:nvSpPr>
          <p:cNvPr id="5" name="Text 3"/>
          <p:cNvSpPr/>
          <p:nvPr/>
        </p:nvSpPr>
        <p:spPr>
          <a:xfrm>
            <a:off x="1047750"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ETD · estimated time to destination</a:t>
            </a:r>
            <a:endParaRPr lang="en-US" sz="1800" dirty="0"/>
          </a:p>
        </p:txBody>
      </p:sp>
      <p:sp>
        <p:nvSpPr>
          <p:cNvPr id="6" name="Text 4"/>
          <p:cNvSpPr/>
          <p:nvPr/>
        </p:nvSpPr>
        <p:spPr>
          <a:xfrm>
            <a:off x="1047750" y="3583260"/>
            <a:ext cx="5245455"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Picks the car that delays everyone the least: the newcomer’s projected time to destination plus the delay added to passengers already assigned.</a:t>
            </a:r>
            <a:endParaRPr lang="en-US" sz="2400" dirty="0"/>
          </a:p>
        </p:txBody>
      </p:sp>
      <p:sp>
        <p:nvSpPr>
          <p:cNvPr id="7" name="Text 5"/>
          <p:cNvSpPr/>
          <p:nvPr/>
        </p:nvSpPr>
        <p:spPr>
          <a:xfrm>
            <a:off x="1047750" y="5518621"/>
            <a:ext cx="524545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optimises the aggregate; without a fairness weight it can leave one person waiting a long time.</a:t>
            </a:r>
            <a:endParaRPr lang="en-US" sz="2100" dirty="0"/>
          </a:p>
        </p:txBody>
      </p:sp>
      <p:sp>
        <p:nvSpPr>
          <p:cNvPr id="8" name="Shape 6"/>
          <p:cNvSpPr/>
          <p:nvPr/>
        </p:nvSpPr>
        <p:spPr>
          <a:xfrm>
            <a:off x="6597625" y="2202135"/>
            <a:ext cx="5092675" cy="76200"/>
          </a:xfrm>
          <a:prstGeom prst="rect">
            <a:avLst/>
          </a:prstGeom>
          <a:solidFill>
            <a:srgbClr val="D9762B"/>
          </a:solidFill>
          <a:ln/>
        </p:spPr>
        <p:txBody>
          <a:bodyPr/>
          <a:p/>
        </p:txBody>
      </p:sp>
      <p:sp>
        <p:nvSpPr>
          <p:cNvPr id="9" name="Text 7"/>
          <p:cNvSpPr/>
          <p:nvPr/>
        </p:nvSpPr>
        <p:spPr>
          <a:xfrm>
            <a:off x="6597625"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Nearest car</a:t>
            </a:r>
            <a:endParaRPr lang="en-US" sz="3000" dirty="0"/>
          </a:p>
        </p:txBody>
      </p:sp>
      <p:sp>
        <p:nvSpPr>
          <p:cNvPr id="10" name="Text 8"/>
          <p:cNvSpPr/>
          <p:nvPr/>
        </p:nvSpPr>
        <p:spPr>
          <a:xfrm>
            <a:off x="6597625"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distance</a:t>
            </a:r>
            <a:endParaRPr lang="en-US" sz="1800" dirty="0"/>
          </a:p>
        </p:txBody>
      </p:sp>
      <p:sp>
        <p:nvSpPr>
          <p:cNvPr id="11" name="Text 9"/>
          <p:cNvSpPr/>
          <p:nvPr/>
        </p:nvSpPr>
        <p:spPr>
          <a:xfrm>
            <a:off x="6597625" y="3583260"/>
            <a:ext cx="5245455"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Sends the closest car going the right way; a large penalty if the car is moving away or in the wrong direction.</a:t>
            </a:r>
            <a:endParaRPr lang="en-US" sz="2400" dirty="0"/>
          </a:p>
        </p:txBody>
      </p:sp>
      <p:sp>
        <p:nvSpPr>
          <p:cNvPr id="12" name="Text 10"/>
          <p:cNvSpPr/>
          <p:nvPr/>
        </p:nvSpPr>
        <p:spPr>
          <a:xfrm>
            <a:off x="6597625" y="5091931"/>
            <a:ext cx="524545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ignores how many stops the car already has — so it degrades as load rises.</a:t>
            </a:r>
            <a:endParaRPr lang="en-US" sz="2100" dirty="0"/>
          </a:p>
        </p:txBody>
      </p:sp>
      <p:sp>
        <p:nvSpPr>
          <p:cNvPr id="13" name="Shape 11"/>
          <p:cNvSpPr/>
          <p:nvPr/>
        </p:nvSpPr>
        <p:spPr>
          <a:xfrm>
            <a:off x="12147500" y="2202135"/>
            <a:ext cx="5092750" cy="76200"/>
          </a:xfrm>
          <a:prstGeom prst="rect">
            <a:avLst/>
          </a:prstGeom>
          <a:solidFill>
            <a:srgbClr val="2A9D74"/>
          </a:solidFill>
          <a:ln/>
        </p:spPr>
        <p:txBody>
          <a:bodyPr/>
          <a:p/>
        </p:txBody>
      </p:sp>
      <p:sp>
        <p:nvSpPr>
          <p:cNvPr id="14" name="Text 12"/>
          <p:cNvSpPr/>
          <p:nvPr/>
        </p:nvSpPr>
        <p:spPr>
          <a:xfrm>
            <a:off x="12147500" y="2545035"/>
            <a:ext cx="560202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Take turns</a:t>
            </a:r>
            <a:endParaRPr lang="en-US" sz="3000" dirty="0"/>
          </a:p>
        </p:txBody>
      </p:sp>
      <p:sp>
        <p:nvSpPr>
          <p:cNvPr id="15" name="Text 13"/>
          <p:cNvSpPr/>
          <p:nvPr/>
        </p:nvSpPr>
        <p:spPr>
          <a:xfrm>
            <a:off x="12147500" y="3049860"/>
            <a:ext cx="560202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round robin</a:t>
            </a:r>
            <a:endParaRPr lang="en-US" sz="1800" dirty="0"/>
          </a:p>
        </p:txBody>
      </p:sp>
      <p:sp>
        <p:nvSpPr>
          <p:cNvPr id="16" name="Text 14"/>
          <p:cNvSpPr/>
          <p:nvPr/>
        </p:nvSpPr>
        <p:spPr>
          <a:xfrm>
            <a:off x="12147500" y="3583260"/>
            <a:ext cx="5245532"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Cars take requests in strict rotation, wherever they are. It uses no information at all.</a:t>
            </a:r>
            <a:endParaRPr lang="en-US" sz="2400" dirty="0"/>
          </a:p>
        </p:txBody>
      </p:sp>
      <p:sp>
        <p:nvSpPr>
          <p:cNvPr id="17" name="Text 15"/>
          <p:cNvSpPr/>
          <p:nvPr/>
        </p:nvSpPr>
        <p:spPr>
          <a:xfrm>
            <a:off x="12147500" y="5091931"/>
            <a:ext cx="5245532"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nobody is singled out for a long wait; everybody waits longer.</a:t>
            </a:r>
            <a:endParaRPr lang="en-US" sz="2100" dirty="0"/>
          </a:p>
        </p:txBody>
      </p:sp>
      <p:sp>
        <p:nvSpPr>
          <p:cNvPr id="18" name="Text 16"/>
          <p:cNvSpPr/>
          <p:nvPr/>
        </p:nvSpPr>
        <p:spPr>
          <a:xfrm>
            <a:off x="1047750" y="7172027"/>
            <a:ext cx="1471612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Three policies sit on top of any rule: a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fairness weight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that makes long waits progressively more expensive to extend,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parking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idle cars at a chosen floor, and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zoning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cars to a range of floors.</a:t>
            </a:r>
            <a:endParaRPr lang="en-US" sz="2100" dirty="0"/>
          </a:p>
        </p:txBody>
      </p:sp>
      <p:sp>
        <p:nvSpPr>
          <p:cNvPr id="19"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 / 16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8009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Waiting time by scenario</a:t>
            </a:r>
            <a:endParaRPr lang="en-US" sz="5400" dirty="0"/>
          </a:p>
        </p:txBody>
      </p:sp>
      <p:sp>
        <p:nvSpPr>
          <p:cNvPr id="3" name="Text 1"/>
          <p:cNvSpPr/>
          <p:nvPr/>
        </p:nvSpPr>
        <p:spPr>
          <a:xfrm>
            <a:off x="12560871" y="1333500"/>
            <a:ext cx="51473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identical traffic per rule</a:t>
            </a:r>
            <a:endParaRPr lang="en-US" sz="1800" dirty="0"/>
          </a:p>
        </p:txBody>
      </p:sp>
      <p:sp>
        <p:nvSpPr>
          <p:cNvPr id="4" name="Shape 2"/>
          <p:cNvSpPr/>
          <p:nvPr/>
        </p:nvSpPr>
        <p:spPr>
          <a:xfrm>
            <a:off x="1047750" y="2049735"/>
            <a:ext cx="16192500" cy="5716339"/>
          </a:xfrm>
          <a:prstGeom prst="roundRect">
            <a:avLst>
              <a:gd name="adj" fmla="val 1666"/>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1285875" y="2325960"/>
            <a:ext cx="15716250" cy="5163889"/>
          </a:xfrm>
          <a:prstGeom prst="rect">
            <a:avLst/>
          </a:prstGeom>
        </p:spPr>
      </p:pic>
      <p:sp>
        <p:nvSpPr>
          <p:cNvPr id="6" name="Shape 3"/>
          <p:cNvSpPr/>
          <p:nvPr/>
        </p:nvSpPr>
        <p:spPr>
          <a:xfrm>
            <a:off x="1047750" y="8113737"/>
            <a:ext cx="152400" cy="152400"/>
          </a:xfrm>
          <a:prstGeom prst="roundRect">
            <a:avLst>
              <a:gd name="adj" fmla="val 25000"/>
            </a:avLst>
          </a:prstGeom>
          <a:solidFill>
            <a:srgbClr val="2F6FD0"/>
          </a:solidFill>
          <a:ln/>
        </p:spPr>
        <p:txBody>
          <a:bodyPr/>
          <a:p/>
        </p:txBody>
      </p:sp>
      <p:sp>
        <p:nvSpPr>
          <p:cNvPr id="7" name="Text 4"/>
          <p:cNvSpPr/>
          <p:nvPr/>
        </p:nvSpPr>
        <p:spPr>
          <a:xfrm>
            <a:off x="1314450" y="8032775"/>
            <a:ext cx="1818233"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Smart dispatch</a:t>
            </a:r>
            <a:endParaRPr lang="en-US" sz="2100" dirty="0"/>
          </a:p>
        </p:txBody>
      </p:sp>
      <p:sp>
        <p:nvSpPr>
          <p:cNvPr id="8" name="Shape 5"/>
          <p:cNvSpPr/>
          <p:nvPr/>
        </p:nvSpPr>
        <p:spPr>
          <a:xfrm>
            <a:off x="3437483" y="8113737"/>
            <a:ext cx="152400" cy="152400"/>
          </a:xfrm>
          <a:prstGeom prst="roundRect">
            <a:avLst>
              <a:gd name="adj" fmla="val 25000"/>
            </a:avLst>
          </a:prstGeom>
          <a:solidFill>
            <a:srgbClr val="D9762B"/>
          </a:solidFill>
          <a:ln/>
        </p:spPr>
        <p:txBody>
          <a:bodyPr/>
          <a:p/>
        </p:txBody>
      </p:sp>
      <p:sp>
        <p:nvSpPr>
          <p:cNvPr id="9" name="Text 6"/>
          <p:cNvSpPr/>
          <p:nvPr/>
        </p:nvSpPr>
        <p:spPr>
          <a:xfrm>
            <a:off x="3704183" y="8032775"/>
            <a:ext cx="139437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Nearest car</a:t>
            </a:r>
            <a:endParaRPr lang="en-US" sz="2100" dirty="0"/>
          </a:p>
        </p:txBody>
      </p:sp>
      <p:sp>
        <p:nvSpPr>
          <p:cNvPr id="10" name="Shape 7"/>
          <p:cNvSpPr/>
          <p:nvPr/>
        </p:nvSpPr>
        <p:spPr>
          <a:xfrm>
            <a:off x="5403354" y="8113737"/>
            <a:ext cx="152400" cy="152400"/>
          </a:xfrm>
          <a:prstGeom prst="roundRect">
            <a:avLst>
              <a:gd name="adj" fmla="val 25000"/>
            </a:avLst>
          </a:prstGeom>
          <a:solidFill>
            <a:srgbClr val="2A9D74"/>
          </a:solidFill>
          <a:ln/>
        </p:spPr>
        <p:txBody>
          <a:bodyPr/>
          <a:p/>
        </p:txBody>
      </p:sp>
      <p:sp>
        <p:nvSpPr>
          <p:cNvPr id="11" name="Text 8"/>
          <p:cNvSpPr/>
          <p:nvPr/>
        </p:nvSpPr>
        <p:spPr>
          <a:xfrm>
            <a:off x="5670054" y="8032775"/>
            <a:ext cx="124822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Take turns</a:t>
            </a:r>
            <a:endParaRPr lang="en-US" sz="2100" dirty="0"/>
          </a:p>
        </p:txBody>
      </p:sp>
      <p:sp>
        <p:nvSpPr>
          <p:cNvPr id="12" name="Text 9"/>
          <p:cNvSpPr/>
          <p:nvPr/>
        </p:nvSpPr>
        <p:spPr>
          <a:xfrm>
            <a:off x="9034016" y="8032775"/>
            <a:ext cx="9026857"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Lowest on every realistic pattern; the margin grows with height and load.</a:t>
            </a:r>
            <a:endParaRPr lang="en-US" sz="2100" dirty="0"/>
          </a:p>
        </p:txBody>
      </p:sp>
      <p:sp>
        <p:nvSpPr>
          <p:cNvPr id="13"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 / 16</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046980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Average wait per rule, per pattern</a:t>
            </a:r>
            <a:endParaRPr lang="en-US" sz="5400" dirty="0"/>
          </a:p>
        </p:txBody>
      </p:sp>
      <p:sp>
        <p:nvSpPr>
          <p:cNvPr id="3" name="Text 1"/>
          <p:cNvSpPr/>
          <p:nvPr/>
        </p:nvSpPr>
        <p:spPr>
          <a:xfrm>
            <a:off x="14212416" y="1333500"/>
            <a:ext cx="3330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lowest in bold</a:t>
            </a:r>
            <a:endParaRPr lang="en-US" sz="1800" dirty="0"/>
          </a:p>
        </p:txBody>
      </p:sp>
      <p:sp>
        <p:nvSpPr>
          <p:cNvPr id="4" name="Shape 2"/>
          <p:cNvSpPr/>
          <p:nvPr/>
        </p:nvSpPr>
        <p:spPr>
          <a:xfrm>
            <a:off x="1047750" y="2483123"/>
            <a:ext cx="5120283" cy="9525"/>
          </a:xfrm>
          <a:prstGeom prst="rect">
            <a:avLst/>
          </a:prstGeom>
          <a:solidFill>
            <a:srgbClr val="1C1B19"/>
          </a:solidFill>
          <a:ln/>
        </p:spPr>
        <p:txBody>
          <a:bodyPr/>
          <a:p/>
        </p:txBody>
      </p:sp>
      <p:sp>
        <p:nvSpPr>
          <p:cNvPr id="5" name="Text 3"/>
          <p:cNvSpPr/>
          <p:nvPr/>
        </p:nvSpPr>
        <p:spPr>
          <a:xfrm>
            <a:off x="1047750" y="2087835"/>
            <a:ext cx="5273891" cy="300038"/>
          </a:xfrm>
          <a:prstGeom prst="rect">
            <a:avLst/>
          </a:prstGeom>
          <a:noFill/>
          <a:ln/>
        </p:spPr>
        <p:txBody>
          <a:bodyPr wrap="square" lIns="25400" tIns="25400" rIns="25400" bIns="25400" rtlCol="0" anchor="ctr">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Scenario</a:t>
            </a:r>
            <a:endParaRPr lang="en-US" sz="1800" dirty="0"/>
          </a:p>
        </p:txBody>
      </p:sp>
      <p:sp>
        <p:nvSpPr>
          <p:cNvPr id="6" name="Shape 4"/>
          <p:cNvSpPr/>
          <p:nvPr/>
        </p:nvSpPr>
        <p:spPr>
          <a:xfrm>
            <a:off x="6168033" y="2483123"/>
            <a:ext cx="1041871" cy="9525"/>
          </a:xfrm>
          <a:prstGeom prst="rect">
            <a:avLst/>
          </a:prstGeom>
          <a:solidFill>
            <a:srgbClr val="1C1B19"/>
          </a:solidFill>
          <a:ln/>
        </p:spPr>
        <p:txBody>
          <a:bodyPr/>
          <a:p/>
        </p:txBody>
      </p:sp>
      <p:sp>
        <p:nvSpPr>
          <p:cNvPr id="7" name="Text 5"/>
          <p:cNvSpPr/>
          <p:nvPr/>
        </p:nvSpPr>
        <p:spPr>
          <a:xfrm>
            <a:off x="6282333" y="2087835"/>
            <a:ext cx="927571"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F6FD0"/>
                </a:solidFill>
                <a:latin typeface="Courier New" pitchFamily="34" charset="0"/>
                <a:ea typeface="Courier New" pitchFamily="34" charset="-122"/>
                <a:cs typeface="Courier New" pitchFamily="34" charset="-120"/>
              </a:rPr>
              <a:t>Smart</a:t>
            </a:r>
            <a:endParaRPr lang="en-US" sz="1800" dirty="0"/>
          </a:p>
        </p:txBody>
      </p:sp>
      <p:sp>
        <p:nvSpPr>
          <p:cNvPr id="8" name="Shape 6"/>
          <p:cNvSpPr/>
          <p:nvPr/>
        </p:nvSpPr>
        <p:spPr>
          <a:xfrm>
            <a:off x="7209904" y="2483123"/>
            <a:ext cx="1368326" cy="9525"/>
          </a:xfrm>
          <a:prstGeom prst="rect">
            <a:avLst/>
          </a:prstGeom>
          <a:solidFill>
            <a:srgbClr val="1C1B19"/>
          </a:solidFill>
          <a:ln/>
        </p:spPr>
        <p:txBody>
          <a:bodyPr/>
          <a:p/>
        </p:txBody>
      </p:sp>
      <p:sp>
        <p:nvSpPr>
          <p:cNvPr id="9" name="Text 7"/>
          <p:cNvSpPr/>
          <p:nvPr/>
        </p:nvSpPr>
        <p:spPr>
          <a:xfrm>
            <a:off x="7324204" y="2087835"/>
            <a:ext cx="1254026"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D9762B"/>
                </a:solidFill>
                <a:latin typeface="Courier New" pitchFamily="34" charset="0"/>
                <a:ea typeface="Courier New" pitchFamily="34" charset="-122"/>
                <a:cs typeface="Courier New" pitchFamily="34" charset="-120"/>
              </a:rPr>
              <a:t>Nearest</a:t>
            </a:r>
            <a:endParaRPr lang="en-US" sz="1800" dirty="0"/>
          </a:p>
        </p:txBody>
      </p:sp>
      <p:sp>
        <p:nvSpPr>
          <p:cNvPr id="10" name="Shape 8"/>
          <p:cNvSpPr/>
          <p:nvPr/>
        </p:nvSpPr>
        <p:spPr>
          <a:xfrm>
            <a:off x="8578230" y="2483123"/>
            <a:ext cx="1042020" cy="9525"/>
          </a:xfrm>
          <a:prstGeom prst="rect">
            <a:avLst/>
          </a:prstGeom>
          <a:solidFill>
            <a:srgbClr val="1C1B19"/>
          </a:solidFill>
          <a:ln/>
        </p:spPr>
        <p:txBody>
          <a:bodyPr/>
          <a:p/>
        </p:txBody>
      </p:sp>
      <p:sp>
        <p:nvSpPr>
          <p:cNvPr id="11" name="Text 9"/>
          <p:cNvSpPr/>
          <p:nvPr/>
        </p:nvSpPr>
        <p:spPr>
          <a:xfrm>
            <a:off x="8692530" y="2087835"/>
            <a:ext cx="927720"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A9D74"/>
                </a:solidFill>
                <a:latin typeface="Courier New" pitchFamily="34" charset="0"/>
                <a:ea typeface="Courier New" pitchFamily="34" charset="-122"/>
                <a:cs typeface="Courier New" pitchFamily="34" charset="-120"/>
              </a:rPr>
              <a:t>Turns</a:t>
            </a:r>
            <a:endParaRPr lang="en-US" sz="1800" dirty="0"/>
          </a:p>
        </p:txBody>
      </p:sp>
      <p:sp>
        <p:nvSpPr>
          <p:cNvPr id="12" name="Shape 10"/>
          <p:cNvSpPr/>
          <p:nvPr/>
        </p:nvSpPr>
        <p:spPr>
          <a:xfrm>
            <a:off x="1047750" y="3111773"/>
            <a:ext cx="5120283" cy="9525"/>
          </a:xfrm>
          <a:prstGeom prst="rect">
            <a:avLst/>
          </a:prstGeom>
          <a:solidFill>
            <a:srgbClr val="E1DFD9"/>
          </a:solidFill>
          <a:ln/>
        </p:spPr>
        <p:txBody>
          <a:bodyPr/>
          <a:p/>
        </p:txBody>
      </p:sp>
      <p:sp>
        <p:nvSpPr>
          <p:cNvPr id="13" name="Text 11"/>
          <p:cNvSpPr/>
          <p:nvPr/>
        </p:nvSpPr>
        <p:spPr>
          <a:xfrm>
            <a:off x="1047750" y="26450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Morning up-peak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14" name="Shape 12"/>
          <p:cNvSpPr/>
          <p:nvPr/>
        </p:nvSpPr>
        <p:spPr>
          <a:xfrm>
            <a:off x="6168033" y="3111773"/>
            <a:ext cx="1041871" cy="9525"/>
          </a:xfrm>
          <a:prstGeom prst="rect">
            <a:avLst/>
          </a:prstGeom>
          <a:solidFill>
            <a:srgbClr val="E1DFD9"/>
          </a:solidFill>
          <a:ln/>
        </p:spPr>
        <p:txBody>
          <a:bodyPr/>
          <a:p/>
        </p:txBody>
      </p:sp>
      <p:sp>
        <p:nvSpPr>
          <p:cNvPr id="15" name="Text 13"/>
          <p:cNvSpPr/>
          <p:nvPr/>
        </p:nvSpPr>
        <p:spPr>
          <a:xfrm>
            <a:off x="6282333" y="26450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7.1</a:t>
            </a:r>
            <a:endParaRPr lang="en-US" sz="2100" dirty="0"/>
          </a:p>
        </p:txBody>
      </p:sp>
      <p:sp>
        <p:nvSpPr>
          <p:cNvPr id="16" name="Shape 14"/>
          <p:cNvSpPr/>
          <p:nvPr/>
        </p:nvSpPr>
        <p:spPr>
          <a:xfrm>
            <a:off x="7209904" y="3111773"/>
            <a:ext cx="1368326" cy="9525"/>
          </a:xfrm>
          <a:prstGeom prst="rect">
            <a:avLst/>
          </a:prstGeom>
          <a:solidFill>
            <a:srgbClr val="E1DFD9"/>
          </a:solidFill>
          <a:ln/>
        </p:spPr>
        <p:txBody>
          <a:bodyPr/>
          <a:p/>
        </p:txBody>
      </p:sp>
      <p:sp>
        <p:nvSpPr>
          <p:cNvPr id="17" name="Text 15"/>
          <p:cNvSpPr/>
          <p:nvPr/>
        </p:nvSpPr>
        <p:spPr>
          <a:xfrm>
            <a:off x="7324204" y="26450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12.0</a:t>
            </a:r>
            <a:endParaRPr lang="en-US" sz="2100" dirty="0"/>
          </a:p>
        </p:txBody>
      </p:sp>
      <p:sp>
        <p:nvSpPr>
          <p:cNvPr id="18" name="Shape 16"/>
          <p:cNvSpPr/>
          <p:nvPr/>
        </p:nvSpPr>
        <p:spPr>
          <a:xfrm>
            <a:off x="8578230" y="3111773"/>
            <a:ext cx="1042020" cy="9525"/>
          </a:xfrm>
          <a:prstGeom prst="rect">
            <a:avLst/>
          </a:prstGeom>
          <a:solidFill>
            <a:srgbClr val="E1DFD9"/>
          </a:solidFill>
          <a:ln/>
        </p:spPr>
        <p:txBody>
          <a:bodyPr/>
          <a:p/>
        </p:txBody>
      </p:sp>
      <p:sp>
        <p:nvSpPr>
          <p:cNvPr id="19" name="Text 17"/>
          <p:cNvSpPr/>
          <p:nvPr/>
        </p:nvSpPr>
        <p:spPr>
          <a:xfrm>
            <a:off x="8692530" y="26450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16.5</a:t>
            </a:r>
            <a:endParaRPr lang="en-US" sz="2100" dirty="0"/>
          </a:p>
        </p:txBody>
      </p:sp>
      <p:sp>
        <p:nvSpPr>
          <p:cNvPr id="20" name="Shape 18"/>
          <p:cNvSpPr/>
          <p:nvPr/>
        </p:nvSpPr>
        <p:spPr>
          <a:xfrm>
            <a:off x="1047750" y="3740423"/>
            <a:ext cx="5120283" cy="9525"/>
          </a:xfrm>
          <a:prstGeom prst="rect">
            <a:avLst/>
          </a:prstGeom>
          <a:solidFill>
            <a:srgbClr val="E1DFD9"/>
          </a:solidFill>
          <a:ln/>
        </p:spPr>
        <p:txBody>
          <a:bodyPr/>
          <a:p/>
        </p:txBody>
      </p:sp>
      <p:sp>
        <p:nvSpPr>
          <p:cNvPr id="21" name="Text 19"/>
          <p:cNvSpPr/>
          <p:nvPr/>
        </p:nvSpPr>
        <p:spPr>
          <a:xfrm>
            <a:off x="1047750" y="32736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Lunch two-way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22" name="Shape 20"/>
          <p:cNvSpPr/>
          <p:nvPr/>
        </p:nvSpPr>
        <p:spPr>
          <a:xfrm>
            <a:off x="6168033" y="3740423"/>
            <a:ext cx="1041871" cy="9525"/>
          </a:xfrm>
          <a:prstGeom prst="rect">
            <a:avLst/>
          </a:prstGeom>
          <a:solidFill>
            <a:srgbClr val="E1DFD9"/>
          </a:solidFill>
          <a:ln/>
        </p:spPr>
        <p:txBody>
          <a:bodyPr/>
          <a:p/>
        </p:txBody>
      </p:sp>
      <p:sp>
        <p:nvSpPr>
          <p:cNvPr id="23" name="Text 21"/>
          <p:cNvSpPr/>
          <p:nvPr/>
        </p:nvSpPr>
        <p:spPr>
          <a:xfrm>
            <a:off x="6282333" y="32736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4.0</a:t>
            </a:r>
            <a:endParaRPr lang="en-US" sz="2100" dirty="0"/>
          </a:p>
        </p:txBody>
      </p:sp>
      <p:sp>
        <p:nvSpPr>
          <p:cNvPr id="24" name="Shape 22"/>
          <p:cNvSpPr/>
          <p:nvPr/>
        </p:nvSpPr>
        <p:spPr>
          <a:xfrm>
            <a:off x="7209904" y="3740423"/>
            <a:ext cx="1368326" cy="9525"/>
          </a:xfrm>
          <a:prstGeom prst="rect">
            <a:avLst/>
          </a:prstGeom>
          <a:solidFill>
            <a:srgbClr val="E1DFD9"/>
          </a:solidFill>
          <a:ln/>
        </p:spPr>
        <p:txBody>
          <a:bodyPr/>
          <a:p/>
        </p:txBody>
      </p:sp>
      <p:sp>
        <p:nvSpPr>
          <p:cNvPr id="25" name="Text 23"/>
          <p:cNvSpPr/>
          <p:nvPr/>
        </p:nvSpPr>
        <p:spPr>
          <a:xfrm>
            <a:off x="7324204" y="32736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6.9</a:t>
            </a:r>
            <a:endParaRPr lang="en-US" sz="2100" dirty="0"/>
          </a:p>
        </p:txBody>
      </p:sp>
      <p:sp>
        <p:nvSpPr>
          <p:cNvPr id="26" name="Shape 24"/>
          <p:cNvSpPr/>
          <p:nvPr/>
        </p:nvSpPr>
        <p:spPr>
          <a:xfrm>
            <a:off x="8578230" y="3740423"/>
            <a:ext cx="1042020" cy="9525"/>
          </a:xfrm>
          <a:prstGeom prst="rect">
            <a:avLst/>
          </a:prstGeom>
          <a:solidFill>
            <a:srgbClr val="E1DFD9"/>
          </a:solidFill>
          <a:ln/>
        </p:spPr>
        <p:txBody>
          <a:bodyPr/>
          <a:p/>
        </p:txBody>
      </p:sp>
      <p:sp>
        <p:nvSpPr>
          <p:cNvPr id="27" name="Text 25"/>
          <p:cNvSpPr/>
          <p:nvPr/>
        </p:nvSpPr>
        <p:spPr>
          <a:xfrm>
            <a:off x="8692530" y="32736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13.2</a:t>
            </a:r>
            <a:endParaRPr lang="en-US" sz="2100" dirty="0"/>
          </a:p>
        </p:txBody>
      </p:sp>
      <p:sp>
        <p:nvSpPr>
          <p:cNvPr id="28" name="Shape 26"/>
          <p:cNvSpPr/>
          <p:nvPr/>
        </p:nvSpPr>
        <p:spPr>
          <a:xfrm>
            <a:off x="1047750" y="4369073"/>
            <a:ext cx="5120283" cy="9525"/>
          </a:xfrm>
          <a:prstGeom prst="rect">
            <a:avLst/>
          </a:prstGeom>
          <a:solidFill>
            <a:srgbClr val="E1DFD9"/>
          </a:solidFill>
          <a:ln/>
        </p:spPr>
        <p:txBody>
          <a:bodyPr/>
          <a:p/>
        </p:txBody>
      </p:sp>
      <p:sp>
        <p:nvSpPr>
          <p:cNvPr id="29" name="Text 27"/>
          <p:cNvSpPr/>
          <p:nvPr/>
        </p:nvSpPr>
        <p:spPr>
          <a:xfrm>
            <a:off x="1047750" y="39023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Evening down-peak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0" name="Shape 28"/>
          <p:cNvSpPr/>
          <p:nvPr/>
        </p:nvSpPr>
        <p:spPr>
          <a:xfrm>
            <a:off x="6168033" y="4369073"/>
            <a:ext cx="1041871" cy="9525"/>
          </a:xfrm>
          <a:prstGeom prst="rect">
            <a:avLst/>
          </a:prstGeom>
          <a:solidFill>
            <a:srgbClr val="E1DFD9"/>
          </a:solidFill>
          <a:ln/>
        </p:spPr>
        <p:txBody>
          <a:bodyPr/>
          <a:p/>
        </p:txBody>
      </p:sp>
      <p:sp>
        <p:nvSpPr>
          <p:cNvPr id="31" name="Text 29"/>
          <p:cNvSpPr/>
          <p:nvPr/>
        </p:nvSpPr>
        <p:spPr>
          <a:xfrm>
            <a:off x="6282333" y="39023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7.6</a:t>
            </a:r>
            <a:endParaRPr lang="en-US" sz="2100" dirty="0"/>
          </a:p>
        </p:txBody>
      </p:sp>
      <p:sp>
        <p:nvSpPr>
          <p:cNvPr id="32" name="Shape 30"/>
          <p:cNvSpPr/>
          <p:nvPr/>
        </p:nvSpPr>
        <p:spPr>
          <a:xfrm>
            <a:off x="7209904" y="4369073"/>
            <a:ext cx="1368326" cy="9525"/>
          </a:xfrm>
          <a:prstGeom prst="rect">
            <a:avLst/>
          </a:prstGeom>
          <a:solidFill>
            <a:srgbClr val="E1DFD9"/>
          </a:solidFill>
          <a:ln/>
        </p:spPr>
        <p:txBody>
          <a:bodyPr/>
          <a:p/>
        </p:txBody>
      </p:sp>
      <p:sp>
        <p:nvSpPr>
          <p:cNvPr id="33" name="Text 31"/>
          <p:cNvSpPr/>
          <p:nvPr/>
        </p:nvSpPr>
        <p:spPr>
          <a:xfrm>
            <a:off x="7324204" y="39023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10.8</a:t>
            </a:r>
            <a:endParaRPr lang="en-US" sz="2100" dirty="0"/>
          </a:p>
        </p:txBody>
      </p:sp>
      <p:sp>
        <p:nvSpPr>
          <p:cNvPr id="34" name="Shape 32"/>
          <p:cNvSpPr/>
          <p:nvPr/>
        </p:nvSpPr>
        <p:spPr>
          <a:xfrm>
            <a:off x="8578230" y="4369073"/>
            <a:ext cx="1042020" cy="9525"/>
          </a:xfrm>
          <a:prstGeom prst="rect">
            <a:avLst/>
          </a:prstGeom>
          <a:solidFill>
            <a:srgbClr val="E1DFD9"/>
          </a:solidFill>
          <a:ln/>
        </p:spPr>
        <p:txBody>
          <a:bodyPr/>
          <a:p/>
        </p:txBody>
      </p:sp>
      <p:sp>
        <p:nvSpPr>
          <p:cNvPr id="35" name="Text 33"/>
          <p:cNvSpPr/>
          <p:nvPr/>
        </p:nvSpPr>
        <p:spPr>
          <a:xfrm>
            <a:off x="8692530" y="39023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17.9</a:t>
            </a:r>
            <a:endParaRPr lang="en-US" sz="2100" dirty="0"/>
          </a:p>
        </p:txBody>
      </p:sp>
      <p:sp>
        <p:nvSpPr>
          <p:cNvPr id="36" name="Shape 34"/>
          <p:cNvSpPr/>
          <p:nvPr/>
        </p:nvSpPr>
        <p:spPr>
          <a:xfrm>
            <a:off x="1047750" y="4997723"/>
            <a:ext cx="5120283" cy="9525"/>
          </a:xfrm>
          <a:prstGeom prst="rect">
            <a:avLst/>
          </a:prstGeom>
          <a:solidFill>
            <a:srgbClr val="E1DFD9"/>
          </a:solidFill>
          <a:ln/>
        </p:spPr>
        <p:txBody>
          <a:bodyPr/>
          <a:p/>
        </p:txBody>
      </p:sp>
      <p:sp>
        <p:nvSpPr>
          <p:cNvPr id="37" name="Text 35"/>
          <p:cNvSpPr/>
          <p:nvPr/>
        </p:nvSpPr>
        <p:spPr>
          <a:xfrm>
            <a:off x="1047750" y="45309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Quiet interfloor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8" name="Shape 36"/>
          <p:cNvSpPr/>
          <p:nvPr/>
        </p:nvSpPr>
        <p:spPr>
          <a:xfrm>
            <a:off x="6168033" y="4997723"/>
            <a:ext cx="1041871" cy="9525"/>
          </a:xfrm>
          <a:prstGeom prst="rect">
            <a:avLst/>
          </a:prstGeom>
          <a:solidFill>
            <a:srgbClr val="E1DFD9"/>
          </a:solidFill>
          <a:ln/>
        </p:spPr>
        <p:txBody>
          <a:bodyPr/>
          <a:p/>
        </p:txBody>
      </p:sp>
      <p:sp>
        <p:nvSpPr>
          <p:cNvPr id="39" name="Text 37"/>
          <p:cNvSpPr/>
          <p:nvPr/>
        </p:nvSpPr>
        <p:spPr>
          <a:xfrm>
            <a:off x="6282333" y="45309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3.9</a:t>
            </a:r>
            <a:endParaRPr lang="en-US" sz="2100" dirty="0"/>
          </a:p>
        </p:txBody>
      </p:sp>
      <p:sp>
        <p:nvSpPr>
          <p:cNvPr id="40" name="Shape 38"/>
          <p:cNvSpPr/>
          <p:nvPr/>
        </p:nvSpPr>
        <p:spPr>
          <a:xfrm>
            <a:off x="7209904" y="4997723"/>
            <a:ext cx="1368326" cy="9525"/>
          </a:xfrm>
          <a:prstGeom prst="rect">
            <a:avLst/>
          </a:prstGeom>
          <a:solidFill>
            <a:srgbClr val="E1DFD9"/>
          </a:solidFill>
          <a:ln/>
        </p:spPr>
        <p:txBody>
          <a:bodyPr/>
          <a:p/>
        </p:txBody>
      </p:sp>
      <p:sp>
        <p:nvSpPr>
          <p:cNvPr id="41" name="Text 39"/>
          <p:cNvSpPr/>
          <p:nvPr/>
        </p:nvSpPr>
        <p:spPr>
          <a:xfrm>
            <a:off x="7324204" y="45309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4.5</a:t>
            </a:r>
            <a:endParaRPr lang="en-US" sz="2100" dirty="0"/>
          </a:p>
        </p:txBody>
      </p:sp>
      <p:sp>
        <p:nvSpPr>
          <p:cNvPr id="42" name="Shape 40"/>
          <p:cNvSpPr/>
          <p:nvPr/>
        </p:nvSpPr>
        <p:spPr>
          <a:xfrm>
            <a:off x="8578230" y="4997723"/>
            <a:ext cx="1042020" cy="9525"/>
          </a:xfrm>
          <a:prstGeom prst="rect">
            <a:avLst/>
          </a:prstGeom>
          <a:solidFill>
            <a:srgbClr val="E1DFD9"/>
          </a:solidFill>
          <a:ln/>
        </p:spPr>
        <p:txBody>
          <a:bodyPr/>
          <a:p/>
        </p:txBody>
      </p:sp>
      <p:sp>
        <p:nvSpPr>
          <p:cNvPr id="43" name="Text 41"/>
          <p:cNvSpPr/>
          <p:nvPr/>
        </p:nvSpPr>
        <p:spPr>
          <a:xfrm>
            <a:off x="8692530" y="45309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8.1</a:t>
            </a:r>
            <a:endParaRPr lang="en-US" sz="2100" dirty="0"/>
          </a:p>
        </p:txBody>
      </p:sp>
      <p:sp>
        <p:nvSpPr>
          <p:cNvPr id="44" name="Shape 42"/>
          <p:cNvSpPr/>
          <p:nvPr/>
        </p:nvSpPr>
        <p:spPr>
          <a:xfrm>
            <a:off x="1047750" y="5626373"/>
            <a:ext cx="5120283" cy="9525"/>
          </a:xfrm>
          <a:prstGeom prst="rect">
            <a:avLst/>
          </a:prstGeom>
          <a:solidFill>
            <a:srgbClr val="E1DFD9"/>
          </a:solidFill>
          <a:ln/>
        </p:spPr>
        <p:txBody>
          <a:bodyPr/>
          <a:p/>
        </p:txBody>
      </p:sp>
      <p:sp>
        <p:nvSpPr>
          <p:cNvPr id="45" name="Text 43"/>
          <p:cNvSpPr/>
          <p:nvPr/>
        </p:nvSpPr>
        <p:spPr>
          <a:xfrm>
            <a:off x="1047750" y="51596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Tower </a:t>
            </a:r>
            <a:pPr algn="l" indent="0" marL="0">
              <a:buNone/>
            </a:pPr>
            <a:r>
              <a:rPr lang="en-US" sz="2100" dirty="0">
                <a:solidFill>
                  <a:srgbClr val="7A786F"/>
                </a:solidFill>
                <a:latin typeface="Arial" pitchFamily="34" charset="0"/>
                <a:ea typeface="Arial" pitchFamily="34" charset="-122"/>
                <a:cs typeface="Arial" pitchFamily="34" charset="-120"/>
              </a:rPr>
              <a:t>· 51 floors, 6 cars</a:t>
            </a:r>
            <a:endParaRPr lang="en-US" sz="2100" dirty="0"/>
          </a:p>
        </p:txBody>
      </p:sp>
      <p:sp>
        <p:nvSpPr>
          <p:cNvPr id="46" name="Shape 44"/>
          <p:cNvSpPr/>
          <p:nvPr/>
        </p:nvSpPr>
        <p:spPr>
          <a:xfrm>
            <a:off x="6168033" y="5626373"/>
            <a:ext cx="1041871" cy="9525"/>
          </a:xfrm>
          <a:prstGeom prst="rect">
            <a:avLst/>
          </a:prstGeom>
          <a:solidFill>
            <a:srgbClr val="E1DFD9"/>
          </a:solidFill>
          <a:ln/>
        </p:spPr>
        <p:txBody>
          <a:bodyPr/>
          <a:p/>
        </p:txBody>
      </p:sp>
      <p:sp>
        <p:nvSpPr>
          <p:cNvPr id="47" name="Text 45"/>
          <p:cNvSpPr/>
          <p:nvPr/>
        </p:nvSpPr>
        <p:spPr>
          <a:xfrm>
            <a:off x="6282333" y="51596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18.3</a:t>
            </a:r>
            <a:endParaRPr lang="en-US" sz="2100" dirty="0"/>
          </a:p>
        </p:txBody>
      </p:sp>
      <p:sp>
        <p:nvSpPr>
          <p:cNvPr id="48" name="Shape 46"/>
          <p:cNvSpPr/>
          <p:nvPr/>
        </p:nvSpPr>
        <p:spPr>
          <a:xfrm>
            <a:off x="7209904" y="5626373"/>
            <a:ext cx="1368326" cy="9525"/>
          </a:xfrm>
          <a:prstGeom prst="rect">
            <a:avLst/>
          </a:prstGeom>
          <a:solidFill>
            <a:srgbClr val="E1DFD9"/>
          </a:solidFill>
          <a:ln/>
        </p:spPr>
        <p:txBody>
          <a:bodyPr/>
          <a:p/>
        </p:txBody>
      </p:sp>
      <p:sp>
        <p:nvSpPr>
          <p:cNvPr id="49" name="Text 47"/>
          <p:cNvSpPr/>
          <p:nvPr/>
        </p:nvSpPr>
        <p:spPr>
          <a:xfrm>
            <a:off x="7324204" y="51596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67.1</a:t>
            </a:r>
            <a:endParaRPr lang="en-US" sz="2100" dirty="0"/>
          </a:p>
        </p:txBody>
      </p:sp>
      <p:sp>
        <p:nvSpPr>
          <p:cNvPr id="50" name="Shape 48"/>
          <p:cNvSpPr/>
          <p:nvPr/>
        </p:nvSpPr>
        <p:spPr>
          <a:xfrm>
            <a:off x="8578230" y="5626373"/>
            <a:ext cx="1042020" cy="9525"/>
          </a:xfrm>
          <a:prstGeom prst="rect">
            <a:avLst/>
          </a:prstGeom>
          <a:solidFill>
            <a:srgbClr val="E1DFD9"/>
          </a:solidFill>
          <a:ln/>
        </p:spPr>
        <p:txBody>
          <a:bodyPr/>
          <a:p/>
        </p:txBody>
      </p:sp>
      <p:sp>
        <p:nvSpPr>
          <p:cNvPr id="51" name="Text 49"/>
          <p:cNvSpPr/>
          <p:nvPr/>
        </p:nvSpPr>
        <p:spPr>
          <a:xfrm>
            <a:off x="8692530" y="51596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51.4</a:t>
            </a:r>
            <a:endParaRPr lang="en-US" sz="2100" dirty="0"/>
          </a:p>
        </p:txBody>
      </p:sp>
      <p:sp>
        <p:nvSpPr>
          <p:cNvPr id="52" name="Shape 50"/>
          <p:cNvSpPr/>
          <p:nvPr/>
        </p:nvSpPr>
        <p:spPr>
          <a:xfrm>
            <a:off x="1047750" y="6255023"/>
            <a:ext cx="5120283" cy="9525"/>
          </a:xfrm>
          <a:prstGeom prst="rect">
            <a:avLst/>
          </a:prstGeom>
          <a:solidFill>
            <a:srgbClr val="E1DFD9"/>
          </a:solidFill>
          <a:ln/>
        </p:spPr>
        <p:txBody>
          <a:bodyPr/>
          <a:p/>
        </p:txBody>
      </p:sp>
      <p:sp>
        <p:nvSpPr>
          <p:cNvPr id="53" name="Text 51"/>
          <p:cNvSpPr/>
          <p:nvPr/>
        </p:nvSpPr>
        <p:spPr>
          <a:xfrm>
            <a:off x="1047750" y="57882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Lobby burst </a:t>
            </a:r>
            <a:pPr algn="l" indent="0" marL="0">
              <a:buNone/>
            </a:pPr>
            <a:r>
              <a:rPr lang="en-US" sz="2100" dirty="0">
                <a:solidFill>
                  <a:srgbClr val="7A786F"/>
                </a:solidFill>
                <a:latin typeface="Arial" pitchFamily="34" charset="0"/>
                <a:ea typeface="Arial" pitchFamily="34" charset="-122"/>
                <a:cs typeface="Arial" pitchFamily="34" charset="-120"/>
              </a:rPr>
              <a:t>· 20 floors, 2 cars × 6</a:t>
            </a:r>
            <a:endParaRPr lang="en-US" sz="2100" dirty="0"/>
          </a:p>
        </p:txBody>
      </p:sp>
      <p:sp>
        <p:nvSpPr>
          <p:cNvPr id="54" name="Shape 52"/>
          <p:cNvSpPr/>
          <p:nvPr/>
        </p:nvSpPr>
        <p:spPr>
          <a:xfrm>
            <a:off x="6168033" y="6255023"/>
            <a:ext cx="1041871" cy="9525"/>
          </a:xfrm>
          <a:prstGeom prst="rect">
            <a:avLst/>
          </a:prstGeom>
          <a:solidFill>
            <a:srgbClr val="E1DFD9"/>
          </a:solidFill>
          <a:ln/>
        </p:spPr>
        <p:txBody>
          <a:bodyPr/>
          <a:p/>
        </p:txBody>
      </p:sp>
      <p:sp>
        <p:nvSpPr>
          <p:cNvPr id="55" name="Text 53"/>
          <p:cNvSpPr/>
          <p:nvPr/>
        </p:nvSpPr>
        <p:spPr>
          <a:xfrm>
            <a:off x="6282333" y="5788298"/>
            <a:ext cx="927571"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60.3</a:t>
            </a:r>
            <a:endParaRPr lang="en-US" sz="2100" dirty="0"/>
          </a:p>
        </p:txBody>
      </p:sp>
      <p:sp>
        <p:nvSpPr>
          <p:cNvPr id="56" name="Shape 54"/>
          <p:cNvSpPr/>
          <p:nvPr/>
        </p:nvSpPr>
        <p:spPr>
          <a:xfrm>
            <a:off x="7209904" y="6255023"/>
            <a:ext cx="1368326" cy="9525"/>
          </a:xfrm>
          <a:prstGeom prst="rect">
            <a:avLst/>
          </a:prstGeom>
          <a:solidFill>
            <a:srgbClr val="E1DFD9"/>
          </a:solidFill>
          <a:ln/>
        </p:spPr>
        <p:txBody>
          <a:bodyPr/>
          <a:p/>
        </p:txBody>
      </p:sp>
      <p:sp>
        <p:nvSpPr>
          <p:cNvPr id="57" name="Text 55"/>
          <p:cNvSpPr/>
          <p:nvPr/>
        </p:nvSpPr>
        <p:spPr>
          <a:xfrm>
            <a:off x="7324204" y="57882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76.2</a:t>
            </a:r>
            <a:endParaRPr lang="en-US" sz="2100" dirty="0"/>
          </a:p>
        </p:txBody>
      </p:sp>
      <p:sp>
        <p:nvSpPr>
          <p:cNvPr id="58" name="Shape 56"/>
          <p:cNvSpPr/>
          <p:nvPr/>
        </p:nvSpPr>
        <p:spPr>
          <a:xfrm>
            <a:off x="8578230" y="6255023"/>
            <a:ext cx="1042020" cy="9525"/>
          </a:xfrm>
          <a:prstGeom prst="rect">
            <a:avLst/>
          </a:prstGeom>
          <a:solidFill>
            <a:srgbClr val="E1DFD9"/>
          </a:solidFill>
          <a:ln/>
        </p:spPr>
        <p:txBody>
          <a:bodyPr/>
          <a:p/>
        </p:txBody>
      </p:sp>
      <p:sp>
        <p:nvSpPr>
          <p:cNvPr id="59" name="Text 57"/>
          <p:cNvSpPr/>
          <p:nvPr/>
        </p:nvSpPr>
        <p:spPr>
          <a:xfrm>
            <a:off x="8692530" y="5788298"/>
            <a:ext cx="927720"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60.1</a:t>
            </a:r>
            <a:endParaRPr lang="en-US" sz="2100" dirty="0"/>
          </a:p>
        </p:txBody>
      </p:sp>
      <p:sp>
        <p:nvSpPr>
          <p:cNvPr id="60" name="Text 58"/>
          <p:cNvSpPr/>
          <p:nvPr/>
        </p:nvSpPr>
        <p:spPr>
          <a:xfrm>
            <a:off x="10382250" y="2087835"/>
            <a:ext cx="75438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TWO CASES THAT GO THE OTHER WAY</a:t>
            </a:r>
            <a:endParaRPr lang="en-US" sz="1800" dirty="0"/>
          </a:p>
        </p:txBody>
      </p:sp>
      <p:sp>
        <p:nvSpPr>
          <p:cNvPr id="61" name="Text 59"/>
          <p:cNvSpPr/>
          <p:nvPr/>
        </p:nvSpPr>
        <p:spPr>
          <a:xfrm>
            <a:off x="10382250" y="2697435"/>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Lobby burst: a tie</a:t>
            </a:r>
            <a:endParaRPr lang="en-US" sz="2400" dirty="0"/>
          </a:p>
        </p:txBody>
      </p:sp>
      <p:sp>
        <p:nvSpPr>
          <p:cNvPr id="62" name="Text 60"/>
          <p:cNvSpPr/>
          <p:nvPr/>
        </p:nvSpPr>
        <p:spPr>
          <a:xfrm>
            <a:off x="10382250" y="3173685"/>
            <a:ext cx="7063740"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60.3 against 60.1. Every request has the same origin and the system is saturated; the only lever left is spreading load evenly, which take turns does by construction.</a:t>
            </a:r>
            <a:endParaRPr lang="en-US" sz="2100" dirty="0"/>
          </a:p>
        </p:txBody>
      </p:sp>
      <p:sp>
        <p:nvSpPr>
          <p:cNvPr id="63" name="Text 61"/>
          <p:cNvSpPr/>
          <p:nvPr/>
        </p:nvSpPr>
        <p:spPr>
          <a:xfrm>
            <a:off x="10382250" y="4636591"/>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The brief’s sample: nearest car wins</a:t>
            </a:r>
            <a:endParaRPr lang="en-US" sz="2400" dirty="0"/>
          </a:p>
        </p:txBody>
      </p:sp>
      <p:sp>
        <p:nvSpPr>
          <p:cNvPr id="64" name="Text 62"/>
          <p:cNvSpPr/>
          <p:nvPr/>
        </p:nvSpPr>
        <p:spPr>
          <a:xfrm>
            <a:off x="10382250" y="5112841"/>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6.3 against 15.0 on three passengers. Smart dispatch splits two lobby passengers across both cars to save a stop, leaving no idle car for the third request. A greedy rule with no view of the future can lose on tiny inputs — which is why the scenarios, not the sample, are the basis for judgement.</a:t>
            </a:r>
            <a:endParaRPr lang="en-US" sz="2100" dirty="0"/>
          </a:p>
        </p:txBody>
      </p:sp>
      <p:sp>
        <p:nvSpPr>
          <p:cNvPr id="65" name="Text 6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66" name="Text 6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08 / 16</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0818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cars are used</a:t>
            </a:r>
            <a:endParaRPr lang="en-US" sz="5400" dirty="0"/>
          </a:p>
        </p:txBody>
      </p:sp>
      <p:sp>
        <p:nvSpPr>
          <p:cNvPr id="3" name="Text 1"/>
          <p:cNvSpPr/>
          <p:nvPr/>
        </p:nvSpPr>
        <p:spPr>
          <a:xfrm>
            <a:off x="8844855" y="1333500"/>
            <a:ext cx="92349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busy = aboard or assigned · spread = busiest − least busy car</a:t>
            </a:r>
            <a:endParaRPr lang="en-US" sz="1800" dirty="0"/>
          </a:p>
        </p:txBody>
      </p:sp>
      <p:sp>
        <p:nvSpPr>
          <p:cNvPr id="4" name="Shape 2"/>
          <p:cNvSpPr/>
          <p:nvPr/>
        </p:nvSpPr>
        <p:spPr>
          <a:xfrm>
            <a:off x="1047750" y="1973535"/>
            <a:ext cx="16192500" cy="4781550"/>
          </a:xfrm>
          <a:prstGeom prst="roundRect">
            <a:avLst>
              <a:gd name="adj" fmla="val 1992"/>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476500" y="2173560"/>
            <a:ext cx="13335000" cy="4381500"/>
          </a:xfrm>
          <a:prstGeom prst="rect">
            <a:avLst/>
          </a:prstGeom>
        </p:spPr>
      </p:pic>
      <p:sp>
        <p:nvSpPr>
          <p:cNvPr id="6" name="Shape 3"/>
          <p:cNvSpPr/>
          <p:nvPr/>
        </p:nvSpPr>
        <p:spPr>
          <a:xfrm>
            <a:off x="1047750" y="7059885"/>
            <a:ext cx="5092675" cy="19050"/>
          </a:xfrm>
          <a:prstGeom prst="rect">
            <a:avLst/>
          </a:prstGeom>
          <a:solidFill>
            <a:srgbClr val="1C1B19"/>
          </a:solidFill>
          <a:ln/>
        </p:spPr>
        <p:txBody>
          <a:bodyPr/>
          <a:p/>
        </p:txBody>
      </p:sp>
      <p:sp>
        <p:nvSpPr>
          <p:cNvPr id="7" name="Text 4"/>
          <p:cNvSpPr/>
          <p:nvPr/>
        </p:nvSpPr>
        <p:spPr>
          <a:xfrm>
            <a:off x="1047750" y="7202760"/>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62%</a:t>
            </a:r>
            <a:endParaRPr lang="en-US" sz="4200" dirty="0"/>
          </a:p>
        </p:txBody>
      </p:sp>
      <p:sp>
        <p:nvSpPr>
          <p:cNvPr id="8" name="Text 5"/>
          <p:cNvSpPr/>
          <p:nvPr/>
        </p:nvSpPr>
        <p:spPr>
          <a:xfrm>
            <a:off x="2237333" y="7459935"/>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9" name="Text 6"/>
          <p:cNvSpPr/>
          <p:nvPr/>
        </p:nvSpPr>
        <p:spPr>
          <a:xfrm>
            <a:off x="2599506" y="7202760"/>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89%</a:t>
            </a:r>
            <a:endParaRPr lang="en-US" sz="4200" dirty="0"/>
          </a:p>
        </p:txBody>
      </p:sp>
      <p:sp>
        <p:nvSpPr>
          <p:cNvPr id="10" name="Text 7"/>
          <p:cNvSpPr/>
          <p:nvPr/>
        </p:nvSpPr>
        <p:spPr>
          <a:xfrm>
            <a:off x="3789090" y="7459935"/>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11" name="Text 8"/>
          <p:cNvSpPr/>
          <p:nvPr/>
        </p:nvSpPr>
        <p:spPr>
          <a:xfrm>
            <a:off x="4151263" y="7202760"/>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95%</a:t>
            </a:r>
            <a:endParaRPr lang="en-US" sz="4200" dirty="0"/>
          </a:p>
        </p:txBody>
      </p:sp>
      <p:sp>
        <p:nvSpPr>
          <p:cNvPr id="12" name="Text 9"/>
          <p:cNvSpPr/>
          <p:nvPr/>
        </p:nvSpPr>
        <p:spPr>
          <a:xfrm>
            <a:off x="1047750" y="7898085"/>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Least car-time for the same job.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Cars busy in the morning peak; fewer stops per trip is less travel per passenger.</a:t>
            </a:r>
            <a:endParaRPr lang="en-US" sz="2100" dirty="0"/>
          </a:p>
        </p:txBody>
      </p:sp>
      <p:sp>
        <p:nvSpPr>
          <p:cNvPr id="13" name="Shape 10"/>
          <p:cNvSpPr/>
          <p:nvPr/>
        </p:nvSpPr>
        <p:spPr>
          <a:xfrm>
            <a:off x="6597625" y="7059885"/>
            <a:ext cx="5092675" cy="19050"/>
          </a:xfrm>
          <a:prstGeom prst="rect">
            <a:avLst/>
          </a:prstGeom>
          <a:solidFill>
            <a:srgbClr val="1C1B19"/>
          </a:solidFill>
          <a:ln/>
        </p:spPr>
        <p:txBody>
          <a:bodyPr/>
          <a:p/>
        </p:txBody>
      </p:sp>
      <p:sp>
        <p:nvSpPr>
          <p:cNvPr id="14" name="Text 11"/>
          <p:cNvSpPr/>
          <p:nvPr/>
        </p:nvSpPr>
        <p:spPr>
          <a:xfrm>
            <a:off x="6597625" y="7250385"/>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36%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fair share 25%</a:t>
            </a:r>
            <a:endParaRPr lang="en-US" sz="4200" dirty="0"/>
          </a:p>
        </p:txBody>
      </p:sp>
      <p:sp>
        <p:nvSpPr>
          <p:cNvPr id="15" name="Text 12"/>
          <p:cNvSpPr/>
          <p:nvPr/>
        </p:nvSpPr>
        <p:spPr>
          <a:xfrm>
            <a:off x="6597625" y="7898085"/>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But the work is shared least evenly.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One car in four carries 36% of the morning passengers.</a:t>
            </a:r>
            <a:endParaRPr lang="en-US" sz="2100" dirty="0"/>
          </a:p>
        </p:txBody>
      </p:sp>
      <p:sp>
        <p:nvSpPr>
          <p:cNvPr id="16" name="Shape 13"/>
          <p:cNvSpPr/>
          <p:nvPr/>
        </p:nvSpPr>
        <p:spPr>
          <a:xfrm>
            <a:off x="12147500" y="7059885"/>
            <a:ext cx="5092750" cy="19050"/>
          </a:xfrm>
          <a:prstGeom prst="rect">
            <a:avLst/>
          </a:prstGeom>
          <a:solidFill>
            <a:srgbClr val="1C1B19"/>
          </a:solidFill>
          <a:ln/>
        </p:spPr>
        <p:txBody>
          <a:bodyPr/>
          <a:p/>
        </p:txBody>
      </p:sp>
      <p:sp>
        <p:nvSpPr>
          <p:cNvPr id="17" name="Text 14"/>
          <p:cNvSpPr/>
          <p:nvPr/>
        </p:nvSpPr>
        <p:spPr>
          <a:xfrm>
            <a:off x="12147500" y="7250385"/>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30 → 18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 21 → 5 · 33 → 10</a:t>
            </a:r>
            <a:endParaRPr lang="en-US" sz="4200" dirty="0"/>
          </a:p>
        </p:txBody>
      </p:sp>
      <p:sp>
        <p:nvSpPr>
          <p:cNvPr id="18" name="Text 15"/>
          <p:cNvSpPr/>
          <p:nvPr/>
        </p:nvSpPr>
        <p:spPr>
          <a:xfrm>
            <a:off x="12147500" y="7898085"/>
            <a:ext cx="5245532"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The fairness weight evens the cars as a side effect.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Spread in points — morning, lunch, tall lobby. One knob, two benefits.</a:t>
            </a:r>
            <a:endParaRPr lang="en-US" sz="2100" dirty="0"/>
          </a:p>
        </p:txBody>
      </p:sp>
      <p:sp>
        <p:nvSpPr>
          <p:cNvPr id="19"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09 / 16</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SWITCHING TO THE BROWSER</a:t>
            </a:r>
            <a:endParaRPr lang="en-US" sz="1800" dirty="0"/>
          </a:p>
        </p:txBody>
      </p:sp>
      <p:sp>
        <p:nvSpPr>
          <p:cNvPr id="3" name="Text 1"/>
          <p:cNvSpPr/>
          <p:nvPr/>
        </p:nvSpPr>
        <p:spPr>
          <a:xfrm>
            <a:off x="1047750" y="1371600"/>
            <a:ext cx="8082573"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F6F5F2"/>
                </a:solidFill>
                <a:latin typeface="Arial" pitchFamily="34" charset="0"/>
                <a:ea typeface="Arial" pitchFamily="34" charset="-122"/>
                <a:cs typeface="Arial" pitchFamily="34" charset="-120"/>
              </a:rPr>
              <a:t>The live simulator</a:t>
            </a:r>
            <a:endParaRPr lang="en-US" sz="5400" dirty="0"/>
          </a:p>
        </p:txBody>
      </p:sp>
      <p:sp>
        <p:nvSpPr>
          <p:cNvPr id="4" name="Text 2"/>
          <p:cNvSpPr/>
          <p:nvPr/>
        </p:nvSpPr>
        <p:spPr>
          <a:xfrm>
            <a:off x="1047750" y="2316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5" name="Text 3"/>
          <p:cNvSpPr/>
          <p:nvPr/>
        </p:nvSpPr>
        <p:spPr>
          <a:xfrm>
            <a:off x="1047750" y="3421335"/>
            <a:ext cx="80825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WHAT TO WATCH FOR</a:t>
            </a:r>
            <a:endParaRPr lang="en-US" sz="1800" dirty="0"/>
          </a:p>
        </p:txBody>
      </p:sp>
      <p:sp>
        <p:nvSpPr>
          <p:cNvPr id="6" name="Text 4"/>
          <p:cNvSpPr/>
          <p:nvPr/>
        </p:nvSpPr>
        <p:spPr>
          <a:xfrm>
            <a:off x="1047750" y="3878535"/>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7" name="Text 5"/>
          <p:cNvSpPr/>
          <p:nvPr/>
        </p:nvSpPr>
        <p:spPr>
          <a:xfrm>
            <a:off x="1543050" y="3878535"/>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Three rules, one building, the same 160 people — the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ranking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updates live.</a:t>
            </a:r>
            <a:endParaRPr lang="en-US" sz="2400" dirty="0"/>
          </a:p>
        </p:txBody>
      </p:sp>
      <p:sp>
        <p:nvSpPr>
          <p:cNvPr id="8" name="Text 6"/>
          <p:cNvSpPr/>
          <p:nvPr/>
        </p:nvSpPr>
        <p:spPr>
          <a:xfrm>
            <a:off x="1047750" y="4891906"/>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9" name="Text 7"/>
          <p:cNvSpPr/>
          <p:nvPr/>
        </p:nvSpPr>
        <p:spPr>
          <a:xfrm>
            <a:off x="1543050" y="4891906"/>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Amber dots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are people waiting. Watch where they pile up under each rule.</a:t>
            </a:r>
            <a:endParaRPr lang="en-US" sz="2400" dirty="0"/>
          </a:p>
        </p:txBody>
      </p:sp>
      <p:sp>
        <p:nvSpPr>
          <p:cNvPr id="10" name="Text 8"/>
          <p:cNvSpPr/>
          <p:nvPr/>
        </p:nvSpPr>
        <p:spPr>
          <a:xfrm>
            <a:off x="1047750" y="5905277"/>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1" name="Text 9"/>
          <p:cNvSpPr/>
          <p:nvPr/>
        </p:nvSpPr>
        <p:spPr>
          <a:xfrm>
            <a:off x="1543050" y="5905277"/>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The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usage strip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under each building: one bar per car, filled by busy share — see which cars sit out.</a:t>
            </a:r>
            <a:endParaRPr lang="en-US" sz="2400" dirty="0"/>
          </a:p>
        </p:txBody>
      </p:sp>
      <p:sp>
        <p:nvSpPr>
          <p:cNvPr id="12" name="Text 10"/>
          <p:cNvSpPr/>
          <p:nvPr/>
        </p:nvSpPr>
        <p:spPr>
          <a:xfrm>
            <a:off x="1047750" y="6918647"/>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3" name="Text 11"/>
          <p:cNvSpPr/>
          <p:nvPr/>
        </p:nvSpPr>
        <p:spPr>
          <a:xfrm>
            <a:off x="1543050" y="6918647"/>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Click a floor to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add a passenger</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 tick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park at lobby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and restart.</a:t>
            </a:r>
            <a:endParaRPr lang="en-US" sz="2400" dirty="0"/>
          </a:p>
        </p:txBody>
      </p:sp>
      <p:sp>
        <p:nvSpPr>
          <p:cNvPr id="14" name="Shape 12"/>
          <p:cNvSpPr/>
          <p:nvPr/>
        </p:nvSpPr>
        <p:spPr>
          <a:xfrm>
            <a:off x="9157543" y="1371600"/>
            <a:ext cx="8082707" cy="5123111"/>
          </a:xfrm>
          <a:prstGeom prst="roundRect">
            <a:avLst>
              <a:gd name="adj" fmla="val 1859"/>
            </a:avLst>
          </a:prstGeom>
          <a:solidFill>
            <a:srgbClr val="FFFFFF"/>
          </a:solidFill>
          <a:ln/>
          <a:effectLst>
            <a:outerShdw sx="100000" sy="100000" kx="0" ky="0" algn="bl" rotWithShape="0" blurRad="571500" dist="190500" dir="5400000">
              <a:srgbClr val="000000">
                <a:alpha val="35000"/>
              </a:srgbClr>
            </a:outerShdw>
          </a:effectLst>
        </p:spPr>
        <p:txBody>
          <a:bodyPr/>
          <a:p/>
        </p:txBody>
      </p:sp>
      <p:pic>
        <p:nvPicPr>
          <p:cNvPr id="15" name="Image 0" descr="preencoded.png">    </p:cNvPr>
          <p:cNvPicPr>
            <a:picLocks noChangeAspect="1"/>
          </p:cNvPicPr>
          <p:nvPr/>
        </p:nvPicPr>
        <p:blipFill>
          <a:blip r:embed="rId1"/>
          <a:stretch>
            <a:fillRect/>
          </a:stretch>
        </p:blipFill>
        <p:spPr>
          <a:xfrm>
            <a:off x="9252793" y="1466850"/>
            <a:ext cx="7892207" cy="4932611"/>
          </a:xfrm>
          <a:prstGeom prst="rect">
            <a:avLst/>
          </a:prstGeom>
        </p:spPr>
      </p:pic>
      <p:sp>
        <p:nvSpPr>
          <p:cNvPr id="16" name="Text 1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7" name="Text 1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10 / 16</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35257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Which rule, which policy, for which building</a:t>
            </a:r>
            <a:endParaRPr lang="en-US" sz="5400" dirty="0"/>
          </a:p>
        </p:txBody>
      </p:sp>
      <p:sp>
        <p:nvSpPr>
          <p:cNvPr id="3" name="Text 1"/>
          <p:cNvSpPr/>
          <p:nvPr/>
        </p:nvSpPr>
        <p:spPr>
          <a:xfrm>
            <a:off x="14625265" y="1333500"/>
            <a:ext cx="287648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average wait, ticks</a:t>
            </a:r>
            <a:endParaRPr lang="en-US" sz="1800" dirty="0"/>
          </a:p>
        </p:txBody>
      </p:sp>
      <p:sp>
        <p:nvSpPr>
          <p:cNvPr id="4" name="Shape 2"/>
          <p:cNvSpPr/>
          <p:nvPr/>
        </p:nvSpPr>
        <p:spPr>
          <a:xfrm>
            <a:off x="1047750" y="2292623"/>
            <a:ext cx="4857750" cy="9525"/>
          </a:xfrm>
          <a:prstGeom prst="rect">
            <a:avLst/>
          </a:prstGeom>
          <a:solidFill>
            <a:srgbClr val="1C1B19"/>
          </a:solidFill>
          <a:ln/>
        </p:spPr>
        <p:txBody>
          <a:bodyPr/>
          <a:p/>
        </p:txBody>
      </p:sp>
      <p:sp>
        <p:nvSpPr>
          <p:cNvPr id="5" name="Text 3"/>
          <p:cNvSpPr/>
          <p:nvPr/>
        </p:nvSpPr>
        <p:spPr>
          <a:xfrm>
            <a:off x="1047750" y="1897335"/>
            <a:ext cx="5003483"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Building and traffic</a:t>
            </a:r>
            <a:endParaRPr lang="en-US" sz="1800" dirty="0"/>
          </a:p>
        </p:txBody>
      </p:sp>
      <p:sp>
        <p:nvSpPr>
          <p:cNvPr id="6" name="Shape 4"/>
          <p:cNvSpPr/>
          <p:nvPr/>
        </p:nvSpPr>
        <p:spPr>
          <a:xfrm>
            <a:off x="5905500" y="2292623"/>
            <a:ext cx="7448550" cy="9525"/>
          </a:xfrm>
          <a:prstGeom prst="rect">
            <a:avLst/>
          </a:prstGeom>
          <a:solidFill>
            <a:srgbClr val="1C1B19"/>
          </a:solidFill>
          <a:ln/>
        </p:spPr>
        <p:txBody>
          <a:bodyPr/>
          <a:p/>
        </p:txBody>
      </p:sp>
      <p:sp>
        <p:nvSpPr>
          <p:cNvPr id="7" name="Text 5"/>
          <p:cNvSpPr/>
          <p:nvPr/>
        </p:nvSpPr>
        <p:spPr>
          <a:xfrm>
            <a:off x="6134100" y="1897335"/>
            <a:ext cx="7214807"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Choose</a:t>
            </a:r>
            <a:endParaRPr lang="en-US" sz="1800" dirty="0"/>
          </a:p>
        </p:txBody>
      </p:sp>
      <p:sp>
        <p:nvSpPr>
          <p:cNvPr id="8" name="Shape 6"/>
          <p:cNvSpPr/>
          <p:nvPr/>
        </p:nvSpPr>
        <p:spPr>
          <a:xfrm>
            <a:off x="13354050" y="2292623"/>
            <a:ext cx="3886200" cy="9525"/>
          </a:xfrm>
          <a:prstGeom prst="rect">
            <a:avLst/>
          </a:prstGeom>
          <a:solidFill>
            <a:srgbClr val="1C1B19"/>
          </a:solidFill>
          <a:ln/>
        </p:spPr>
        <p:txBody>
          <a:bodyPr/>
          <a:p/>
        </p:txBody>
      </p:sp>
      <p:sp>
        <p:nvSpPr>
          <p:cNvPr id="9" name="Text 7"/>
          <p:cNvSpPr/>
          <p:nvPr/>
        </p:nvSpPr>
        <p:spPr>
          <a:xfrm>
            <a:off x="13354050" y="1897335"/>
            <a:ext cx="4002786"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Evidence</a:t>
            </a:r>
            <a:endParaRPr lang="en-US" sz="1800" dirty="0"/>
          </a:p>
        </p:txBody>
      </p:sp>
      <p:sp>
        <p:nvSpPr>
          <p:cNvPr id="10" name="Shape 8"/>
          <p:cNvSpPr/>
          <p:nvPr/>
        </p:nvSpPr>
        <p:spPr>
          <a:xfrm>
            <a:off x="1047750" y="3026048"/>
            <a:ext cx="4857750" cy="9525"/>
          </a:xfrm>
          <a:prstGeom prst="rect">
            <a:avLst/>
          </a:prstGeom>
          <a:solidFill>
            <a:srgbClr val="E1DFD9"/>
          </a:solidFill>
          <a:ln/>
        </p:spPr>
        <p:txBody>
          <a:bodyPr/>
          <a:p/>
        </p:txBody>
      </p:sp>
      <p:sp>
        <p:nvSpPr>
          <p:cNvPr id="11" name="Text 9"/>
          <p:cNvSpPr/>
          <p:nvPr/>
        </p:nvSpPr>
        <p:spPr>
          <a:xfrm>
            <a:off x="1047750" y="237834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Ordinary office, moderate traffic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≤20 floors</a:t>
            </a:r>
            <a:endParaRPr lang="en-US" sz="1800" dirty="0"/>
          </a:p>
        </p:txBody>
      </p:sp>
      <p:sp>
        <p:nvSpPr>
          <p:cNvPr id="12" name="Shape 10"/>
          <p:cNvSpPr/>
          <p:nvPr/>
        </p:nvSpPr>
        <p:spPr>
          <a:xfrm>
            <a:off x="5905500" y="3026048"/>
            <a:ext cx="7448550" cy="9525"/>
          </a:xfrm>
          <a:prstGeom prst="rect">
            <a:avLst/>
          </a:prstGeom>
          <a:solidFill>
            <a:srgbClr val="E1DFD9"/>
          </a:solidFill>
          <a:ln/>
        </p:spPr>
        <p:txBody>
          <a:bodyPr/>
          <a:p/>
        </p:txBody>
      </p:sp>
      <p:sp>
        <p:nvSpPr>
          <p:cNvPr id="13" name="Text 11"/>
          <p:cNvSpPr/>
          <p:nvPr/>
        </p:nvSpPr>
        <p:spPr>
          <a:xfrm>
            <a:off x="6134100" y="237834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29–42% shorter average wait than nearest car on the three peaks; p90 halved in morning and evening.</a:t>
            </a:r>
            <a:endParaRPr lang="en-US" sz="1800" dirty="0"/>
          </a:p>
        </p:txBody>
      </p:sp>
      <p:sp>
        <p:nvSpPr>
          <p:cNvPr id="14" name="Shape 12"/>
          <p:cNvSpPr/>
          <p:nvPr/>
        </p:nvSpPr>
        <p:spPr>
          <a:xfrm>
            <a:off x="13354050" y="3026048"/>
            <a:ext cx="3886200" cy="9525"/>
          </a:xfrm>
          <a:prstGeom prst="rect">
            <a:avLst/>
          </a:prstGeom>
          <a:solidFill>
            <a:srgbClr val="E1DFD9"/>
          </a:solidFill>
          <a:ln/>
        </p:spPr>
        <p:txBody>
          <a:bodyPr/>
          <a:p/>
        </p:txBody>
      </p:sp>
      <p:sp>
        <p:nvSpPr>
          <p:cNvPr id="15" name="Text 13"/>
          <p:cNvSpPr/>
          <p:nvPr/>
        </p:nvSpPr>
        <p:spPr>
          <a:xfrm>
            <a:off x="13354050" y="237834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 four patterns, one direction</a:t>
            </a:r>
            <a:endParaRPr lang="en-US" sz="1800" dirty="0"/>
          </a:p>
        </p:txBody>
      </p:sp>
      <p:sp>
        <p:nvSpPr>
          <p:cNvPr id="16" name="Shape 14"/>
          <p:cNvSpPr/>
          <p:nvPr/>
        </p:nvSpPr>
        <p:spPr>
          <a:xfrm>
            <a:off x="1047750" y="3759473"/>
            <a:ext cx="4857750" cy="9525"/>
          </a:xfrm>
          <a:prstGeom prst="rect">
            <a:avLst/>
          </a:prstGeom>
          <a:solidFill>
            <a:srgbClr val="E1DFD9"/>
          </a:solidFill>
          <a:ln/>
        </p:spPr>
        <p:txBody>
          <a:bodyPr/>
          <a:p/>
        </p:txBody>
      </p:sp>
      <p:sp>
        <p:nvSpPr>
          <p:cNvPr id="17" name="Text 15"/>
          <p:cNvSpPr/>
          <p:nvPr/>
        </p:nvSpPr>
        <p:spPr>
          <a:xfrm>
            <a:off x="1047750" y="311177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Quiet, interfloor traffic</a:t>
            </a:r>
            <a:endParaRPr lang="en-US" sz="1800" dirty="0"/>
          </a:p>
        </p:txBody>
      </p:sp>
      <p:sp>
        <p:nvSpPr>
          <p:cNvPr id="18" name="Shape 16"/>
          <p:cNvSpPr/>
          <p:nvPr/>
        </p:nvSpPr>
        <p:spPr>
          <a:xfrm>
            <a:off x="5905500" y="3759473"/>
            <a:ext cx="7448550" cy="9525"/>
          </a:xfrm>
          <a:prstGeom prst="rect">
            <a:avLst/>
          </a:prstGeom>
          <a:solidFill>
            <a:srgbClr val="E1DFD9"/>
          </a:solidFill>
          <a:ln/>
        </p:spPr>
        <p:txBody>
          <a:bodyPr/>
          <a:p/>
        </p:txBody>
      </p:sp>
      <p:sp>
        <p:nvSpPr>
          <p:cNvPr id="19" name="Text 17"/>
          <p:cNvSpPr/>
          <p:nvPr/>
        </p:nvSpPr>
        <p:spPr>
          <a:xfrm>
            <a:off x="6134100" y="311177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but by 13% — a nearest-car controller is within 15% here.</a:t>
            </a:r>
            <a:endParaRPr lang="en-US" sz="1800" dirty="0"/>
          </a:p>
        </p:txBody>
      </p:sp>
      <p:sp>
        <p:nvSpPr>
          <p:cNvPr id="20" name="Shape 18"/>
          <p:cNvSpPr/>
          <p:nvPr/>
        </p:nvSpPr>
        <p:spPr>
          <a:xfrm>
            <a:off x="13354050" y="3759473"/>
            <a:ext cx="3886200" cy="9525"/>
          </a:xfrm>
          <a:prstGeom prst="rect">
            <a:avLst/>
          </a:prstGeom>
          <a:solidFill>
            <a:srgbClr val="E1DFD9"/>
          </a:solidFill>
          <a:ln/>
        </p:spPr>
        <p:txBody>
          <a:bodyPr/>
          <a:p/>
        </p:txBody>
      </p:sp>
      <p:sp>
        <p:nvSpPr>
          <p:cNvPr id="21" name="Text 19"/>
          <p:cNvSpPr/>
          <p:nvPr/>
        </p:nvSpPr>
        <p:spPr>
          <a:xfrm>
            <a:off x="13354050" y="311177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One pattern</a:t>
            </a:r>
            <a:endParaRPr lang="en-US" sz="1800" dirty="0"/>
          </a:p>
        </p:txBody>
      </p:sp>
      <p:sp>
        <p:nvSpPr>
          <p:cNvPr id="22" name="Shape 20"/>
          <p:cNvSpPr/>
          <p:nvPr/>
        </p:nvSpPr>
        <p:spPr>
          <a:xfrm>
            <a:off x="1047750" y="4492898"/>
            <a:ext cx="4857750" cy="9525"/>
          </a:xfrm>
          <a:prstGeom prst="rect">
            <a:avLst/>
          </a:prstGeom>
          <a:solidFill>
            <a:srgbClr val="E1DFD9"/>
          </a:solidFill>
          <a:ln/>
        </p:spPr>
        <p:txBody>
          <a:bodyPr/>
          <a:p/>
        </p:txBody>
      </p:sp>
      <p:sp>
        <p:nvSpPr>
          <p:cNvPr id="23" name="Text 21"/>
          <p:cNvSpPr/>
          <p:nvPr/>
        </p:nvSpPr>
        <p:spPr>
          <a:xfrm>
            <a:off x="1047750" y="384519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Tall building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~50 floors</a:t>
            </a:r>
            <a:endParaRPr lang="en-US" sz="1800" dirty="0"/>
          </a:p>
        </p:txBody>
      </p:sp>
      <p:sp>
        <p:nvSpPr>
          <p:cNvPr id="24" name="Shape 22"/>
          <p:cNvSpPr/>
          <p:nvPr/>
        </p:nvSpPr>
        <p:spPr>
          <a:xfrm>
            <a:off x="5905500" y="4492898"/>
            <a:ext cx="7448550" cy="9525"/>
          </a:xfrm>
          <a:prstGeom prst="rect">
            <a:avLst/>
          </a:prstGeom>
          <a:solidFill>
            <a:srgbClr val="E1DFD9"/>
          </a:solidFill>
          <a:ln/>
        </p:spPr>
        <p:txBody>
          <a:bodyPr/>
          <a:p/>
        </p:txBody>
      </p:sp>
      <p:sp>
        <p:nvSpPr>
          <p:cNvPr id="25" name="Text 23"/>
          <p:cNvSpPr/>
          <p:nvPr/>
        </p:nvSpPr>
        <p:spPr>
          <a:xfrm>
            <a:off x="6134100" y="384519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nearest car costs 3.6× on average wait and a 230-tick maximum against 108.</a:t>
            </a:r>
            <a:endParaRPr lang="en-US" sz="1800" dirty="0"/>
          </a:p>
        </p:txBody>
      </p:sp>
      <p:sp>
        <p:nvSpPr>
          <p:cNvPr id="26" name="Shape 24"/>
          <p:cNvSpPr/>
          <p:nvPr/>
        </p:nvSpPr>
        <p:spPr>
          <a:xfrm>
            <a:off x="13354050" y="4492898"/>
            <a:ext cx="3886200" cy="9525"/>
          </a:xfrm>
          <a:prstGeom prst="rect">
            <a:avLst/>
          </a:prstGeom>
          <a:solidFill>
            <a:srgbClr val="E1DFD9"/>
          </a:solidFill>
          <a:ln/>
        </p:spPr>
        <p:txBody>
          <a:bodyPr/>
          <a:p/>
        </p:txBody>
      </p:sp>
      <p:sp>
        <p:nvSpPr>
          <p:cNvPr id="27" name="Text 25"/>
          <p:cNvSpPr/>
          <p:nvPr/>
        </p:nvSpPr>
        <p:spPr>
          <a:xfrm>
            <a:off x="13354050" y="384519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on direction · one building</a:t>
            </a:r>
            <a:endParaRPr lang="en-US" sz="1800" dirty="0"/>
          </a:p>
        </p:txBody>
      </p:sp>
      <p:sp>
        <p:nvSpPr>
          <p:cNvPr id="28" name="Shape 26"/>
          <p:cNvSpPr/>
          <p:nvPr/>
        </p:nvSpPr>
        <p:spPr>
          <a:xfrm>
            <a:off x="1047750" y="5226323"/>
            <a:ext cx="4857750" cy="9525"/>
          </a:xfrm>
          <a:prstGeom prst="rect">
            <a:avLst/>
          </a:prstGeom>
          <a:solidFill>
            <a:srgbClr val="E1DFD9"/>
          </a:solidFill>
          <a:ln/>
        </p:spPr>
        <p:txBody>
          <a:bodyPr/>
          <a:p/>
        </p:txBody>
      </p:sp>
      <p:sp>
        <p:nvSpPr>
          <p:cNvPr id="29" name="Text 27"/>
          <p:cNvSpPr/>
          <p:nvPr/>
        </p:nvSpPr>
        <p:spPr>
          <a:xfrm>
            <a:off x="1047750" y="457862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Where the tail matters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hospitals, hotels</a:t>
            </a:r>
            <a:endParaRPr lang="en-US" sz="1800" dirty="0"/>
          </a:p>
        </p:txBody>
      </p:sp>
      <p:sp>
        <p:nvSpPr>
          <p:cNvPr id="30" name="Shape 28"/>
          <p:cNvSpPr/>
          <p:nvPr/>
        </p:nvSpPr>
        <p:spPr>
          <a:xfrm>
            <a:off x="5905500" y="5226323"/>
            <a:ext cx="7448550" cy="9525"/>
          </a:xfrm>
          <a:prstGeom prst="rect">
            <a:avLst/>
          </a:prstGeom>
          <a:solidFill>
            <a:srgbClr val="E1DFD9"/>
          </a:solidFill>
          <a:ln/>
        </p:spPr>
        <p:txBody>
          <a:bodyPr/>
          <a:p/>
        </p:txBody>
      </p:sp>
      <p:sp>
        <p:nvSpPr>
          <p:cNvPr id="31" name="Text 29"/>
          <p:cNvSpPr/>
          <p:nvPr/>
        </p:nvSpPr>
        <p:spPr>
          <a:xfrm>
            <a:off x="6134100" y="457862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Add the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Tower max wait 108 → 56; average 18.3 → 22.9. Tune per building.</a:t>
            </a:r>
            <a:endParaRPr lang="en-US" sz="1800" dirty="0"/>
          </a:p>
        </p:txBody>
      </p:sp>
      <p:sp>
        <p:nvSpPr>
          <p:cNvPr id="32" name="Shape 30"/>
          <p:cNvSpPr/>
          <p:nvPr/>
        </p:nvSpPr>
        <p:spPr>
          <a:xfrm>
            <a:off x="13354050" y="5226323"/>
            <a:ext cx="3886200" cy="9525"/>
          </a:xfrm>
          <a:prstGeom prst="rect">
            <a:avLst/>
          </a:prstGeom>
          <a:solidFill>
            <a:srgbClr val="E1DFD9"/>
          </a:solidFill>
          <a:ln/>
        </p:spPr>
        <p:txBody>
          <a:bodyPr/>
          <a:p/>
        </p:txBody>
      </p:sp>
      <p:sp>
        <p:nvSpPr>
          <p:cNvPr id="33" name="Text 31"/>
          <p:cNvSpPr/>
          <p:nvPr/>
        </p:nvSpPr>
        <p:spPr>
          <a:xfrm>
            <a:off x="13354050" y="457862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on tower and burst · weak on offices</a:t>
            </a:r>
            <a:endParaRPr lang="en-US" sz="1800" dirty="0"/>
          </a:p>
        </p:txBody>
      </p:sp>
      <p:sp>
        <p:nvSpPr>
          <p:cNvPr id="34" name="Shape 32"/>
          <p:cNvSpPr/>
          <p:nvPr/>
        </p:nvSpPr>
        <p:spPr>
          <a:xfrm>
            <a:off x="1047750" y="5959748"/>
            <a:ext cx="4857750" cy="9525"/>
          </a:xfrm>
          <a:prstGeom prst="rect">
            <a:avLst/>
          </a:prstGeom>
          <a:solidFill>
            <a:srgbClr val="E1DFD9"/>
          </a:solidFill>
          <a:ln/>
        </p:spPr>
        <p:txBody>
          <a:bodyPr/>
          <a:p/>
        </p:txBody>
      </p:sp>
      <p:sp>
        <p:nvSpPr>
          <p:cNvPr id="35" name="Text 33"/>
          <p:cNvSpPr/>
          <p:nvPr/>
        </p:nvSpPr>
        <p:spPr>
          <a:xfrm>
            <a:off x="1047750" y="531204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Morning up-peak, known lobby</a:t>
            </a:r>
            <a:endParaRPr lang="en-US" sz="1800" dirty="0"/>
          </a:p>
        </p:txBody>
      </p:sp>
      <p:sp>
        <p:nvSpPr>
          <p:cNvPr id="36" name="Shape 34"/>
          <p:cNvSpPr/>
          <p:nvPr/>
        </p:nvSpPr>
        <p:spPr>
          <a:xfrm>
            <a:off x="5905500" y="5959748"/>
            <a:ext cx="7448550" cy="9525"/>
          </a:xfrm>
          <a:prstGeom prst="rect">
            <a:avLst/>
          </a:prstGeom>
          <a:solidFill>
            <a:srgbClr val="E1DFD9"/>
          </a:solidFill>
          <a:ln/>
        </p:spPr>
        <p:txBody>
          <a:bodyPr/>
          <a:p/>
        </p:txBody>
      </p:sp>
      <p:sp>
        <p:nvSpPr>
          <p:cNvPr id="37" name="Text 35"/>
          <p:cNvSpPr/>
          <p:nvPr/>
        </p:nvSpPr>
        <p:spPr>
          <a:xfrm>
            <a:off x="6134100" y="531204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Park idle cars at the lobby.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7.1 → 4.3 average, p90 16 → 11. Should follow time of day.</a:t>
            </a:r>
            <a:endParaRPr lang="en-US" sz="1800" dirty="0"/>
          </a:p>
        </p:txBody>
      </p:sp>
      <p:sp>
        <p:nvSpPr>
          <p:cNvPr id="38" name="Shape 36"/>
          <p:cNvSpPr/>
          <p:nvPr/>
        </p:nvSpPr>
        <p:spPr>
          <a:xfrm>
            <a:off x="13354050" y="5959748"/>
            <a:ext cx="3886200" cy="9525"/>
          </a:xfrm>
          <a:prstGeom prst="rect">
            <a:avLst/>
          </a:prstGeom>
          <a:solidFill>
            <a:srgbClr val="E1DFD9"/>
          </a:solidFill>
          <a:ln/>
        </p:spPr>
        <p:txBody>
          <a:bodyPr/>
          <a:p/>
        </p:txBody>
      </p:sp>
      <p:sp>
        <p:nvSpPr>
          <p:cNvPr id="39" name="Text 37"/>
          <p:cNvSpPr/>
          <p:nvPr/>
        </p:nvSpPr>
        <p:spPr>
          <a:xfrm>
            <a:off x="13354050" y="531204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One pattern · large, mechanistic</a:t>
            </a:r>
            <a:endParaRPr lang="en-US" sz="1800" dirty="0"/>
          </a:p>
        </p:txBody>
      </p:sp>
      <p:sp>
        <p:nvSpPr>
          <p:cNvPr id="40" name="Shape 38"/>
          <p:cNvSpPr/>
          <p:nvPr/>
        </p:nvSpPr>
        <p:spPr>
          <a:xfrm>
            <a:off x="1047750" y="6978923"/>
            <a:ext cx="4857750" cy="9525"/>
          </a:xfrm>
          <a:prstGeom prst="rect">
            <a:avLst/>
          </a:prstGeom>
          <a:solidFill>
            <a:srgbClr val="E1DFD9"/>
          </a:solidFill>
          <a:ln/>
        </p:spPr>
        <p:txBody>
          <a:bodyPr/>
          <a:p/>
        </p:txBody>
      </p:sp>
      <p:sp>
        <p:nvSpPr>
          <p:cNvPr id="41" name="Text 39"/>
          <p:cNvSpPr/>
          <p:nvPr/>
        </p:nvSpPr>
        <p:spPr>
          <a:xfrm>
            <a:off x="1047750" y="6045473"/>
            <a:ext cx="5003483"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Even wear across cars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per-car maintenance</a:t>
            </a:r>
            <a:endParaRPr lang="en-US" sz="1800" dirty="0"/>
          </a:p>
        </p:txBody>
      </p:sp>
      <p:sp>
        <p:nvSpPr>
          <p:cNvPr id="42" name="Shape 40"/>
          <p:cNvSpPr/>
          <p:nvPr/>
        </p:nvSpPr>
        <p:spPr>
          <a:xfrm>
            <a:off x="5905500" y="6978923"/>
            <a:ext cx="7448550" cy="9525"/>
          </a:xfrm>
          <a:prstGeom prst="rect">
            <a:avLst/>
          </a:prstGeom>
          <a:solidFill>
            <a:srgbClr val="E1DFD9"/>
          </a:solidFill>
          <a:ln/>
        </p:spPr>
        <p:txBody>
          <a:bodyPr/>
          <a:p/>
        </p:txBody>
      </p:sp>
      <p:sp>
        <p:nvSpPr>
          <p:cNvPr id="43" name="Text 41"/>
          <p:cNvSpPr/>
          <p:nvPr/>
        </p:nvSpPr>
        <p:spPr>
          <a:xfrm>
            <a:off x="6134100" y="6045473"/>
            <a:ext cx="7214807"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Add the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spread falls to 5–18 points on offices, 10 on towers. Do not switch to take-turns: it evens cars by working all of them more.</a:t>
            </a:r>
            <a:endParaRPr lang="en-US" sz="1800" dirty="0"/>
          </a:p>
        </p:txBody>
      </p:sp>
      <p:sp>
        <p:nvSpPr>
          <p:cNvPr id="44" name="Shape 42"/>
          <p:cNvSpPr/>
          <p:nvPr/>
        </p:nvSpPr>
        <p:spPr>
          <a:xfrm>
            <a:off x="13354050" y="6978923"/>
            <a:ext cx="3886200" cy="9525"/>
          </a:xfrm>
          <a:prstGeom prst="rect">
            <a:avLst/>
          </a:prstGeom>
          <a:solidFill>
            <a:srgbClr val="E1DFD9"/>
          </a:solidFill>
          <a:ln/>
        </p:spPr>
        <p:txBody>
          <a:bodyPr/>
          <a:p/>
        </p:txBody>
      </p:sp>
      <p:sp>
        <p:nvSpPr>
          <p:cNvPr id="45" name="Text 43"/>
          <p:cNvSpPr/>
          <p:nvPr/>
        </p:nvSpPr>
        <p:spPr>
          <a:xfrm>
            <a:off x="13354050" y="6045473"/>
            <a:ext cx="4002786"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Direction consistent, nine scenarios · wear not modelled</a:t>
            </a:r>
            <a:endParaRPr lang="en-US" sz="1800" dirty="0"/>
          </a:p>
        </p:txBody>
      </p:sp>
      <p:sp>
        <p:nvSpPr>
          <p:cNvPr id="46" name="Shape 44"/>
          <p:cNvSpPr/>
          <p:nvPr/>
        </p:nvSpPr>
        <p:spPr>
          <a:xfrm>
            <a:off x="1047750" y="7426598"/>
            <a:ext cx="4857750" cy="9525"/>
          </a:xfrm>
          <a:prstGeom prst="rect">
            <a:avLst/>
          </a:prstGeom>
          <a:solidFill>
            <a:srgbClr val="E1DFD9"/>
          </a:solidFill>
          <a:ln/>
        </p:spPr>
        <p:txBody>
          <a:bodyPr/>
          <a:p/>
        </p:txBody>
      </p:sp>
      <p:sp>
        <p:nvSpPr>
          <p:cNvPr id="47" name="Text 45"/>
          <p:cNvSpPr/>
          <p:nvPr/>
        </p:nvSpPr>
        <p:spPr>
          <a:xfrm>
            <a:off x="1047750" y="7064648"/>
            <a:ext cx="5003483" cy="32385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Saturation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more people than cars can move</a:t>
            </a:r>
            <a:endParaRPr lang="en-US" sz="1800" dirty="0"/>
          </a:p>
        </p:txBody>
      </p:sp>
      <p:sp>
        <p:nvSpPr>
          <p:cNvPr id="48" name="Shape 46"/>
          <p:cNvSpPr/>
          <p:nvPr/>
        </p:nvSpPr>
        <p:spPr>
          <a:xfrm>
            <a:off x="5905500" y="7426598"/>
            <a:ext cx="7448550" cy="9525"/>
          </a:xfrm>
          <a:prstGeom prst="rect">
            <a:avLst/>
          </a:prstGeom>
          <a:solidFill>
            <a:srgbClr val="E1DFD9"/>
          </a:solidFill>
          <a:ln/>
        </p:spPr>
        <p:txBody>
          <a:bodyPr/>
          <a:p/>
        </p:txBody>
      </p:sp>
      <p:sp>
        <p:nvSpPr>
          <p:cNvPr id="49" name="Text 47"/>
          <p:cNvSpPr/>
          <p:nvPr/>
        </p:nvSpPr>
        <p:spPr>
          <a:xfrm>
            <a:off x="6134100" y="7064648"/>
            <a:ext cx="7214807" cy="3238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No rule fixes a capacity problem. The levers are cars and capacity.</a:t>
            </a:r>
            <a:endParaRPr lang="en-US" sz="1800" dirty="0"/>
          </a:p>
        </p:txBody>
      </p:sp>
      <p:sp>
        <p:nvSpPr>
          <p:cNvPr id="50" name="Shape 48"/>
          <p:cNvSpPr/>
          <p:nvPr/>
        </p:nvSpPr>
        <p:spPr>
          <a:xfrm>
            <a:off x="13354050" y="7426598"/>
            <a:ext cx="3886200" cy="9525"/>
          </a:xfrm>
          <a:prstGeom prst="rect">
            <a:avLst/>
          </a:prstGeom>
          <a:solidFill>
            <a:srgbClr val="E1DFD9"/>
          </a:solidFill>
          <a:ln/>
        </p:spPr>
        <p:txBody>
          <a:bodyPr/>
          <a:p/>
        </p:txBody>
      </p:sp>
      <p:sp>
        <p:nvSpPr>
          <p:cNvPr id="51" name="Text 49"/>
          <p:cNvSpPr/>
          <p:nvPr/>
        </p:nvSpPr>
        <p:spPr>
          <a:xfrm>
            <a:off x="13354050" y="7064648"/>
            <a:ext cx="4002786" cy="3238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One pattern</a:t>
            </a:r>
            <a:endParaRPr lang="en-US" sz="1800" dirty="0"/>
          </a:p>
        </p:txBody>
      </p:sp>
      <p:sp>
        <p:nvSpPr>
          <p:cNvPr id="52" name="Shape 50"/>
          <p:cNvSpPr/>
          <p:nvPr/>
        </p:nvSpPr>
        <p:spPr>
          <a:xfrm>
            <a:off x="1047750" y="8160023"/>
            <a:ext cx="4857750" cy="9525"/>
          </a:xfrm>
          <a:prstGeom prst="rect">
            <a:avLst/>
          </a:prstGeom>
          <a:solidFill>
            <a:srgbClr val="E1DFD9"/>
          </a:solidFill>
          <a:ln/>
        </p:spPr>
        <p:txBody>
          <a:bodyPr/>
          <a:p/>
        </p:txBody>
      </p:sp>
      <p:sp>
        <p:nvSpPr>
          <p:cNvPr id="53" name="Text 51"/>
          <p:cNvSpPr/>
          <p:nvPr/>
        </p:nvSpPr>
        <p:spPr>
          <a:xfrm>
            <a:off x="1047750" y="751232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Zoning and express cars</a:t>
            </a:r>
            <a:endParaRPr lang="en-US" sz="1800" dirty="0"/>
          </a:p>
        </p:txBody>
      </p:sp>
      <p:sp>
        <p:nvSpPr>
          <p:cNvPr id="54" name="Shape 52"/>
          <p:cNvSpPr/>
          <p:nvPr/>
        </p:nvSpPr>
        <p:spPr>
          <a:xfrm>
            <a:off x="5905500" y="8160023"/>
            <a:ext cx="7448550" cy="9525"/>
          </a:xfrm>
          <a:prstGeom prst="rect">
            <a:avLst/>
          </a:prstGeom>
          <a:solidFill>
            <a:srgbClr val="E1DFD9"/>
          </a:solidFill>
          <a:ln/>
        </p:spPr>
        <p:txBody>
          <a:bodyPr/>
          <a:p/>
        </p:txBody>
      </p:sp>
      <p:sp>
        <p:nvSpPr>
          <p:cNvPr id="55" name="Text 53"/>
          <p:cNvSpPr/>
          <p:nvPr/>
        </p:nvSpPr>
        <p:spPr>
          <a:xfrm>
            <a:off x="6134100" y="751232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Do not zone to cut waits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at moderate load: 21.4 → 25.8 average, max 56 → 79. A saturation measure.</a:t>
            </a:r>
            <a:endParaRPr lang="en-US" sz="1800" dirty="0"/>
          </a:p>
        </p:txBody>
      </p:sp>
      <p:sp>
        <p:nvSpPr>
          <p:cNvPr id="56" name="Shape 54"/>
          <p:cNvSpPr/>
          <p:nvPr/>
        </p:nvSpPr>
        <p:spPr>
          <a:xfrm>
            <a:off x="13354050" y="8160023"/>
            <a:ext cx="3886200" cy="9525"/>
          </a:xfrm>
          <a:prstGeom prst="rect">
            <a:avLst/>
          </a:prstGeom>
          <a:solidFill>
            <a:srgbClr val="E1DFD9"/>
          </a:solidFill>
          <a:ln/>
        </p:spPr>
        <p:txBody>
          <a:bodyPr/>
          <a:p/>
        </p:txBody>
      </p:sp>
      <p:sp>
        <p:nvSpPr>
          <p:cNvPr id="57" name="Text 55"/>
          <p:cNvSpPr/>
          <p:nvPr/>
        </p:nvSpPr>
        <p:spPr>
          <a:xfrm>
            <a:off x="13354050" y="751232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One negative result · positive case untested</a:t>
            </a:r>
            <a:endParaRPr lang="en-US" sz="1800" dirty="0"/>
          </a:p>
        </p:txBody>
      </p:sp>
      <p:sp>
        <p:nvSpPr>
          <p:cNvPr id="58" name="Text 5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59" name="Text 5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11 / 16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Limits of the model</a:t>
            </a:r>
            <a:endParaRPr lang="en-US" sz="5400" dirty="0"/>
          </a:p>
        </p:txBody>
      </p:sp>
      <p:sp>
        <p:nvSpPr>
          <p:cNvPr id="3" name="Text 1"/>
          <p:cNvSpPr/>
          <p:nvPr/>
        </p:nvSpPr>
        <p:spPr>
          <a:xfrm>
            <a:off x="10477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NOT MODELLED</a:t>
            </a:r>
            <a:endParaRPr lang="en-US" sz="1800" dirty="0"/>
          </a:p>
        </p:txBody>
      </p:sp>
      <p:sp>
        <p:nvSpPr>
          <p:cNvPr id="4" name="Text 2"/>
          <p:cNvSpPr/>
          <p:nvPr/>
        </p:nvSpPr>
        <p:spPr>
          <a:xfrm>
            <a:off x="8343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Door and acceleration physics — a stop is one tick, whoever boards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Reassignment after dispatch,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Sky-lobby transfers across zones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Passenger no-shows and group entries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Energy</a:t>
            </a:r>
            <a:endParaRPr lang="en-US" sz="2400" dirty="0"/>
          </a:p>
        </p:txBody>
      </p:sp>
      <p:sp>
        <p:nvSpPr>
          <p:cNvPr id="5" name="Text 3"/>
          <p:cNvSpPr/>
          <p:nvPr/>
        </p:nvSpPr>
        <p:spPr>
          <a:xfrm>
            <a:off x="96202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WHAT WOULD SHARPEN THE CONCLUSIONS</a:t>
            </a:r>
            <a:endParaRPr lang="en-US" sz="1800" dirty="0"/>
          </a:p>
        </p:txBody>
      </p:sp>
      <p:sp>
        <p:nvSpPr>
          <p:cNvPr id="6" name="Text 4"/>
          <p:cNvSpPr/>
          <p:nvPr/>
        </p:nvSpPr>
        <p:spPr>
          <a:xfrm>
            <a:off x="94068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sweep of arrival rate — where each rule breaks down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sweep of car count — the price of capacity</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Fairness weight swept on more than two scenarios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saturated counterpart to the zoning experiment</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Batch re-optimisation in place of greedy per-request choice</a:t>
            </a:r>
            <a:endParaRPr lang="en-US" sz="2400" dirty="0"/>
          </a:p>
        </p:txBody>
      </p:sp>
      <p:sp>
        <p:nvSpPr>
          <p:cNvPr id="7" name="Shape 5"/>
          <p:cNvSpPr/>
          <p:nvPr/>
        </p:nvSpPr>
        <p:spPr>
          <a:xfrm>
            <a:off x="1047750" y="6461447"/>
            <a:ext cx="14859000" cy="9525"/>
          </a:xfrm>
          <a:prstGeom prst="rect">
            <a:avLst/>
          </a:prstGeom>
          <a:solidFill>
            <a:srgbClr val="E1DFD9"/>
          </a:solidFill>
          <a:ln/>
        </p:spPr>
        <p:txBody>
          <a:bodyPr/>
          <a:p/>
        </p:txBody>
      </p:sp>
      <p:sp>
        <p:nvSpPr>
          <p:cNvPr id="8" name="Text 6"/>
          <p:cNvSpPr/>
          <p:nvPr/>
        </p:nvSpPr>
        <p:spPr>
          <a:xfrm>
            <a:off x="1047750" y="6775772"/>
            <a:ext cx="15304770" cy="891480"/>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None of these would reverse the headline. They would sharpen the secondary findings: where parking, fairness and zoning start and stop paying.</a:t>
            </a:r>
            <a:endParaRPr lang="en-US" sz="2400" dirty="0"/>
          </a:p>
        </p:txBody>
      </p:sp>
      <p:sp>
        <p:nvSpPr>
          <p:cNvPr id="9" name="Text 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0" name="Text 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12 / 16</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numbers were assured</a:t>
            </a:r>
            <a:endParaRPr lang="en-US" sz="5400" dirty="0"/>
          </a:p>
        </p:txBody>
      </p:sp>
      <p:sp>
        <p:nvSpPr>
          <p:cNvPr id="3" name="Text 1"/>
          <p:cNvSpPr/>
          <p:nvPr/>
        </p:nvSpPr>
        <p:spPr>
          <a:xfrm>
            <a:off x="1047750" y="2202135"/>
            <a:ext cx="5844399"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131</a:t>
            </a:r>
            <a:endParaRPr lang="en-US" sz="12600" dirty="0"/>
          </a:p>
        </p:txBody>
      </p:sp>
      <p:sp>
        <p:nvSpPr>
          <p:cNvPr id="4" name="Text 2"/>
          <p:cNvSpPr/>
          <p:nvPr/>
        </p:nvSpPr>
        <p:spPr>
          <a:xfrm>
            <a:off x="1047750" y="3916635"/>
            <a:ext cx="5844399"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tests, six levels</a:t>
            </a:r>
            <a:endParaRPr lang="en-US" sz="2400" dirty="0"/>
          </a:p>
        </p:txBody>
      </p:sp>
      <p:sp>
        <p:nvSpPr>
          <p:cNvPr id="5" name="Text 3"/>
          <p:cNvSpPr/>
          <p:nvPr/>
        </p:nvSpPr>
        <p:spPr>
          <a:xfrm>
            <a:off x="1047750" y="4545285"/>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1</a:t>
            </a:r>
            <a:endParaRPr lang="en-US" sz="2100" dirty="0"/>
          </a:p>
        </p:txBody>
      </p:sp>
      <p:sp>
        <p:nvSpPr>
          <p:cNvPr id="6" name="Text 4"/>
          <p:cNvSpPr/>
          <p:nvPr/>
        </p:nvSpPr>
        <p:spPr>
          <a:xfrm>
            <a:off x="1466850" y="4545285"/>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Unit — every observable assumption</a:t>
            </a:r>
            <a:endParaRPr lang="en-US" sz="2100" dirty="0"/>
          </a:p>
        </p:txBody>
      </p:sp>
      <p:sp>
        <p:nvSpPr>
          <p:cNvPr id="7" name="Text 5"/>
          <p:cNvSpPr/>
          <p:nvPr/>
        </p:nvSpPr>
        <p:spPr>
          <a:xfrm>
            <a:off x="1047750" y="5006280"/>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2</a:t>
            </a:r>
            <a:endParaRPr lang="en-US" sz="2100" dirty="0"/>
          </a:p>
        </p:txBody>
      </p:sp>
      <p:sp>
        <p:nvSpPr>
          <p:cNvPr id="8" name="Text 6"/>
          <p:cNvSpPr/>
          <p:nvPr/>
        </p:nvSpPr>
        <p:spPr>
          <a:xfrm>
            <a:off x="1466850" y="5006280"/>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Structural — no peek-ahead</a:t>
            </a:r>
            <a:endParaRPr lang="en-US" sz="2100" dirty="0"/>
          </a:p>
        </p:txBody>
      </p:sp>
      <p:sp>
        <p:nvSpPr>
          <p:cNvPr id="9" name="Text 7"/>
          <p:cNvSpPr/>
          <p:nvPr/>
        </p:nvSpPr>
        <p:spPr>
          <a:xfrm>
            <a:off x="1047750" y="546727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3</a:t>
            </a:r>
            <a:endParaRPr lang="en-US" sz="2100" dirty="0"/>
          </a:p>
        </p:txBody>
      </p:sp>
      <p:sp>
        <p:nvSpPr>
          <p:cNvPr id="10" name="Text 8"/>
          <p:cNvSpPr/>
          <p:nvPr/>
        </p:nvSpPr>
        <p:spPr>
          <a:xfrm>
            <a:off x="1466850" y="546727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Property-based invariants, random buildings</a:t>
            </a:r>
            <a:endParaRPr lang="en-US" sz="2100" dirty="0"/>
          </a:p>
        </p:txBody>
      </p:sp>
      <p:sp>
        <p:nvSpPr>
          <p:cNvPr id="11" name="Text 9"/>
          <p:cNvSpPr/>
          <p:nvPr/>
        </p:nvSpPr>
        <p:spPr>
          <a:xfrm>
            <a:off x="1047750" y="6274966"/>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4</a:t>
            </a:r>
            <a:endParaRPr lang="en-US" sz="2100" dirty="0"/>
          </a:p>
        </p:txBody>
      </p:sp>
      <p:sp>
        <p:nvSpPr>
          <p:cNvPr id="12" name="Text 10"/>
          <p:cNvSpPr/>
          <p:nvPr/>
        </p:nvSpPr>
        <p:spPr>
          <a:xfrm>
            <a:off x="1466850" y="6274966"/>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Golden statistics</a:t>
            </a:r>
            <a:endParaRPr lang="en-US" sz="2100" dirty="0"/>
          </a:p>
        </p:txBody>
      </p:sp>
      <p:sp>
        <p:nvSpPr>
          <p:cNvPr id="13" name="Text 11"/>
          <p:cNvSpPr/>
          <p:nvPr/>
        </p:nvSpPr>
        <p:spPr>
          <a:xfrm>
            <a:off x="1047750" y="6735961"/>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5</a:t>
            </a:r>
            <a:endParaRPr lang="en-US" sz="2100" dirty="0"/>
          </a:p>
        </p:txBody>
      </p:sp>
      <p:sp>
        <p:nvSpPr>
          <p:cNvPr id="14" name="Text 12"/>
          <p:cNvSpPr/>
          <p:nvPr/>
        </p:nvSpPr>
        <p:spPr>
          <a:xfrm>
            <a:off x="1466850" y="6735961"/>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Scenario and CLI, end to end</a:t>
            </a:r>
            <a:endParaRPr lang="en-US" sz="2100" dirty="0"/>
          </a:p>
        </p:txBody>
      </p:sp>
      <p:sp>
        <p:nvSpPr>
          <p:cNvPr id="15" name="Text 13"/>
          <p:cNvSpPr/>
          <p:nvPr/>
        </p:nvSpPr>
        <p:spPr>
          <a:xfrm>
            <a:off x="1047750" y="719695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6</a:t>
            </a:r>
            <a:endParaRPr lang="en-US" sz="2100" dirty="0"/>
          </a:p>
        </p:txBody>
      </p:sp>
      <p:sp>
        <p:nvSpPr>
          <p:cNvPr id="16" name="Text 14"/>
          <p:cNvSpPr/>
          <p:nvPr/>
        </p:nvSpPr>
        <p:spPr>
          <a:xfrm>
            <a:off x="1466850" y="719695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JS / Python conformance — incl. per-car usage</a:t>
            </a:r>
            <a:endParaRPr lang="en-US" sz="2100" dirty="0"/>
          </a:p>
        </p:txBody>
      </p:sp>
      <p:sp>
        <p:nvSpPr>
          <p:cNvPr id="17" name="Text 15"/>
          <p:cNvSpPr/>
          <p:nvPr/>
        </p:nvSpPr>
        <p:spPr>
          <a:xfrm>
            <a:off x="6970440" y="2202135"/>
            <a:ext cx="5313075"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40</a:t>
            </a:r>
            <a:pPr algn="l" indent="0" marL="0">
              <a:lnSpc>
                <a:spcPct val="87047"/>
              </a:lnSpc>
              <a:buNone/>
            </a:pPr>
            <a:r>
              <a:rPr lang="en-US" sz="5400" b="1" spc="-504" kern="0" dirty="0">
                <a:solidFill>
                  <a:srgbClr val="7A786F"/>
                </a:solidFill>
                <a:latin typeface="Arial" pitchFamily="34" charset="0"/>
                <a:ea typeface="Arial" pitchFamily="34" charset="-122"/>
                <a:cs typeface="Arial" pitchFamily="34" charset="-120"/>
              </a:rPr>
              <a:t>/40</a:t>
            </a:r>
            <a:endParaRPr lang="en-US" sz="12600" dirty="0"/>
          </a:p>
        </p:txBody>
      </p:sp>
      <p:sp>
        <p:nvSpPr>
          <p:cNvPr id="18" name="Text 16"/>
          <p:cNvSpPr/>
          <p:nvPr/>
        </p:nvSpPr>
        <p:spPr>
          <a:xfrm>
            <a:off x="6970440" y="3916635"/>
            <a:ext cx="5313075"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scenario × rule combinations</a:t>
            </a:r>
            <a:endParaRPr lang="en-US" sz="2400" dirty="0"/>
          </a:p>
        </p:txBody>
      </p:sp>
      <p:sp>
        <p:nvSpPr>
          <p:cNvPr id="19" name="Text 17"/>
          <p:cNvSpPr/>
          <p:nvPr/>
        </p:nvSpPr>
        <p:spPr>
          <a:xfrm>
            <a:off x="6970440" y="4545285"/>
            <a:ext cx="4974970" cy="153144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The browser engine is a JavaScript port. Positions per tick, the full event list and every passenger’s lifecycle are asserted identical to Python’s.</a:t>
            </a:r>
            <a:endParaRPr lang="en-US" sz="2100" dirty="0"/>
          </a:p>
        </p:txBody>
      </p:sp>
      <p:sp>
        <p:nvSpPr>
          <p:cNvPr id="20" name="Text 18"/>
          <p:cNvSpPr/>
          <p:nvPr/>
        </p:nvSpPr>
        <p:spPr>
          <a:xfrm>
            <a:off x="12410108" y="2202135"/>
            <a:ext cx="5313157"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22</a:t>
            </a:r>
            <a:endParaRPr lang="en-US" sz="12600" dirty="0"/>
          </a:p>
        </p:txBody>
      </p:sp>
      <p:sp>
        <p:nvSpPr>
          <p:cNvPr id="21" name="Text 19"/>
          <p:cNvSpPr/>
          <p:nvPr/>
        </p:nvSpPr>
        <p:spPr>
          <a:xfrm>
            <a:off x="12410108" y="3916635"/>
            <a:ext cx="5313157"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findings, adversarial review</a:t>
            </a:r>
            <a:endParaRPr lang="en-US" sz="2400" dirty="0"/>
          </a:p>
        </p:txBody>
      </p:sp>
      <p:sp>
        <p:nvSpPr>
          <p:cNvPr id="22" name="Text 20"/>
          <p:cNvSpPr/>
          <p:nvPr/>
        </p:nvSpPr>
        <p:spPr>
          <a:xfrm>
            <a:off x="12410108" y="4545285"/>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0</a:t>
            </a:r>
            <a:endParaRPr lang="en-US" sz="2100" dirty="0"/>
          </a:p>
        </p:txBody>
      </p:sp>
      <p:sp>
        <p:nvSpPr>
          <p:cNvPr id="23" name="Text 21"/>
          <p:cNvSpPr/>
          <p:nvPr/>
        </p:nvSpPr>
        <p:spPr>
          <a:xfrm>
            <a:off x="13019708" y="4545285"/>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blockers · 2 major, 20 smaller</a:t>
            </a:r>
            <a:endParaRPr lang="en-US" sz="2100" dirty="0"/>
          </a:p>
        </p:txBody>
      </p:sp>
      <p:sp>
        <p:nvSpPr>
          <p:cNvPr id="24" name="Text 22"/>
          <p:cNvSpPr/>
          <p:nvPr/>
        </p:nvSpPr>
        <p:spPr>
          <a:xfrm>
            <a:off x="12410108" y="5006280"/>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13</a:t>
            </a:r>
            <a:endParaRPr lang="en-US" sz="2100" dirty="0"/>
          </a:p>
        </p:txBody>
      </p:sp>
      <p:sp>
        <p:nvSpPr>
          <p:cNvPr id="25" name="Text 23"/>
          <p:cNvSpPr/>
          <p:nvPr/>
        </p:nvSpPr>
        <p:spPr>
          <a:xfrm>
            <a:off x="13019708" y="5006280"/>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code or tests</a:t>
            </a:r>
            <a:endParaRPr lang="en-US" sz="2100" dirty="0"/>
          </a:p>
        </p:txBody>
      </p:sp>
      <p:sp>
        <p:nvSpPr>
          <p:cNvPr id="26" name="Text 24"/>
          <p:cNvSpPr/>
          <p:nvPr/>
        </p:nvSpPr>
        <p:spPr>
          <a:xfrm>
            <a:off x="12410108" y="5467276"/>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7</a:t>
            </a:r>
            <a:endParaRPr lang="en-US" sz="2100" dirty="0"/>
          </a:p>
        </p:txBody>
      </p:sp>
      <p:sp>
        <p:nvSpPr>
          <p:cNvPr id="27" name="Text 25"/>
          <p:cNvSpPr/>
          <p:nvPr/>
        </p:nvSpPr>
        <p:spPr>
          <a:xfrm>
            <a:off x="13019708" y="5467276"/>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documents</a:t>
            </a:r>
            <a:endParaRPr lang="en-US" sz="2100" dirty="0"/>
          </a:p>
        </p:txBody>
      </p:sp>
      <p:sp>
        <p:nvSpPr>
          <p:cNvPr id="28" name="Text 26"/>
          <p:cNvSpPr/>
          <p:nvPr/>
        </p:nvSpPr>
        <p:spPr>
          <a:xfrm>
            <a:off x="12410108" y="5928271"/>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a:t>
            </a:r>
            <a:endParaRPr lang="en-US" sz="2100" dirty="0"/>
          </a:p>
        </p:txBody>
      </p:sp>
      <p:sp>
        <p:nvSpPr>
          <p:cNvPr id="29" name="Text 27"/>
          <p:cNvSpPr/>
          <p:nvPr/>
        </p:nvSpPr>
        <p:spPr>
          <a:xfrm>
            <a:off x="13019708" y="5928271"/>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acknowledged, no change</a:t>
            </a:r>
            <a:endParaRPr lang="en-US" sz="2100" dirty="0"/>
          </a:p>
        </p:txBody>
      </p:sp>
      <p:sp>
        <p:nvSpPr>
          <p:cNvPr id="30" name="Text 28"/>
          <p:cNvSpPr/>
          <p:nvPr/>
        </p:nvSpPr>
        <p:spPr>
          <a:xfrm>
            <a:off x="12410108" y="6389266"/>
            <a:ext cx="6858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400</a:t>
            </a:r>
            <a:endParaRPr lang="en-US" sz="2100" dirty="0"/>
          </a:p>
        </p:txBody>
      </p:sp>
      <p:sp>
        <p:nvSpPr>
          <p:cNvPr id="31" name="Text 29"/>
          <p:cNvSpPr/>
          <p:nvPr/>
        </p:nvSpPr>
        <p:spPr>
          <a:xfrm>
            <a:off x="13019708" y="6389266"/>
            <a:ext cx="434715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seed fuzz by the reviewer — no invariant broken</a:t>
            </a:r>
            <a:endParaRPr lang="en-US" sz="2100" dirty="0"/>
          </a:p>
        </p:txBody>
      </p:sp>
      <p:sp>
        <p:nvSpPr>
          <p:cNvPr id="32" name="Text 3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3" name="Text 3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13 / 16</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work was done</a:t>
            </a:r>
            <a:endParaRPr lang="en-US" sz="5400" dirty="0"/>
          </a:p>
        </p:txBody>
      </p:sp>
      <p:sp>
        <p:nvSpPr>
          <p:cNvPr id="3" name="Shape 1"/>
          <p:cNvSpPr/>
          <p:nvPr/>
        </p:nvSpPr>
        <p:spPr>
          <a:xfrm>
            <a:off x="1047750" y="2125935"/>
            <a:ext cx="7715250" cy="2263006"/>
          </a:xfrm>
          <a:prstGeom prst="roundRect">
            <a:avLst>
              <a:gd name="adj" fmla="val 4209"/>
            </a:avLst>
          </a:prstGeom>
          <a:solidFill>
            <a:srgbClr val="FFFFFF"/>
          </a:solidFill>
          <a:ln w="9525">
            <a:solidFill>
              <a:srgbClr val="E1DFD9"/>
            </a:solidFill>
            <a:prstDash val="solid"/>
          </a:ln>
        </p:spPr>
        <p:txBody>
          <a:bodyPr/>
          <a:p/>
        </p:txBody>
      </p:sp>
      <p:sp>
        <p:nvSpPr>
          <p:cNvPr id="4" name="Text 2"/>
          <p:cNvSpPr/>
          <p:nvPr/>
        </p:nvSpPr>
        <p:spPr>
          <a:xfrm>
            <a:off x="1400175" y="2440260"/>
            <a:ext cx="771144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SHOT ONE · INTERACTIVE</a:t>
            </a:r>
            <a:endParaRPr lang="en-US" sz="1800" dirty="0"/>
          </a:p>
        </p:txBody>
      </p:sp>
      <p:sp>
        <p:nvSpPr>
          <p:cNvPr id="5" name="Text 3"/>
          <p:cNvSpPr/>
          <p:nvPr/>
        </p:nvSpPr>
        <p:spPr>
          <a:xfrm>
            <a:off x="1400175" y="2840310"/>
            <a:ext cx="7220712"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Owner writes the framing. Assistant asks four questions. Answers become the plan and the working rules.</a:t>
            </a:r>
            <a:endParaRPr lang="en-US" sz="2400" dirty="0"/>
          </a:p>
        </p:txBody>
      </p:sp>
      <p:sp>
        <p:nvSpPr>
          <p:cNvPr id="6" name="Shape 4"/>
          <p:cNvSpPr/>
          <p:nvPr/>
        </p:nvSpPr>
        <p:spPr>
          <a:xfrm>
            <a:off x="9525000" y="2125935"/>
            <a:ext cx="7715250" cy="2263006"/>
          </a:xfrm>
          <a:prstGeom prst="roundRect">
            <a:avLst>
              <a:gd name="adj" fmla="val 4209"/>
            </a:avLst>
          </a:prstGeom>
          <a:solidFill>
            <a:srgbClr val="FFFFFF"/>
          </a:solidFill>
          <a:ln w="9525">
            <a:solidFill>
              <a:srgbClr val="E1DFD9"/>
            </a:solidFill>
            <a:prstDash val="solid"/>
          </a:ln>
        </p:spPr>
        <p:txBody>
          <a:bodyPr/>
          <a:p/>
        </p:txBody>
      </p:sp>
      <p:sp>
        <p:nvSpPr>
          <p:cNvPr id="7" name="Text 5"/>
          <p:cNvSpPr/>
          <p:nvPr/>
        </p:nvSpPr>
        <p:spPr>
          <a:xfrm>
            <a:off x="9877425" y="2440260"/>
            <a:ext cx="771144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SHOT TWO · AUTONOMOUS</a:t>
            </a:r>
            <a:endParaRPr lang="en-US" sz="1800" dirty="0"/>
          </a:p>
        </p:txBody>
      </p:sp>
      <p:sp>
        <p:nvSpPr>
          <p:cNvPr id="8" name="Text 6"/>
          <p:cNvSpPr/>
          <p:nvPr/>
        </p:nvSpPr>
        <p:spPr>
          <a:xfrm>
            <a:off x="9877425" y="2840310"/>
            <a:ext cx="7220712"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Assistant executes the plan end to end, committing as it goes; deviations reported in a log. Owner reviews at checkpoints and decides.</a:t>
            </a:r>
            <a:endParaRPr lang="en-US" sz="2400" dirty="0"/>
          </a:p>
        </p:txBody>
      </p:sp>
      <p:sp>
        <p:nvSpPr>
          <p:cNvPr id="9" name="Text 7"/>
          <p:cNvSpPr/>
          <p:nvPr/>
        </p:nvSpPr>
        <p:spPr>
          <a:xfrm>
            <a:off x="1047750" y="4846141"/>
            <a:ext cx="554603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ACCEPTED</a:t>
            </a:r>
            <a:endParaRPr lang="en-US" sz="1800" dirty="0"/>
          </a:p>
        </p:txBody>
      </p:sp>
      <p:sp>
        <p:nvSpPr>
          <p:cNvPr id="10" name="Text 8"/>
          <p:cNvSpPr/>
          <p:nvPr/>
        </p:nvSpPr>
        <p:spPr>
          <a:xfrm>
            <a:off x="1047750" y="5246191"/>
            <a:ext cx="5193106"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The eleven ambiguity resolutions; ETD as headline with two baselines; zero-dependency runtime; the seeded generator; explaining the sample case rather than tuning it away.</a:t>
            </a:r>
            <a:endParaRPr lang="en-US" sz="2100" dirty="0"/>
          </a:p>
        </p:txBody>
      </p:sp>
      <p:sp>
        <p:nvSpPr>
          <p:cNvPr id="11" name="Text 9"/>
          <p:cNvSpPr/>
          <p:nvPr/>
        </p:nvSpPr>
        <p:spPr>
          <a:xfrm>
            <a:off x="6623000" y="4846141"/>
            <a:ext cx="5546117"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CHANGED BY THE OWNER</a:t>
            </a:r>
            <a:endParaRPr lang="en-US" sz="1800" dirty="0"/>
          </a:p>
        </p:txBody>
      </p:sp>
      <p:sp>
        <p:nvSpPr>
          <p:cNvPr id="12" name="Text 10"/>
          <p:cNvSpPr/>
          <p:nvPr/>
        </p:nvSpPr>
        <p:spPr>
          <a:xfrm>
            <a:off x="6623000" y="5246191"/>
            <a:ext cx="5193183"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Reframed as a standalone project with the brief as its only input; a time log dropped for one honest statement; sync after every commit; the design notes as a chronological record with outputs.</a:t>
            </a:r>
            <a:endParaRPr lang="en-US" sz="2100" dirty="0"/>
          </a:p>
        </p:txBody>
      </p:sp>
      <p:sp>
        <p:nvSpPr>
          <p:cNvPr id="13" name="Text 11"/>
          <p:cNvSpPr/>
          <p:nvPr/>
        </p:nvSpPr>
        <p:spPr>
          <a:xfrm>
            <a:off x="12198325" y="4846141"/>
            <a:ext cx="554603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CORRECTED BY EVIDENCE</a:t>
            </a:r>
            <a:endParaRPr lang="en-US" sz="1800" dirty="0"/>
          </a:p>
        </p:txBody>
      </p:sp>
      <p:sp>
        <p:nvSpPr>
          <p:cNvPr id="14" name="Text 12"/>
          <p:cNvSpPr/>
          <p:nvPr/>
        </p:nvSpPr>
        <p:spPr>
          <a:xfrm>
            <a:off x="12198325" y="5246191"/>
            <a:ext cx="5193106"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Tick order — by unit tests. A LOOK livelock — by a property test. Dwell restarting on every boarding — by the reviewer. Research sentences that outran their sources — traced and revised.</a:t>
            </a:r>
            <a:endParaRPr lang="en-US" sz="2100" dirty="0"/>
          </a:p>
        </p:txBody>
      </p:sp>
      <p:sp>
        <p:nvSpPr>
          <p:cNvPr id="15" name="Shape 13"/>
          <p:cNvSpPr/>
          <p:nvPr/>
        </p:nvSpPr>
        <p:spPr>
          <a:xfrm>
            <a:off x="1047750" y="7570068"/>
            <a:ext cx="15240000" cy="9525"/>
          </a:xfrm>
          <a:prstGeom prst="rect">
            <a:avLst/>
          </a:prstGeom>
          <a:solidFill>
            <a:srgbClr val="E1DFD9"/>
          </a:solidFill>
          <a:ln/>
        </p:spPr>
        <p:txBody>
          <a:bodyPr/>
          <a:p/>
        </p:txBody>
      </p:sp>
      <p:sp>
        <p:nvSpPr>
          <p:cNvPr id="16" name="Text 14"/>
          <p:cNvSpPr/>
          <p:nvPr/>
        </p:nvSpPr>
        <p:spPr>
          <a:xfrm>
            <a:off x="1047750" y="7846293"/>
            <a:ext cx="15697200"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Time: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about one hour of my own time framing the problem, writing the plan and reviewing the outputs; then autonomous execution of the plan by the assistant, plus follow-up steering for later changes.</a:t>
            </a:r>
            <a:endParaRPr lang="en-US" sz="2100" dirty="0"/>
          </a:p>
        </p:txBody>
      </p:sp>
      <p:sp>
        <p:nvSpPr>
          <p:cNvPr id="17" name="Text 15"/>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8" name="Text 16"/>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14 / 16</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I would do next</a:t>
            </a:r>
            <a:endParaRPr lang="en-US" sz="5400" dirty="0"/>
          </a:p>
        </p:txBody>
      </p:sp>
      <p:sp>
        <p:nvSpPr>
          <p:cNvPr id="3" name="Text 1"/>
          <p:cNvSpPr/>
          <p:nvPr/>
        </p:nvSpPr>
        <p:spPr>
          <a:xfrm>
            <a:off x="1047750" y="2202135"/>
            <a:ext cx="779714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BUILD, IN THIS ORDER</a:t>
            </a:r>
            <a:endParaRPr lang="en-US" sz="1800" dirty="0"/>
          </a:p>
        </p:txBody>
      </p:sp>
      <p:sp>
        <p:nvSpPr>
          <p:cNvPr id="4" name="Text 2"/>
          <p:cNvSpPr/>
          <p:nvPr/>
        </p:nvSpPr>
        <p:spPr>
          <a:xfrm>
            <a:off x="1047750" y="2697435"/>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5" name="Text 3"/>
          <p:cNvSpPr/>
          <p:nvPr/>
        </p:nvSpPr>
        <p:spPr>
          <a:xfrm>
            <a:off x="1771650" y="2697435"/>
            <a:ext cx="6555344"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Reassignment window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move a passenger until their car starts slowing, as hybrid systems do.</a:t>
            </a:r>
            <a:endParaRPr lang="en-US" sz="2400" dirty="0"/>
          </a:p>
        </p:txBody>
      </p:sp>
      <p:sp>
        <p:nvSpPr>
          <p:cNvPr id="6" name="Text 4"/>
          <p:cNvSpPr/>
          <p:nvPr/>
        </p:nvSpPr>
        <p:spPr>
          <a:xfrm>
            <a:off x="1047750" y="4179391"/>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7" name="Text 5"/>
          <p:cNvSpPr/>
          <p:nvPr/>
        </p:nvSpPr>
        <p:spPr>
          <a:xfrm>
            <a:off x="1771650" y="4179391"/>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Batch re-optimisation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revisit outstanding assignments every few ticks.</a:t>
            </a:r>
            <a:endParaRPr lang="en-US" sz="2400" dirty="0"/>
          </a:p>
        </p:txBody>
      </p:sp>
      <p:sp>
        <p:nvSpPr>
          <p:cNvPr id="8" name="Text 6"/>
          <p:cNvSpPr/>
          <p:nvPr/>
        </p:nvSpPr>
        <p:spPr>
          <a:xfrm>
            <a:off x="1047750" y="5249912"/>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9" name="Text 7"/>
          <p:cNvSpPr/>
          <p:nvPr/>
        </p:nvSpPr>
        <p:spPr>
          <a:xfrm>
            <a:off x="1771650" y="5249912"/>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Time-of-day policies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parking floor and fairness weight follow the traffic profile.</a:t>
            </a:r>
            <a:endParaRPr lang="en-US" sz="2400" dirty="0"/>
          </a:p>
        </p:txBody>
      </p:sp>
      <p:sp>
        <p:nvSpPr>
          <p:cNvPr id="10" name="Text 8"/>
          <p:cNvSpPr/>
          <p:nvPr/>
        </p:nvSpPr>
        <p:spPr>
          <a:xfrm>
            <a:off x="9088562" y="2202135"/>
            <a:ext cx="896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QUESTIONS FOR A REAL CUSTOMER FIRST</a:t>
            </a:r>
            <a:endParaRPr lang="en-US" sz="1800" dirty="0"/>
          </a:p>
        </p:txBody>
      </p:sp>
      <p:sp>
        <p:nvSpPr>
          <p:cNvPr id="11" name="Text 9"/>
          <p:cNvSpPr/>
          <p:nvPr/>
        </p:nvSpPr>
        <p:spPr>
          <a:xfrm>
            <a:off x="8875202" y="2697435"/>
            <a:ext cx="8441174" cy="36801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What does your traffic look like — arrival rate and mix, by hour?</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Which complaint are we fixing: the average wait, or the worst one?</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Is a zoned or sky-lobby bank on the table, or one free group?</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May the display change a passenger’s car after it is shown?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 people travel in groups, and how often do they not show up?</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15 / 16</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2753767"/>
            <a:ext cx="15304770" cy="2232571"/>
          </a:xfrm>
          <a:prstGeom prst="rect">
            <a:avLst/>
          </a:prstGeom>
          <a:noFill/>
          <a:ln/>
        </p:spPr>
        <p:txBody>
          <a:bodyPr wrap="square" lIns="25400" tIns="25400" rIns="25400" bIns="25400" rtlCol="0" anchor="t">
            <a:normAutofit/>
          </a:bodyPr>
          <a:lstStyle/>
          <a:p>
            <a:pPr algn="l" indent="0" marL="0">
              <a:lnSpc>
                <a:spcPct val="104490"/>
              </a:lnSpc>
              <a:buNone/>
            </a:pPr>
            <a:r>
              <a:rPr lang="en-US" sz="4800" b="1" spc="-96" kern="0" dirty="0">
                <a:solidFill>
                  <a:srgbClr val="F6F5F2"/>
                </a:solidFill>
                <a:latin typeface="Arial" pitchFamily="34" charset="0"/>
                <a:ea typeface="Arial" pitchFamily="34" charset="-122"/>
                <a:cs typeface="Arial" pitchFamily="34" charset="-120"/>
              </a:rPr>
              <a:t>A rule that accounts for queued stops and the delay it inflicts on others beats rules that do not — increasingly so as buildings get taller and busier.</a:t>
            </a:r>
            <a:endParaRPr lang="en-US" sz="4800" dirty="0"/>
          </a:p>
        </p:txBody>
      </p:sp>
      <p:sp>
        <p:nvSpPr>
          <p:cNvPr id="3" name="Shape 1"/>
          <p:cNvSpPr/>
          <p:nvPr/>
        </p:nvSpPr>
        <p:spPr>
          <a:xfrm>
            <a:off x="1047750" y="5786438"/>
            <a:ext cx="16192500" cy="9525"/>
          </a:xfrm>
          <a:prstGeom prst="rect">
            <a:avLst/>
          </a:prstGeom>
          <a:solidFill>
            <a:srgbClr val="34332F"/>
          </a:solidFill>
          <a:ln/>
        </p:spPr>
        <p:txBody>
          <a:bodyPr/>
          <a:p/>
        </p:txBody>
      </p:sp>
      <p:sp>
        <p:nvSpPr>
          <p:cNvPr id="4" name="Text 2"/>
          <p:cNvSpPr/>
          <p:nvPr/>
        </p:nvSpPr>
        <p:spPr>
          <a:xfrm>
            <a:off x="1047750" y="6176963"/>
            <a:ext cx="848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REPOSITORY</a:t>
            </a:r>
            <a:endParaRPr lang="en-US" sz="1800" dirty="0"/>
          </a:p>
        </p:txBody>
      </p:sp>
      <p:sp>
        <p:nvSpPr>
          <p:cNvPr id="5" name="Text 3"/>
          <p:cNvSpPr/>
          <p:nvPr/>
        </p:nvSpPr>
        <p:spPr>
          <a:xfrm>
            <a:off x="1047750" y="6557963"/>
            <a:ext cx="7946708" cy="784771"/>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F6F5F2"/>
                </a:solidFill>
                <a:latin typeface="Courier New" pitchFamily="34" charset="0"/>
                <a:ea typeface="Courier New" pitchFamily="34" charset="-122"/>
                <a:cs typeface="Courier New" pitchFamily="34" charset="-120"/>
              </a:rPr>
              <a:t>github.com/samuelgregorovic/elevator-dispatch-sim</a:t>
            </a:r>
            <a:endParaRPr lang="en-US" sz="2100" dirty="0"/>
          </a:p>
        </p:txBody>
      </p:sp>
      <p:sp>
        <p:nvSpPr>
          <p:cNvPr id="6" name="Text 4"/>
          <p:cNvSpPr/>
          <p:nvPr/>
        </p:nvSpPr>
        <p:spPr>
          <a:xfrm>
            <a:off x="9525000" y="6176963"/>
            <a:ext cx="848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LIVE SIMULATOR</a:t>
            </a:r>
            <a:endParaRPr lang="en-US" sz="1800" dirty="0"/>
          </a:p>
        </p:txBody>
      </p:sp>
      <p:sp>
        <p:nvSpPr>
          <p:cNvPr id="7" name="Text 5"/>
          <p:cNvSpPr/>
          <p:nvPr/>
        </p:nvSpPr>
        <p:spPr>
          <a:xfrm>
            <a:off x="9525000" y="6557963"/>
            <a:ext cx="7946708" cy="784771"/>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F6F5F2"/>
                </a:solidFill>
                <a:latin typeface="Courier New" pitchFamily="34" charset="0"/>
                <a:ea typeface="Courier New" pitchFamily="34" charset="-122"/>
                <a:cs typeface="Courier New" pitchFamily="34" charset="-120"/>
              </a:rPr>
              <a:t>samuelgregorovic.github.io/elevator-dispatch-sim/docs/viewer/</a:t>
            </a:r>
            <a:endParaRPr lang="en-US" sz="2100" dirty="0"/>
          </a:p>
        </p:txBody>
      </p:sp>
      <p:sp>
        <p:nvSpPr>
          <p:cNvPr id="8" name="Text 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16 / 16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2026-09-15T11:25:13Z</dcterms:created>
  <dcterms:modified xsi:type="dcterms:W3CDTF">2026-09-15T11:25:13Z</dcterms:modified>
</cp:coreProperties>
</file>